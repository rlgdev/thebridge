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Outer (business) loop: 1 Requirements → 2 Plan (scope the iteration, master gate) → delivery iteration → 7 (existing operations) → back to 1 via the Architecture Assessor (and to the domain master design at the hub). Inner (delivery) loop: 3 Design → 4 Implement ⇄ 5 deterministic tests; green code enters the existing CI/CD (6). Spec Kit commands live in 3 and 4 only (specify-import/clarify/plan/tasks/analyze/implement/converge); the workflow engine can orchestrate the 4 ⇄ 5 loop (shell + do-while); nothing in 6–7 by decision. A-gates (number = step): A0 domain map guard (hub, to build) · A1 architecture intake (to build) · A2 architecture in the charter (to build) · A3 plan conformance (in progress — standards as skills, integration built) · A4 fitness functions (in progress) · A5 evidence at test exit (to build) · A6 required PR checks (to build) · A7 Architecture Assessor (available). Spec Kit facts verified against github/spec-kit main @ e4895d1 (17 Aug 2026) · in-house status (ShAIping, its Spec Kit integration, standards as skills, Assessor) as stated by UltraSDLC · "to build" = proposal · 6–7 = existing CI/CD &amp; 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model is a proposal aligned with stage-boundary governance as practised in large organisations: each boundary has an accountable role, defined evidence and a record. Spec Kit provides the mechanics for gates (workflow gate steps, resumable state) and for scripted checks (hooks, analyze, checklists); the decision records, charter and ledger are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 facts: memory/constitution.md is the project-wide governing artifact; analyze treats constitution conflicts as CRITICAL (templates/commands/analyze.md); extension hooks exist before/after every core command; charter, memory-loader, branch-convention, multi-sites and the mde preset are community catalog entries. Nothing in Spec Kit models domains or bounded contexts — the artifact set is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Proposal. Spec Kit mechanics used: extension commands, before_plan / before_implement hooks (extensions/EXTENSION-API-REFERENCE.md), workflow gate steps, constitution. Nothing in Spec Kit models domain changes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Spec Kit mechanics behind each row: extension commands are named speckit.&lt;ext&gt;.&lt;cmd&gt; and may ship scripts ({SCRIPT} placeholder) and config (EXTENSION-API-REFERENCE.md); hooks: 18 documented events + before/after_converge, fields priority/optional/enabled/condition, agent-dispatched (templates/commands/plan.md hook block); presets compose templates and commands with append/wrap ({CORE_TEMPLATE}) (presets/README.md); plan-template Constitution Check "GATE ... [Gates determined based on constitution file]"; analyze: constitution conflicts and "missing mandated sections or quality gates from constitution" are CRITICAL; implement: "Scan all checklist files in the checklists/ directory ... STOP and ask" when unchecked; implement runs test tasks before implementation tasks; git ext hooks; assess ext (intake → decide → hand-off). Ecosystem names are exact catalog IDs. Architecture Assessor is in-house per Roman; everything marked "to build" is a proposal.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chain = the core commands relevant to steps 3–4 (checklist and taskstoissues omitted for space; converge shown with implement). Hook events used exist in Spec Kit: after_specify, before_plan, after_plan, after_tasks, before_implement, after_implement, after_converge (extensions/EXTENSION-API-REFERENCE.md + templates/commands/converge.md). Preset composition (append / wrap) per presets/README.md — note the constitution is seeded at init, so install the preset at init time (or run /speckit.constitution afterwards) for the architecture article to land. Workflow shell + do-while + gate steps per workflows/README.md. The tests column is orchestration only — Spec Kit has no test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 facts: first-party "assess" extension (extensions/catalog.json; commands speckit.assess.intake/research/define/shape/decide, go verdict hands off to /speckit.specify); templates/commands/constitution.md. Ecosystem: roadmap, keel, intake-authoring-governance, intake-review-governance (community catalogs, 17 Aug 2026). The Architecture Assessor is an existing in-house agent per Roman; the Proposer step and the requirements repository are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 facts: workflows/README.md (11 step types incl. gate and shell; state persisted; specify workflow resume). Ecosystem: roadmap, scope, whatif (community catalog). The iteration charter and dependency check are proposals.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 facts: templates/commands/plan.md and templates/plan-template.md (Constitution Check gate; Phase 0/1 outputs), tasks.md, analyze.md (constitution conflicts CRITICAL). In-house status per Roman (17 Aug 2026): ShAIping available; the ShAIping ↔ Spec Kit integration is built; the architecture standards exist as a skills repository (binding to A-gates in progress); the Architecture Assessor is available. Whether the integration already includes a contract test / handover record / hash check was not stated — shown as “to confirm”. Ecosystem: adrkit, architect-preview, arch-governance, api-evolve.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 facts: templates/commands/tasks.md, taskstoissues.md, implement.md ("STOP and ask" on unchecked checklist items; test tasks first; halt on failure), converge.md; extensions/git/extension.yml hooks. Ecosystem: verify, verify-tasks, review, staff-review, worktrees, architecture-guard, blueprint-index.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 facts: no test command; templates/tasks-template.md test phases OPTIONAL; templates/commands/implement.md executes test tasks before implementation tasks; workflows/README.md step types shell + do-while (the validator loop with continue_on_error and max_iterations was installed and validated in the sandbox on 17 Aug 2026). Ecosystem: bdd, tdd, spectest, trace, v-model, golden-demo, qa.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 facts: converge is described in templates/commands/converge.md as appending unbuilt work "so implement can complete it" — implement-loop, not operations; first-party bug extension assesses/fixes/tests bug reports against the codebase. Ecosystem: architecture-guard, retrospective, sync, reconcile. The Architecture Assessor is an existing in-house agent per Roman, promoted between 7 and 1; Proposer, re-entry workflow and waiver ledger are proposals. Deploy and operations are out of scope by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 facts used: templates/spec-template.md sections (User Scenarios &amp; Testing with prioritised user stories and Given/When/Then acceptance scenarios, Functional Requirements FR-###, Key Entities, Success Criteria SC-###), templates/commands/specify.md (create-feature script, requirements checklist, ≤3 NEEDS CLARIFICATION), clarify.md (≤5 questions), presets (append/wrap), extension hooks. Per Roman (17 Aug 2026) the ShAIping ↔ Spec Kit integration is built; whether it already includes the contract test / handover record / hash check was not stated — shown as to confirm. The mapping table is a proposal to agree with the ShAIping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Kit facts: templates/plan-template.md Constitution Check gate; templates/commands/analyze.md constitution conflicts CRITICAL, principle changes only via explicit constitution update; presets wrap commands with {CORE_TEMPLATE}; hooks before/after plan, tasks, implement, converge; workflow if / gate / shell / do-while steps. Ecosystem: adrkit, architect-preview, arch-governance, api-evolve, architecture-guard, blueprint-index, charter, memory-loader. In-house status per Roman: ShAIping + integration available; architecture standards as skills available (binding in progress); Architecture Assessor available. A-gate numbers follow the loop steps (A0 = domain master design at the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is a proposal by dependency and leverage; no effort estimates by design. Item 1 turns what is already available (standards as skills, built integration) into a scripted A3 verdict fastest; 2–3 extend enforcement to domains and code; 4–6 close the loop with change control, re-entry and waivers; 7–8 harden evidence. Deploy and operations are out of scope by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presets/README.md and presets/ARCHITECTURE.md (strategies, {CORE_TEMPLATE}, priority; resolution order in README.md), extensions/EXTENSION-API-REFERENCE.md (18 documented hook events + before/after_converge in templates/commands/converge.md), workflows/README.md (11 step types, resume), README.md Bundles section. Sandbox verification of a preset + extension + workflow + bundle: project doc speckit-plugin-verification.md.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Compressed from the earlier gate model (G0–G6): the same checks, now positioned as guardrails inside the steps rather than as the main structure of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 names are the exact templates/commands/*.md names; extension / preset names are exact catalog IDs (extensions/catalog.community.json, presets/catalog.community.json; first-party assess / bug / git / agent-context in extensions/catalog.json).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11247120" cy="45720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The big loop on Spec Kit — A-gates on every step, Spec Kit does 3–4</a:t>
            </a:r>
            <a:endParaRPr lang="en-US" sz="2400" dirty="0"/>
          </a:p>
        </p:txBody>
      </p:sp>
      <p:sp>
        <p:nvSpPr>
          <p:cNvPr id="3" name="Text 1"/>
          <p:cNvSpPr/>
          <p:nvPr/>
        </p:nvSpPr>
        <p:spPr>
          <a:xfrm>
            <a:off x="457200" y="694944"/>
            <a:ext cx="11247120" cy="274320"/>
          </a:xfrm>
          <a:prstGeom prst="rect">
            <a:avLst/>
          </a:prstGeom>
          <a:noFill/>
          <a:ln/>
        </p:spPr>
        <p:txBody>
          <a:bodyPr wrap="square" lIns="0" tIns="0" rIns="0" bIns="0" rtlCol="0" anchor="t"/>
          <a:lstStyle/>
          <a:p>
            <a:pPr indent="0" marL="0">
              <a:buNone/>
            </a:pPr>
            <a:r>
              <a:rPr lang="en-US" sz="950" dirty="0">
                <a:solidFill>
                  <a:srgbClr val="5F6B66"/>
                </a:solidFill>
                <a:latin typeface="Arial" pitchFamily="34" charset="0"/>
                <a:ea typeface="Arial" pitchFamily="34" charset="-122"/>
                <a:cs typeface="Arial" pitchFamily="34" charset="-120"/>
              </a:rPr>
              <a:t>Domain master design at the centre (A0) · one architecture gate per step, A1–A7, coloured by status · Spec Kit spine on 3–4 (5 = deterministic tests looping back to 4, orchestrated only) · 6–7 = existing CI/CD and operations, untouched · a human decision at every boundary.</a:t>
            </a:r>
            <a:endParaRPr lang="en-US" sz="950" dirty="0"/>
          </a:p>
        </p:txBody>
      </p:sp>
      <p:sp>
        <p:nvSpPr>
          <p:cNvPr id="4" name="Shape 2"/>
          <p:cNvSpPr/>
          <p:nvPr/>
        </p:nvSpPr>
        <p:spPr>
          <a:xfrm>
            <a:off x="4212641" y="2157984"/>
            <a:ext cx="3767328" cy="3767328"/>
          </a:xfrm>
          <a:prstGeom prst="blockArc">
            <a:avLst>
              <a:gd name="adj1" fmla="val 16200000"/>
              <a:gd name="adj2" fmla="val 16194000"/>
              <a:gd name="adj3" fmla="val 2670"/>
            </a:avLst>
          </a:prstGeom>
          <a:solidFill>
            <a:srgbClr val="CFE9DA"/>
          </a:solidFill>
          <a:ln w="12700">
            <a:solidFill>
              <a:srgbClr val="CFE9DA"/>
            </a:solidFill>
            <a:prstDash val="solid"/>
          </a:ln>
        </p:spPr>
      </p:sp>
      <p:sp>
        <p:nvSpPr>
          <p:cNvPr id="5" name="Shape 3"/>
          <p:cNvSpPr/>
          <p:nvPr/>
        </p:nvSpPr>
        <p:spPr>
          <a:xfrm>
            <a:off x="4084625" y="2029968"/>
            <a:ext cx="4023360" cy="4023360"/>
          </a:xfrm>
          <a:prstGeom prst="blockArc">
            <a:avLst>
              <a:gd name="adj1" fmla="val 11631429"/>
              <a:gd name="adj2" fmla="val 20768571"/>
              <a:gd name="adj3" fmla="val 1818"/>
            </a:avLst>
          </a:prstGeom>
          <a:solidFill>
            <a:srgbClr val="3E4F48"/>
          </a:solidFill>
          <a:ln w="12700">
            <a:solidFill>
              <a:srgbClr val="3E4F48"/>
            </a:solidFill>
            <a:prstDash val="solid"/>
          </a:ln>
        </p:spPr>
      </p:sp>
      <p:sp>
        <p:nvSpPr>
          <p:cNvPr id="6" name="Shape 4"/>
          <p:cNvSpPr/>
          <p:nvPr/>
        </p:nvSpPr>
        <p:spPr>
          <a:xfrm>
            <a:off x="4084625" y="2029968"/>
            <a:ext cx="4023360" cy="4023360"/>
          </a:xfrm>
          <a:prstGeom prst="blockArc">
            <a:avLst>
              <a:gd name="adj1" fmla="val 20888571"/>
              <a:gd name="adj2" fmla="val 8425714"/>
              <a:gd name="adj3" fmla="val 1818"/>
            </a:avLst>
          </a:prstGeom>
          <a:solidFill>
            <a:srgbClr val="1E9A5B"/>
          </a:solidFill>
          <a:ln w="12700">
            <a:solidFill>
              <a:srgbClr val="1E9A5B"/>
            </a:solidFill>
            <a:prstDash val="solid"/>
          </a:ln>
        </p:spPr>
      </p:sp>
      <p:sp>
        <p:nvSpPr>
          <p:cNvPr id="7" name="Shape 5"/>
          <p:cNvSpPr/>
          <p:nvPr/>
        </p:nvSpPr>
        <p:spPr>
          <a:xfrm>
            <a:off x="4084625" y="2029968"/>
            <a:ext cx="4023360" cy="4023360"/>
          </a:xfrm>
          <a:prstGeom prst="blockArc">
            <a:avLst>
              <a:gd name="adj1" fmla="val 8545714"/>
              <a:gd name="adj2" fmla="val 11511429"/>
              <a:gd name="adj3" fmla="val 1818"/>
            </a:avLst>
          </a:prstGeom>
          <a:solidFill>
            <a:srgbClr val="B7C0BB"/>
          </a:solidFill>
          <a:ln w="12700">
            <a:solidFill>
              <a:srgbClr val="B7C0BB"/>
            </a:solidFill>
            <a:prstDash val="solid"/>
          </a:ln>
        </p:spPr>
      </p:sp>
      <p:sp>
        <p:nvSpPr>
          <p:cNvPr id="8" name="Shape 6"/>
          <p:cNvSpPr/>
          <p:nvPr/>
        </p:nvSpPr>
        <p:spPr>
          <a:xfrm>
            <a:off x="4358945" y="2304288"/>
            <a:ext cx="3474720" cy="3474720"/>
          </a:xfrm>
          <a:prstGeom prst="blockArc">
            <a:avLst>
              <a:gd name="adj1" fmla="val 14693143"/>
              <a:gd name="adj2" fmla="val 17706857"/>
              <a:gd name="adj3" fmla="val 23684"/>
            </a:avLst>
          </a:prstGeom>
          <a:solidFill>
            <a:srgbClr val="6FBF95"/>
          </a:solidFill>
          <a:ln w="19050">
            <a:solidFill>
              <a:srgbClr val="FFFFFF"/>
            </a:solidFill>
            <a:prstDash val="solid"/>
          </a:ln>
        </p:spPr>
      </p:sp>
      <p:sp>
        <p:nvSpPr>
          <p:cNvPr id="9" name="Text 7"/>
          <p:cNvSpPr/>
          <p:nvPr/>
        </p:nvSpPr>
        <p:spPr>
          <a:xfrm>
            <a:off x="5570525" y="2441448"/>
            <a:ext cx="10515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000" dirty="0"/>
          </a:p>
          <a:p>
            <a:pPr algn="ctr" indent="0" marL="0">
              <a:buNone/>
            </a:pPr>
            <a:r>
              <a:rPr lang="en-US" sz="800" b="1" dirty="0">
                <a:solidFill>
                  <a:srgbClr val="FFFFFF"/>
                </a:solidFill>
                <a:latin typeface="Arial" pitchFamily="34" charset="0"/>
                <a:ea typeface="Arial" pitchFamily="34" charset="-122"/>
                <a:cs typeface="Arial" pitchFamily="34" charset="-120"/>
              </a:rPr>
              <a:t>Requirements</a:t>
            </a:r>
            <a:endParaRPr lang="en-US" sz="1000" dirty="0"/>
          </a:p>
        </p:txBody>
      </p:sp>
      <p:sp>
        <p:nvSpPr>
          <p:cNvPr id="10" name="Text 8"/>
          <p:cNvSpPr/>
          <p:nvPr/>
        </p:nvSpPr>
        <p:spPr>
          <a:xfrm>
            <a:off x="6297244" y="2405964"/>
            <a:ext cx="274320" cy="274320"/>
          </a:xfrm>
          <a:prstGeom prst="ellipse">
            <a:avLst/>
          </a:prstGeom>
          <a:solidFill>
            <a:srgbClr val="B23A32"/>
          </a:solidFill>
          <a:ln w="12700">
            <a:solidFill>
              <a:srgbClr val="FFFFFF"/>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A1</a:t>
            </a:r>
            <a:endParaRPr lang="en-US" sz="700" dirty="0"/>
          </a:p>
        </p:txBody>
      </p:sp>
      <p:sp>
        <p:nvSpPr>
          <p:cNvPr id="11" name="Shape 9"/>
          <p:cNvSpPr/>
          <p:nvPr/>
        </p:nvSpPr>
        <p:spPr>
          <a:xfrm>
            <a:off x="4358945" y="2304288"/>
            <a:ext cx="3474720" cy="3474720"/>
          </a:xfrm>
          <a:prstGeom prst="blockArc">
            <a:avLst>
              <a:gd name="adj1" fmla="val 17778857"/>
              <a:gd name="adj2" fmla="val 20792571"/>
              <a:gd name="adj3" fmla="val 23684"/>
            </a:avLst>
          </a:prstGeom>
          <a:solidFill>
            <a:srgbClr val="6FBF95"/>
          </a:solidFill>
          <a:ln w="19050">
            <a:solidFill>
              <a:srgbClr val="FFFFFF"/>
            </a:solidFill>
            <a:prstDash val="solid"/>
          </a:ln>
        </p:spPr>
      </p:sp>
      <p:sp>
        <p:nvSpPr>
          <p:cNvPr id="12" name="Text 10"/>
          <p:cNvSpPr/>
          <p:nvPr/>
        </p:nvSpPr>
        <p:spPr>
          <a:xfrm>
            <a:off x="6642885" y="2957869"/>
            <a:ext cx="10515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000" dirty="0"/>
          </a:p>
          <a:p>
            <a:pPr algn="ctr" indent="0" marL="0">
              <a:buNone/>
            </a:pPr>
            <a:r>
              <a:rPr lang="en-US" sz="800" b="1" dirty="0">
                <a:solidFill>
                  <a:srgbClr val="FFFFFF"/>
                </a:solidFill>
                <a:latin typeface="Arial" pitchFamily="34" charset="0"/>
                <a:ea typeface="Arial" pitchFamily="34" charset="-122"/>
                <a:cs typeface="Arial" pitchFamily="34" charset="-120"/>
              </a:rPr>
              <a:t>Plan</a:t>
            </a:r>
            <a:endParaRPr lang="en-US" sz="1000" dirty="0"/>
          </a:p>
        </p:txBody>
      </p:sp>
      <p:sp>
        <p:nvSpPr>
          <p:cNvPr id="13" name="Text 11"/>
          <p:cNvSpPr/>
          <p:nvPr/>
        </p:nvSpPr>
        <p:spPr>
          <a:xfrm>
            <a:off x="7341540" y="3234510"/>
            <a:ext cx="274320" cy="274320"/>
          </a:xfrm>
          <a:prstGeom prst="ellipse">
            <a:avLst/>
          </a:prstGeom>
          <a:solidFill>
            <a:srgbClr val="B23A32"/>
          </a:solidFill>
          <a:ln w="12700">
            <a:solidFill>
              <a:srgbClr val="FFFFFF"/>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A2</a:t>
            </a:r>
            <a:endParaRPr lang="en-US" sz="700" dirty="0"/>
          </a:p>
        </p:txBody>
      </p:sp>
      <p:sp>
        <p:nvSpPr>
          <p:cNvPr id="14" name="Shape 12"/>
          <p:cNvSpPr/>
          <p:nvPr/>
        </p:nvSpPr>
        <p:spPr>
          <a:xfrm>
            <a:off x="4358945" y="2304288"/>
            <a:ext cx="3474720" cy="3474720"/>
          </a:xfrm>
          <a:prstGeom prst="blockArc">
            <a:avLst>
              <a:gd name="adj1" fmla="val 20864571"/>
              <a:gd name="adj2" fmla="val 2278286"/>
              <a:gd name="adj3" fmla="val 23684"/>
            </a:avLst>
          </a:prstGeom>
          <a:solidFill>
            <a:srgbClr val="0E6B45"/>
          </a:solidFill>
          <a:ln w="19050">
            <a:solidFill>
              <a:srgbClr val="FFFFFF"/>
            </a:solidFill>
            <a:prstDash val="solid"/>
          </a:ln>
        </p:spPr>
      </p:sp>
      <p:sp>
        <p:nvSpPr>
          <p:cNvPr id="15" name="Text 13"/>
          <p:cNvSpPr/>
          <p:nvPr/>
        </p:nvSpPr>
        <p:spPr>
          <a:xfrm>
            <a:off x="6907736" y="4118258"/>
            <a:ext cx="10515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000" dirty="0"/>
          </a:p>
          <a:p>
            <a:pPr algn="ctr" indent="0" marL="0">
              <a:buNone/>
            </a:pPr>
            <a:r>
              <a:rPr lang="en-US" sz="800" b="1" dirty="0">
                <a:solidFill>
                  <a:srgbClr val="FFFFFF"/>
                </a:solidFill>
                <a:latin typeface="Arial" pitchFamily="34" charset="0"/>
                <a:ea typeface="Arial" pitchFamily="34" charset="-122"/>
                <a:cs typeface="Arial" pitchFamily="34" charset="-120"/>
              </a:rPr>
              <a:t>Design</a:t>
            </a:r>
            <a:endParaRPr lang="en-US" sz="1000" dirty="0"/>
          </a:p>
        </p:txBody>
      </p:sp>
      <p:sp>
        <p:nvSpPr>
          <p:cNvPr id="16" name="Text 14"/>
          <p:cNvSpPr/>
          <p:nvPr/>
        </p:nvSpPr>
        <p:spPr>
          <a:xfrm>
            <a:off x="7344864" y="4567564"/>
            <a:ext cx="274320" cy="274320"/>
          </a:xfrm>
          <a:prstGeom prst="ellipse">
            <a:avLst/>
          </a:prstGeom>
          <a:solidFill>
            <a:srgbClr val="D28E14"/>
          </a:solidFill>
          <a:ln w="12700">
            <a:solidFill>
              <a:srgbClr val="FFFFFF"/>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A3</a:t>
            </a:r>
            <a:endParaRPr lang="en-US" sz="700" dirty="0"/>
          </a:p>
        </p:txBody>
      </p:sp>
      <p:sp>
        <p:nvSpPr>
          <p:cNvPr id="17" name="Shape 15"/>
          <p:cNvSpPr/>
          <p:nvPr/>
        </p:nvSpPr>
        <p:spPr>
          <a:xfrm>
            <a:off x="4358945" y="2304288"/>
            <a:ext cx="3474720" cy="3474720"/>
          </a:xfrm>
          <a:prstGeom prst="blockArc">
            <a:avLst>
              <a:gd name="adj1" fmla="val 2350286"/>
              <a:gd name="adj2" fmla="val 5364000"/>
              <a:gd name="adj3" fmla="val 23684"/>
            </a:avLst>
          </a:prstGeom>
          <a:solidFill>
            <a:srgbClr val="0E6B45"/>
          </a:solidFill>
          <a:ln w="19050">
            <a:solidFill>
              <a:srgbClr val="FFFFFF"/>
            </a:solidFill>
            <a:prstDash val="solid"/>
          </a:ln>
        </p:spPr>
      </p:sp>
      <p:sp>
        <p:nvSpPr>
          <p:cNvPr id="18" name="Text 16"/>
          <p:cNvSpPr/>
          <p:nvPr/>
        </p:nvSpPr>
        <p:spPr>
          <a:xfrm>
            <a:off x="6165640" y="5048817"/>
            <a:ext cx="10515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000" dirty="0"/>
          </a:p>
          <a:p>
            <a:pPr algn="ctr" indent="0" marL="0">
              <a:buNone/>
            </a:pPr>
            <a:r>
              <a:rPr lang="en-US" sz="800" b="1" dirty="0">
                <a:solidFill>
                  <a:srgbClr val="FFFFFF"/>
                </a:solidFill>
                <a:latin typeface="Arial" pitchFamily="34" charset="0"/>
                <a:ea typeface="Arial" pitchFamily="34" charset="-122"/>
                <a:cs typeface="Arial" pitchFamily="34" charset="-120"/>
              </a:rPr>
              <a:t>Implement</a:t>
            </a:r>
            <a:endParaRPr lang="en-US" sz="1000" dirty="0"/>
          </a:p>
        </p:txBody>
      </p:sp>
      <p:sp>
        <p:nvSpPr>
          <p:cNvPr id="19" name="Text 17"/>
          <p:cNvSpPr/>
          <p:nvPr/>
        </p:nvSpPr>
        <p:spPr>
          <a:xfrm>
            <a:off x="6304713" y="5401307"/>
            <a:ext cx="274320" cy="274320"/>
          </a:xfrm>
          <a:prstGeom prst="ellipse">
            <a:avLst/>
          </a:prstGeom>
          <a:solidFill>
            <a:srgbClr val="D28E14"/>
          </a:solidFill>
          <a:ln w="12700">
            <a:solidFill>
              <a:srgbClr val="FFFFFF"/>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A4</a:t>
            </a:r>
            <a:endParaRPr lang="en-US" sz="700" dirty="0"/>
          </a:p>
        </p:txBody>
      </p:sp>
      <p:sp>
        <p:nvSpPr>
          <p:cNvPr id="20" name="Shape 18"/>
          <p:cNvSpPr/>
          <p:nvPr/>
        </p:nvSpPr>
        <p:spPr>
          <a:xfrm>
            <a:off x="4358945" y="2304288"/>
            <a:ext cx="3474720" cy="3474720"/>
          </a:xfrm>
          <a:prstGeom prst="blockArc">
            <a:avLst>
              <a:gd name="adj1" fmla="val 5436000"/>
              <a:gd name="adj2" fmla="val 8449714"/>
              <a:gd name="adj3" fmla="val 23684"/>
            </a:avLst>
          </a:prstGeom>
          <a:solidFill>
            <a:srgbClr val="6FBF95"/>
          </a:solidFill>
          <a:ln w="19050">
            <a:solidFill>
              <a:srgbClr val="FFFFFF"/>
            </a:solidFill>
            <a:prstDash val="solid"/>
          </a:ln>
        </p:spPr>
      </p:sp>
      <p:sp>
        <p:nvSpPr>
          <p:cNvPr id="21" name="Text 19"/>
          <p:cNvSpPr/>
          <p:nvPr/>
        </p:nvSpPr>
        <p:spPr>
          <a:xfrm>
            <a:off x="4975410" y="5048817"/>
            <a:ext cx="105156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000" dirty="0"/>
          </a:p>
          <a:p>
            <a:pPr algn="ctr" indent="0" marL="0">
              <a:buNone/>
            </a:pPr>
            <a:r>
              <a:rPr lang="en-US" sz="800" b="1" dirty="0">
                <a:solidFill>
                  <a:srgbClr val="FFFFFF"/>
                </a:solidFill>
                <a:latin typeface="Arial" pitchFamily="34" charset="0"/>
                <a:ea typeface="Arial" pitchFamily="34" charset="-122"/>
                <a:cs typeface="Arial" pitchFamily="34" charset="-120"/>
              </a:rPr>
              <a:t>Test</a:t>
            </a:r>
            <a:endParaRPr lang="en-US" sz="1000" dirty="0"/>
          </a:p>
        </p:txBody>
      </p:sp>
      <p:sp>
        <p:nvSpPr>
          <p:cNvPr id="22" name="Text 20"/>
          <p:cNvSpPr/>
          <p:nvPr/>
        </p:nvSpPr>
        <p:spPr>
          <a:xfrm>
            <a:off x="5004342" y="5107916"/>
            <a:ext cx="274320" cy="274320"/>
          </a:xfrm>
          <a:prstGeom prst="ellipse">
            <a:avLst/>
          </a:prstGeom>
          <a:solidFill>
            <a:srgbClr val="B23A32"/>
          </a:solidFill>
          <a:ln w="12700">
            <a:solidFill>
              <a:srgbClr val="FFFFFF"/>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A5</a:t>
            </a:r>
            <a:endParaRPr lang="en-US" sz="700" dirty="0"/>
          </a:p>
        </p:txBody>
      </p:sp>
      <p:sp>
        <p:nvSpPr>
          <p:cNvPr id="23" name="Shape 21"/>
          <p:cNvSpPr/>
          <p:nvPr/>
        </p:nvSpPr>
        <p:spPr>
          <a:xfrm>
            <a:off x="4358945" y="2304288"/>
            <a:ext cx="3474720" cy="3474720"/>
          </a:xfrm>
          <a:prstGeom prst="blockArc">
            <a:avLst>
              <a:gd name="adj1" fmla="val 8521714"/>
              <a:gd name="adj2" fmla="val 11535429"/>
              <a:gd name="adj3" fmla="val 23684"/>
            </a:avLst>
          </a:prstGeom>
          <a:solidFill>
            <a:srgbClr val="B7C0BB"/>
          </a:solidFill>
          <a:ln w="19050">
            <a:solidFill>
              <a:srgbClr val="FFFFFF"/>
            </a:solidFill>
            <a:prstDash val="solid"/>
          </a:ln>
        </p:spPr>
      </p:sp>
      <p:sp>
        <p:nvSpPr>
          <p:cNvPr id="24" name="Text 22"/>
          <p:cNvSpPr/>
          <p:nvPr/>
        </p:nvSpPr>
        <p:spPr>
          <a:xfrm>
            <a:off x="4233314" y="4063394"/>
            <a:ext cx="1051560" cy="566928"/>
          </a:xfrm>
          <a:prstGeom prst="rect">
            <a:avLst/>
          </a:prstGeom>
          <a:noFill/>
          <a:ln/>
        </p:spPr>
        <p:txBody>
          <a:bodyPr wrap="square" lIns="0" tIns="0" rIns="0" bIns="0" rtlCol="0" anchor="ctr"/>
          <a:lstStyle/>
          <a:p>
            <a:pPr algn="ctr" indent="0" marL="0">
              <a:buNone/>
            </a:pPr>
            <a:r>
              <a:rPr lang="en-US" sz="1400" b="1" dirty="0">
                <a:solidFill>
                  <a:srgbClr val="3E4F48"/>
                </a:solidFill>
                <a:latin typeface="Arial" pitchFamily="34" charset="0"/>
                <a:ea typeface="Arial" pitchFamily="34" charset="-122"/>
                <a:cs typeface="Arial" pitchFamily="34" charset="-120"/>
              </a:rPr>
              <a:t>6</a:t>
            </a:r>
            <a:endParaRPr lang="en-US" sz="1000" dirty="0"/>
          </a:p>
          <a:p>
            <a:pPr algn="ctr" indent="0" marL="0">
              <a:buNone/>
            </a:pPr>
            <a:r>
              <a:rPr lang="en-US" sz="800" b="1" dirty="0">
                <a:solidFill>
                  <a:srgbClr val="3E4F48"/>
                </a:solidFill>
                <a:latin typeface="Arial" pitchFamily="34" charset="0"/>
                <a:ea typeface="Arial" pitchFamily="34" charset="-122"/>
                <a:cs typeface="Arial" pitchFamily="34" charset="-120"/>
              </a:rPr>
              <a:t>Deploy</a:t>
            </a:r>
            <a:endParaRPr lang="en-US" sz="1000" dirty="0"/>
          </a:p>
          <a:p>
            <a:pPr algn="ctr" indent="0" marL="0">
              <a:buNone/>
            </a:pPr>
            <a:r>
              <a:rPr lang="en-US" sz="600" i="1" dirty="0">
                <a:solidFill>
                  <a:srgbClr val="3E4F48"/>
                </a:solidFill>
                <a:latin typeface="Arial" pitchFamily="34" charset="0"/>
                <a:ea typeface="Arial" pitchFamily="34" charset="-122"/>
                <a:cs typeface="Arial" pitchFamily="34" charset="-120"/>
              </a:rPr>
              <a:t>existing · unchanged</a:t>
            </a:r>
            <a:endParaRPr lang="en-US" sz="1000" dirty="0"/>
          </a:p>
        </p:txBody>
      </p:sp>
      <p:sp>
        <p:nvSpPr>
          <p:cNvPr id="25" name="Text 23"/>
          <p:cNvSpPr/>
          <p:nvPr/>
        </p:nvSpPr>
        <p:spPr>
          <a:xfrm>
            <a:off x="4422958" y="3908318"/>
            <a:ext cx="274320" cy="274320"/>
          </a:xfrm>
          <a:prstGeom prst="ellipse">
            <a:avLst/>
          </a:prstGeom>
          <a:solidFill>
            <a:srgbClr val="B23A32"/>
          </a:solidFill>
          <a:ln w="12700">
            <a:solidFill>
              <a:srgbClr val="FFFFFF"/>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A6</a:t>
            </a:r>
            <a:endParaRPr lang="en-US" sz="700" dirty="0"/>
          </a:p>
        </p:txBody>
      </p:sp>
      <p:sp>
        <p:nvSpPr>
          <p:cNvPr id="26" name="Shape 24"/>
          <p:cNvSpPr/>
          <p:nvPr/>
        </p:nvSpPr>
        <p:spPr>
          <a:xfrm>
            <a:off x="4358945" y="2304288"/>
            <a:ext cx="3474720" cy="3474720"/>
          </a:xfrm>
          <a:prstGeom prst="blockArc">
            <a:avLst>
              <a:gd name="adj1" fmla="val 11607429"/>
              <a:gd name="adj2" fmla="val 14621143"/>
              <a:gd name="adj3" fmla="val 23684"/>
            </a:avLst>
          </a:prstGeom>
          <a:solidFill>
            <a:srgbClr val="B7C0BB"/>
          </a:solidFill>
          <a:ln w="19050">
            <a:solidFill>
              <a:srgbClr val="FFFFFF"/>
            </a:solidFill>
            <a:prstDash val="solid"/>
          </a:ln>
        </p:spPr>
      </p:sp>
      <p:sp>
        <p:nvSpPr>
          <p:cNvPr id="27" name="Text 25"/>
          <p:cNvSpPr/>
          <p:nvPr/>
        </p:nvSpPr>
        <p:spPr>
          <a:xfrm>
            <a:off x="4498165" y="2903005"/>
            <a:ext cx="1051560" cy="566928"/>
          </a:xfrm>
          <a:prstGeom prst="rect">
            <a:avLst/>
          </a:prstGeom>
          <a:noFill/>
          <a:ln/>
        </p:spPr>
        <p:txBody>
          <a:bodyPr wrap="square" lIns="0" tIns="0" rIns="0" bIns="0" rtlCol="0" anchor="ctr"/>
          <a:lstStyle/>
          <a:p>
            <a:pPr algn="ctr" indent="0" marL="0">
              <a:buNone/>
            </a:pPr>
            <a:r>
              <a:rPr lang="en-US" sz="1400" b="1" dirty="0">
                <a:solidFill>
                  <a:srgbClr val="3E4F48"/>
                </a:solidFill>
                <a:latin typeface="Arial" pitchFamily="34" charset="0"/>
                <a:ea typeface="Arial" pitchFamily="34" charset="-122"/>
                <a:cs typeface="Arial" pitchFamily="34" charset="-120"/>
              </a:rPr>
              <a:t>7</a:t>
            </a:r>
            <a:endParaRPr lang="en-US" sz="1000" dirty="0"/>
          </a:p>
          <a:p>
            <a:pPr algn="ctr" indent="0" marL="0">
              <a:buNone/>
            </a:pPr>
            <a:r>
              <a:rPr lang="en-US" sz="800" b="1" dirty="0">
                <a:solidFill>
                  <a:srgbClr val="3E4F48"/>
                </a:solidFill>
                <a:latin typeface="Arial" pitchFamily="34" charset="0"/>
                <a:ea typeface="Arial" pitchFamily="34" charset="-122"/>
                <a:cs typeface="Arial" pitchFamily="34" charset="-120"/>
              </a:rPr>
              <a:t>Operate &amp; assess</a:t>
            </a:r>
            <a:endParaRPr lang="en-US" sz="1000" dirty="0"/>
          </a:p>
          <a:p>
            <a:pPr algn="ctr" indent="0" marL="0">
              <a:buNone/>
            </a:pPr>
            <a:r>
              <a:rPr lang="en-US" sz="600" i="1" dirty="0">
                <a:solidFill>
                  <a:srgbClr val="3E4F48"/>
                </a:solidFill>
                <a:latin typeface="Arial" pitchFamily="34" charset="0"/>
                <a:ea typeface="Arial" pitchFamily="34" charset="-122"/>
                <a:cs typeface="Arial" pitchFamily="34" charset="-120"/>
              </a:rPr>
              <a:t>existing · unchanged</a:t>
            </a:r>
            <a:endParaRPr lang="en-US" sz="1000" dirty="0"/>
          </a:p>
        </p:txBody>
      </p:sp>
      <p:sp>
        <p:nvSpPr>
          <p:cNvPr id="28" name="Text 26"/>
          <p:cNvSpPr/>
          <p:nvPr/>
        </p:nvSpPr>
        <p:spPr>
          <a:xfrm>
            <a:off x="5128910" y="2611973"/>
            <a:ext cx="274320" cy="274320"/>
          </a:xfrm>
          <a:prstGeom prst="ellipse">
            <a:avLst/>
          </a:prstGeom>
          <a:solidFill>
            <a:srgbClr val="1E9A5B"/>
          </a:solidFill>
          <a:ln w="12700">
            <a:solidFill>
              <a:srgbClr val="FFFFFF"/>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A7</a:t>
            </a:r>
            <a:endParaRPr lang="en-US" sz="700" dirty="0"/>
          </a:p>
        </p:txBody>
      </p:sp>
      <p:sp>
        <p:nvSpPr>
          <p:cNvPr id="29" name="Shape 27"/>
          <p:cNvSpPr/>
          <p:nvPr/>
        </p:nvSpPr>
        <p:spPr>
          <a:xfrm>
            <a:off x="6736327" y="2234389"/>
            <a:ext cx="310896" cy="310896"/>
          </a:xfrm>
          <a:prstGeom prst="diamond">
            <a:avLst/>
          </a:prstGeom>
          <a:solidFill>
            <a:srgbClr val="3E4F48"/>
          </a:solidFill>
          <a:ln w="12700">
            <a:solidFill>
              <a:srgbClr val="FFFFFF"/>
            </a:solidFill>
            <a:prstDash val="solid"/>
          </a:ln>
        </p:spPr>
      </p:sp>
      <p:sp>
        <p:nvSpPr>
          <p:cNvPr id="30" name="Shape 28"/>
          <p:cNvSpPr/>
          <p:nvPr/>
        </p:nvSpPr>
        <p:spPr>
          <a:xfrm>
            <a:off x="7682542" y="3432516"/>
            <a:ext cx="402336" cy="402336"/>
          </a:xfrm>
          <a:prstGeom prst="diamond">
            <a:avLst/>
          </a:prstGeom>
          <a:solidFill>
            <a:srgbClr val="0B3F2C"/>
          </a:solidFill>
          <a:ln w="12700">
            <a:solidFill>
              <a:srgbClr val="FFFFFF"/>
            </a:solidFill>
            <a:prstDash val="solid"/>
          </a:ln>
        </p:spPr>
      </p:sp>
      <p:sp>
        <p:nvSpPr>
          <p:cNvPr id="31" name="Text 29"/>
          <p:cNvSpPr/>
          <p:nvPr/>
        </p:nvSpPr>
        <p:spPr>
          <a:xfrm>
            <a:off x="7746550" y="349652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32" name="Shape 30"/>
          <p:cNvSpPr/>
          <p:nvPr/>
        </p:nvSpPr>
        <p:spPr>
          <a:xfrm>
            <a:off x="7374245" y="5029289"/>
            <a:ext cx="310896" cy="310896"/>
          </a:xfrm>
          <a:prstGeom prst="diamond">
            <a:avLst/>
          </a:prstGeom>
          <a:solidFill>
            <a:srgbClr val="3E4F48"/>
          </a:solidFill>
          <a:ln w="12700">
            <a:solidFill>
              <a:srgbClr val="FFFFFF"/>
            </a:solidFill>
            <a:prstDash val="solid"/>
          </a:ln>
        </p:spPr>
      </p:sp>
      <p:sp>
        <p:nvSpPr>
          <p:cNvPr id="33" name="Shape 31"/>
          <p:cNvSpPr/>
          <p:nvPr/>
        </p:nvSpPr>
        <p:spPr>
          <a:xfrm>
            <a:off x="5986577" y="5765292"/>
            <a:ext cx="219456" cy="219456"/>
          </a:xfrm>
          <a:prstGeom prst="ellipse">
            <a:avLst/>
          </a:prstGeom>
          <a:solidFill>
            <a:srgbClr val="FFFFFF"/>
          </a:solidFill>
          <a:ln w="15875">
            <a:solidFill>
              <a:srgbClr val="3E4F48"/>
            </a:solidFill>
            <a:prstDash val="solid"/>
          </a:ln>
        </p:spPr>
      </p:sp>
      <p:sp>
        <p:nvSpPr>
          <p:cNvPr id="34" name="Shape 32"/>
          <p:cNvSpPr/>
          <p:nvPr/>
        </p:nvSpPr>
        <p:spPr>
          <a:xfrm>
            <a:off x="4553189" y="5075009"/>
            <a:ext cx="219456" cy="219456"/>
          </a:xfrm>
          <a:prstGeom prst="ellipse">
            <a:avLst/>
          </a:prstGeom>
          <a:solidFill>
            <a:srgbClr val="FFFFFF"/>
          </a:solidFill>
          <a:ln w="15875">
            <a:solidFill>
              <a:srgbClr val="3E4F48"/>
            </a:solidFill>
            <a:prstDash val="solid"/>
          </a:ln>
        </p:spPr>
      </p:sp>
      <p:sp>
        <p:nvSpPr>
          <p:cNvPr id="35" name="Shape 33"/>
          <p:cNvSpPr/>
          <p:nvPr/>
        </p:nvSpPr>
        <p:spPr>
          <a:xfrm>
            <a:off x="4153451" y="3478236"/>
            <a:ext cx="310896" cy="310896"/>
          </a:xfrm>
          <a:prstGeom prst="diamond">
            <a:avLst/>
          </a:prstGeom>
          <a:solidFill>
            <a:srgbClr val="3E4F48"/>
          </a:solidFill>
          <a:ln w="12700">
            <a:solidFill>
              <a:srgbClr val="FFFFFF"/>
            </a:solidFill>
            <a:prstDash val="solid"/>
          </a:ln>
        </p:spPr>
      </p:sp>
      <p:sp>
        <p:nvSpPr>
          <p:cNvPr id="36" name="Shape 34"/>
          <p:cNvSpPr/>
          <p:nvPr/>
        </p:nvSpPr>
        <p:spPr>
          <a:xfrm>
            <a:off x="5145387" y="2234389"/>
            <a:ext cx="310896" cy="310896"/>
          </a:xfrm>
          <a:prstGeom prst="diamond">
            <a:avLst/>
          </a:prstGeom>
          <a:solidFill>
            <a:srgbClr val="3E4F48"/>
          </a:solidFill>
          <a:ln w="12700">
            <a:solidFill>
              <a:srgbClr val="FFFFFF"/>
            </a:solidFill>
            <a:prstDash val="solid"/>
          </a:ln>
        </p:spPr>
      </p:sp>
      <p:sp>
        <p:nvSpPr>
          <p:cNvPr id="37" name="Shape 35"/>
          <p:cNvSpPr/>
          <p:nvPr/>
        </p:nvSpPr>
        <p:spPr>
          <a:xfrm>
            <a:off x="5209337" y="3154680"/>
            <a:ext cx="1773936" cy="1773936"/>
          </a:xfrm>
          <a:prstGeom prst="blockArc">
            <a:avLst>
              <a:gd name="adj1" fmla="val 20888571"/>
              <a:gd name="adj2" fmla="val 5340000"/>
              <a:gd name="adj3" fmla="val 6186"/>
            </a:avLst>
          </a:prstGeom>
          <a:solidFill>
            <a:srgbClr val="0B3F2C"/>
          </a:solidFill>
          <a:ln w="12700">
            <a:solidFill>
              <a:srgbClr val="0B3F2C"/>
            </a:solidFill>
            <a:prstDash val="solid"/>
          </a:ln>
        </p:spPr>
      </p:sp>
      <p:sp>
        <p:nvSpPr>
          <p:cNvPr id="38" name="Shape 36"/>
          <p:cNvSpPr/>
          <p:nvPr/>
        </p:nvSpPr>
        <p:spPr>
          <a:xfrm>
            <a:off x="5209337" y="3154680"/>
            <a:ext cx="1773936" cy="1773936"/>
          </a:xfrm>
          <a:prstGeom prst="blockArc">
            <a:avLst>
              <a:gd name="adj1" fmla="val 5460000"/>
              <a:gd name="adj2" fmla="val 8425714"/>
              <a:gd name="adj3" fmla="val 6186"/>
            </a:avLst>
          </a:prstGeom>
          <a:solidFill>
            <a:srgbClr val="6FBF95"/>
          </a:solidFill>
          <a:ln w="9525">
            <a:solidFill>
              <a:srgbClr val="0B3F2C"/>
            </a:solidFill>
            <a:prstDash val="dash"/>
          </a:ln>
        </p:spPr>
      </p:sp>
      <p:sp>
        <p:nvSpPr>
          <p:cNvPr id="39" name="Shape 37"/>
          <p:cNvSpPr/>
          <p:nvPr/>
        </p:nvSpPr>
        <p:spPr>
          <a:xfrm>
            <a:off x="5355641" y="3300984"/>
            <a:ext cx="1481328" cy="1481328"/>
          </a:xfrm>
          <a:prstGeom prst="ellipse">
            <a:avLst/>
          </a:prstGeom>
          <a:solidFill>
            <a:srgbClr val="FFFFFF"/>
          </a:solidFill>
          <a:ln w="12700">
            <a:solidFill>
              <a:srgbClr val="CFE9DA"/>
            </a:solidFill>
            <a:prstDash val="solid"/>
          </a:ln>
        </p:spPr>
      </p:sp>
      <p:sp>
        <p:nvSpPr>
          <p:cNvPr id="40" name="Text 38"/>
          <p:cNvSpPr/>
          <p:nvPr/>
        </p:nvSpPr>
        <p:spPr>
          <a:xfrm>
            <a:off x="5959145" y="3337560"/>
            <a:ext cx="274320" cy="274320"/>
          </a:xfrm>
          <a:prstGeom prst="ellipse">
            <a:avLst/>
          </a:prstGeom>
          <a:solidFill>
            <a:srgbClr val="B23A32"/>
          </a:solidFill>
          <a:ln w="12700">
            <a:solidFill>
              <a:srgbClr val="FFFFFF"/>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A0</a:t>
            </a:r>
            <a:endParaRPr lang="en-US" sz="700" dirty="0"/>
          </a:p>
        </p:txBody>
      </p:sp>
      <p:sp>
        <p:nvSpPr>
          <p:cNvPr id="41" name="Text 39"/>
          <p:cNvSpPr/>
          <p:nvPr/>
        </p:nvSpPr>
        <p:spPr>
          <a:xfrm>
            <a:off x="5410505" y="3730752"/>
            <a:ext cx="1371600" cy="768096"/>
          </a:xfrm>
          <a:prstGeom prst="rect">
            <a:avLst/>
          </a:prstGeom>
          <a:noFill/>
          <a:ln/>
        </p:spPr>
        <p:txBody>
          <a:bodyPr wrap="square" lIns="0" tIns="0" rIns="0" bIns="0" rtlCol="0" anchor="ctr"/>
          <a:lstStyle/>
          <a:p>
            <a:pPr algn="ctr" indent="0" marL="0">
              <a:buNone/>
            </a:pPr>
            <a:r>
              <a:rPr lang="en-US" sz="900" b="1" dirty="0">
                <a:solidFill>
                  <a:srgbClr val="0B3F2C"/>
                </a:solidFill>
                <a:latin typeface="Arial" pitchFamily="34" charset="0"/>
                <a:ea typeface="Arial" pitchFamily="34" charset="-122"/>
                <a:cs typeface="Arial" pitchFamily="34" charset="-120"/>
              </a:rPr>
              <a:t>0 · Domain master design</a:t>
            </a:r>
            <a:endParaRPr lang="en-US" sz="1000" dirty="0"/>
          </a:p>
          <a:p>
            <a:pPr algn="ctr" indent="0" marL="0">
              <a:buNone/>
            </a:pPr>
            <a:r>
              <a:rPr lang="en-US" sz="650" dirty="0">
                <a:solidFill>
                  <a:srgbClr val="1B2A24"/>
                </a:solidFill>
                <a:latin typeface="Arial" pitchFamily="34" charset="0"/>
                <a:ea typeface="Arial" pitchFamily="34" charset="-122"/>
                <a:cs typeface="Arial" pitchFamily="34" charset="-120"/>
              </a:rPr>
              <a:t>bounded contexts · context map · glossary · owners</a:t>
            </a:r>
            <a:endParaRPr lang="en-US" sz="1000" dirty="0"/>
          </a:p>
          <a:p>
            <a:pPr algn="ctr" indent="0" marL="0">
              <a:buNone/>
            </a:pPr>
            <a:r>
              <a:rPr lang="en-US" sz="750" b="1" dirty="0">
                <a:solidFill>
                  <a:srgbClr val="0E6B45"/>
                </a:solidFill>
                <a:latin typeface="Arial" pitchFamily="34" charset="0"/>
                <a:ea typeface="Arial" pitchFamily="34" charset="-122"/>
                <a:cs typeface="Arial" pitchFamily="34" charset="-120"/>
              </a:rPr>
              <a:t>+ architecture rulebook</a:t>
            </a:r>
            <a:endParaRPr lang="en-US" sz="1000" dirty="0"/>
          </a:p>
          <a:p>
            <a:pPr algn="ctr" indent="0" marL="0">
              <a:buNone/>
            </a:pPr>
            <a:r>
              <a:rPr lang="en-US" sz="650" i="1" dirty="0">
                <a:solidFill>
                  <a:srgbClr val="5F6B66"/>
                </a:solidFill>
                <a:latin typeface="Arial" pitchFamily="34" charset="0"/>
                <a:ea typeface="Arial" pitchFamily="34" charset="-122"/>
                <a:cs typeface="Arial" pitchFamily="34" charset="-120"/>
              </a:rPr>
              <a:t>owned by the lead architect</a:t>
            </a:r>
            <a:endParaRPr lang="en-US" sz="1000" dirty="0"/>
          </a:p>
        </p:txBody>
      </p:sp>
      <p:sp>
        <p:nvSpPr>
          <p:cNvPr id="42" name="Text 40"/>
          <p:cNvSpPr/>
          <p:nvPr/>
        </p:nvSpPr>
        <p:spPr>
          <a:xfrm>
            <a:off x="5200193" y="4791456"/>
            <a:ext cx="1792224" cy="164592"/>
          </a:xfrm>
          <a:prstGeom prst="roundRect">
            <a:avLst>
              <a:gd name="adj" fmla="val 50000"/>
            </a:avLst>
          </a:prstGeom>
          <a:solidFill>
            <a:srgbClr val="0B3F2C"/>
          </a:solidFill>
          <a:ln>
            <a:solidFill>
              <a:srgbClr val="0B3F2C"/>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spine · 3–4 (5 orchestrated)</a:t>
            </a:r>
            <a:endParaRPr lang="en-US" sz="650" dirty="0"/>
          </a:p>
        </p:txBody>
      </p:sp>
      <p:sp>
        <p:nvSpPr>
          <p:cNvPr id="43" name="Text 41"/>
          <p:cNvSpPr/>
          <p:nvPr/>
        </p:nvSpPr>
        <p:spPr>
          <a:xfrm>
            <a:off x="5136185" y="1984248"/>
            <a:ext cx="1920240" cy="164592"/>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business loop — humans turn it</a:t>
            </a:r>
            <a:endParaRPr lang="en-US" sz="650" dirty="0"/>
          </a:p>
        </p:txBody>
      </p:sp>
      <p:sp>
        <p:nvSpPr>
          <p:cNvPr id="44" name="Text 42"/>
          <p:cNvSpPr/>
          <p:nvPr/>
        </p:nvSpPr>
        <p:spPr>
          <a:xfrm>
            <a:off x="5181905" y="5934456"/>
            <a:ext cx="1828800" cy="164592"/>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delivery iteration 3 → 5 — human-gated</a:t>
            </a:r>
            <a:endParaRPr lang="en-US" sz="650" dirty="0"/>
          </a:p>
        </p:txBody>
      </p:sp>
      <p:sp>
        <p:nvSpPr>
          <p:cNvPr id="45" name="Text 43"/>
          <p:cNvSpPr/>
          <p:nvPr/>
        </p:nvSpPr>
        <p:spPr>
          <a:xfrm>
            <a:off x="8352881" y="3445595"/>
            <a:ext cx="1600200" cy="182880"/>
          </a:xfrm>
          <a:prstGeom prst="roundRect">
            <a:avLst>
              <a:gd name="adj" fmla="val 50000"/>
            </a:avLst>
          </a:prstGeom>
          <a:solidFill>
            <a:srgbClr val="0B3F2C"/>
          </a:solidFill>
          <a:ln>
            <a:solidFill>
              <a:srgbClr val="0B3F2C"/>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master gate: start next iteration</a:t>
            </a:r>
            <a:endParaRPr lang="en-US" sz="650" dirty="0"/>
          </a:p>
        </p:txBody>
      </p:sp>
      <p:sp>
        <p:nvSpPr>
          <p:cNvPr id="46" name="Shape 44"/>
          <p:cNvSpPr/>
          <p:nvPr/>
        </p:nvSpPr>
        <p:spPr>
          <a:xfrm>
            <a:off x="4636008" y="1024128"/>
            <a:ext cx="2926080" cy="841248"/>
          </a:xfrm>
          <a:prstGeom prst="roundRect">
            <a:avLst>
              <a:gd name="adj" fmla="val 6522"/>
            </a:avLst>
          </a:prstGeom>
          <a:solidFill>
            <a:srgbClr val="FFFFFF"/>
          </a:solidFill>
          <a:ln w="9525">
            <a:solidFill>
              <a:srgbClr val="E9ECEA"/>
            </a:solidFill>
            <a:prstDash val="solid"/>
          </a:ln>
        </p:spPr>
      </p:sp>
      <p:sp>
        <p:nvSpPr>
          <p:cNvPr id="47" name="Text 45"/>
          <p:cNvSpPr/>
          <p:nvPr/>
        </p:nvSpPr>
        <p:spPr>
          <a:xfrm>
            <a:off x="4727448" y="1078992"/>
            <a:ext cx="1554480" cy="201168"/>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1 · Requirements</a:t>
            </a:r>
            <a:endParaRPr lang="en-US" sz="1000" dirty="0"/>
          </a:p>
        </p:txBody>
      </p:sp>
      <p:sp>
        <p:nvSpPr>
          <p:cNvPr id="48" name="Text 46"/>
          <p:cNvSpPr/>
          <p:nvPr/>
        </p:nvSpPr>
        <p:spPr>
          <a:xfrm>
            <a:off x="6327648" y="1088136"/>
            <a:ext cx="1143000"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business owner</a:t>
            </a:r>
            <a:endParaRPr lang="en-US" sz="650" dirty="0"/>
          </a:p>
        </p:txBody>
      </p:sp>
      <p:sp>
        <p:nvSpPr>
          <p:cNvPr id="49" name="Shape 47"/>
          <p:cNvSpPr/>
          <p:nvPr/>
        </p:nvSpPr>
        <p:spPr>
          <a:xfrm>
            <a:off x="4736592" y="1353312"/>
            <a:ext cx="118872" cy="118872"/>
          </a:xfrm>
          <a:prstGeom prst="diamond">
            <a:avLst/>
          </a:prstGeom>
          <a:solidFill>
            <a:srgbClr val="3E4F48"/>
          </a:solidFill>
          <a:ln w="12700">
            <a:solidFill>
              <a:srgbClr val="3E4F48"/>
            </a:solidFill>
            <a:prstDash val="solid"/>
          </a:ln>
        </p:spPr>
      </p:sp>
      <p:sp>
        <p:nvSpPr>
          <p:cNvPr id="50" name="Text 48"/>
          <p:cNvSpPr/>
          <p:nvPr/>
        </p:nvSpPr>
        <p:spPr>
          <a:xfrm>
            <a:off x="4910328" y="1316736"/>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Decision: requirements baseline approved</a:t>
            </a:r>
            <a:endParaRPr lang="en-US" sz="750" dirty="0"/>
          </a:p>
        </p:txBody>
      </p:sp>
      <p:sp>
        <p:nvSpPr>
          <p:cNvPr id="51" name="Shape 49"/>
          <p:cNvSpPr/>
          <p:nvPr/>
        </p:nvSpPr>
        <p:spPr>
          <a:xfrm>
            <a:off x="4745736" y="1536192"/>
            <a:ext cx="100584" cy="100584"/>
          </a:xfrm>
          <a:prstGeom prst="ellipse">
            <a:avLst/>
          </a:prstGeom>
          <a:solidFill>
            <a:srgbClr val="0E6B45"/>
          </a:solidFill>
          <a:ln w="12700">
            <a:solidFill>
              <a:srgbClr val="0E6B45"/>
            </a:solidFill>
            <a:prstDash val="solid"/>
          </a:ln>
        </p:spPr>
      </p:sp>
      <p:sp>
        <p:nvSpPr>
          <p:cNvPr id="52" name="Text 50"/>
          <p:cNvSpPr/>
          <p:nvPr/>
        </p:nvSpPr>
        <p:spPr>
          <a:xfrm>
            <a:off x="4910328" y="1490472"/>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assess (intake → go/kill) · requirements repo</a:t>
            </a:r>
            <a:endParaRPr lang="en-US" sz="750" dirty="0"/>
          </a:p>
        </p:txBody>
      </p:sp>
      <p:sp>
        <p:nvSpPr>
          <p:cNvPr id="53" name="Shape 51"/>
          <p:cNvSpPr/>
          <p:nvPr/>
        </p:nvSpPr>
        <p:spPr>
          <a:xfrm>
            <a:off x="4745736" y="1709928"/>
            <a:ext cx="100584" cy="100584"/>
          </a:xfrm>
          <a:prstGeom prst="ellipse">
            <a:avLst/>
          </a:prstGeom>
          <a:solidFill>
            <a:srgbClr val="B23A32"/>
          </a:solidFill>
          <a:ln w="12700">
            <a:solidFill>
              <a:srgbClr val="B23A32"/>
            </a:solidFill>
            <a:prstDash val="solid"/>
          </a:ln>
        </p:spPr>
      </p:sp>
      <p:sp>
        <p:nvSpPr>
          <p:cNvPr id="54" name="Text 52"/>
          <p:cNvSpPr/>
          <p:nvPr/>
        </p:nvSpPr>
        <p:spPr>
          <a:xfrm>
            <a:off x="4910328" y="1664208"/>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A1: context + owner on every ID · Proposer</a:t>
            </a:r>
            <a:endParaRPr lang="en-US" sz="750" dirty="0"/>
          </a:p>
        </p:txBody>
      </p:sp>
      <p:sp>
        <p:nvSpPr>
          <p:cNvPr id="55" name="Shape 53"/>
          <p:cNvSpPr/>
          <p:nvPr/>
        </p:nvSpPr>
        <p:spPr>
          <a:xfrm>
            <a:off x="7818120" y="1737360"/>
            <a:ext cx="2926080" cy="841248"/>
          </a:xfrm>
          <a:prstGeom prst="roundRect">
            <a:avLst>
              <a:gd name="adj" fmla="val 6522"/>
            </a:avLst>
          </a:prstGeom>
          <a:solidFill>
            <a:srgbClr val="FFFFFF"/>
          </a:solidFill>
          <a:ln w="9525">
            <a:solidFill>
              <a:srgbClr val="E9ECEA"/>
            </a:solidFill>
            <a:prstDash val="solid"/>
          </a:ln>
        </p:spPr>
      </p:sp>
      <p:sp>
        <p:nvSpPr>
          <p:cNvPr id="56" name="Text 54"/>
          <p:cNvSpPr/>
          <p:nvPr/>
        </p:nvSpPr>
        <p:spPr>
          <a:xfrm>
            <a:off x="7909560" y="1792224"/>
            <a:ext cx="1554480" cy="201168"/>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2 · Plan</a:t>
            </a:r>
            <a:endParaRPr lang="en-US" sz="1000" dirty="0"/>
          </a:p>
        </p:txBody>
      </p:sp>
      <p:sp>
        <p:nvSpPr>
          <p:cNvPr id="57" name="Text 55"/>
          <p:cNvSpPr/>
          <p:nvPr/>
        </p:nvSpPr>
        <p:spPr>
          <a:xfrm>
            <a:off x="9509760" y="1801368"/>
            <a:ext cx="1143000"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board + architect</a:t>
            </a:r>
            <a:endParaRPr lang="en-US" sz="650" dirty="0"/>
          </a:p>
        </p:txBody>
      </p:sp>
      <p:sp>
        <p:nvSpPr>
          <p:cNvPr id="58" name="Shape 56"/>
          <p:cNvSpPr/>
          <p:nvPr/>
        </p:nvSpPr>
        <p:spPr>
          <a:xfrm>
            <a:off x="7918704" y="2066544"/>
            <a:ext cx="118872" cy="118872"/>
          </a:xfrm>
          <a:prstGeom prst="diamond">
            <a:avLst/>
          </a:prstGeom>
          <a:solidFill>
            <a:srgbClr val="3E4F48"/>
          </a:solidFill>
          <a:ln w="12700">
            <a:solidFill>
              <a:srgbClr val="3E4F48"/>
            </a:solidFill>
            <a:prstDash val="solid"/>
          </a:ln>
        </p:spPr>
      </p:sp>
      <p:sp>
        <p:nvSpPr>
          <p:cNvPr id="59" name="Text 57"/>
          <p:cNvSpPr/>
          <p:nvPr/>
        </p:nvSpPr>
        <p:spPr>
          <a:xfrm>
            <a:off x="8092440" y="2029968"/>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Master gate: start the next iteration</a:t>
            </a:r>
            <a:endParaRPr lang="en-US" sz="750" dirty="0"/>
          </a:p>
        </p:txBody>
      </p:sp>
      <p:sp>
        <p:nvSpPr>
          <p:cNvPr id="60" name="Shape 58"/>
          <p:cNvSpPr/>
          <p:nvPr/>
        </p:nvSpPr>
        <p:spPr>
          <a:xfrm>
            <a:off x="7927848" y="2249424"/>
            <a:ext cx="100584" cy="100584"/>
          </a:xfrm>
          <a:prstGeom prst="ellipse">
            <a:avLst/>
          </a:prstGeom>
          <a:solidFill>
            <a:srgbClr val="0E6B45"/>
          </a:solidFill>
          <a:ln w="12700">
            <a:solidFill>
              <a:srgbClr val="0E6B45"/>
            </a:solidFill>
            <a:prstDash val="solid"/>
          </a:ln>
        </p:spPr>
      </p:sp>
      <p:sp>
        <p:nvSpPr>
          <p:cNvPr id="61" name="Text 59"/>
          <p:cNvSpPr/>
          <p:nvPr/>
        </p:nvSpPr>
        <p:spPr>
          <a:xfrm>
            <a:off x="8092440" y="2203704"/>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iteration charter · roadmap · scope · whatif</a:t>
            </a:r>
            <a:endParaRPr lang="en-US" sz="750" dirty="0"/>
          </a:p>
        </p:txBody>
      </p:sp>
      <p:sp>
        <p:nvSpPr>
          <p:cNvPr id="62" name="Shape 60"/>
          <p:cNvSpPr/>
          <p:nvPr/>
        </p:nvSpPr>
        <p:spPr>
          <a:xfrm>
            <a:off x="7927848" y="2423160"/>
            <a:ext cx="100584" cy="100584"/>
          </a:xfrm>
          <a:prstGeom prst="ellipse">
            <a:avLst/>
          </a:prstGeom>
          <a:solidFill>
            <a:srgbClr val="B23A32"/>
          </a:solidFill>
          <a:ln w="12700">
            <a:solidFill>
              <a:srgbClr val="B23A32"/>
            </a:solidFill>
            <a:prstDash val="solid"/>
          </a:ln>
        </p:spPr>
      </p:sp>
      <p:sp>
        <p:nvSpPr>
          <p:cNvPr id="63" name="Text 61"/>
          <p:cNvSpPr/>
          <p:nvPr/>
        </p:nvSpPr>
        <p:spPr>
          <a:xfrm>
            <a:off x="8092440" y="2377440"/>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A2: charter debt items · dependency check</a:t>
            </a:r>
            <a:endParaRPr lang="en-US" sz="750" dirty="0"/>
          </a:p>
        </p:txBody>
      </p:sp>
      <p:sp>
        <p:nvSpPr>
          <p:cNvPr id="64" name="Shape 62"/>
          <p:cNvSpPr/>
          <p:nvPr/>
        </p:nvSpPr>
        <p:spPr>
          <a:xfrm>
            <a:off x="8275320" y="4206240"/>
            <a:ext cx="2926080" cy="841248"/>
          </a:xfrm>
          <a:prstGeom prst="roundRect">
            <a:avLst>
              <a:gd name="adj" fmla="val 6522"/>
            </a:avLst>
          </a:prstGeom>
          <a:solidFill>
            <a:srgbClr val="FFFFFF"/>
          </a:solidFill>
          <a:ln w="9525">
            <a:solidFill>
              <a:srgbClr val="E9ECEA"/>
            </a:solidFill>
            <a:prstDash val="solid"/>
          </a:ln>
        </p:spPr>
      </p:sp>
      <p:sp>
        <p:nvSpPr>
          <p:cNvPr id="65" name="Text 63"/>
          <p:cNvSpPr/>
          <p:nvPr/>
        </p:nvSpPr>
        <p:spPr>
          <a:xfrm>
            <a:off x="8366760" y="4261104"/>
            <a:ext cx="1554480" cy="201168"/>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3 · Design</a:t>
            </a:r>
            <a:endParaRPr lang="en-US" sz="1000" dirty="0"/>
          </a:p>
        </p:txBody>
      </p:sp>
      <p:sp>
        <p:nvSpPr>
          <p:cNvPr id="66" name="Text 64"/>
          <p:cNvSpPr/>
          <p:nvPr/>
        </p:nvSpPr>
        <p:spPr>
          <a:xfrm>
            <a:off x="9966960" y="4270248"/>
            <a:ext cx="1143000"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lead architect</a:t>
            </a:r>
            <a:endParaRPr lang="en-US" sz="650" dirty="0"/>
          </a:p>
        </p:txBody>
      </p:sp>
      <p:sp>
        <p:nvSpPr>
          <p:cNvPr id="67" name="Shape 65"/>
          <p:cNvSpPr/>
          <p:nvPr/>
        </p:nvSpPr>
        <p:spPr>
          <a:xfrm>
            <a:off x="8375904" y="4535424"/>
            <a:ext cx="118872" cy="118872"/>
          </a:xfrm>
          <a:prstGeom prst="diamond">
            <a:avLst/>
          </a:prstGeom>
          <a:solidFill>
            <a:srgbClr val="3E4F48"/>
          </a:solidFill>
          <a:ln w="12700">
            <a:solidFill>
              <a:srgbClr val="3E4F48"/>
            </a:solidFill>
            <a:prstDash val="solid"/>
          </a:ln>
        </p:spPr>
      </p:sp>
      <p:sp>
        <p:nvSpPr>
          <p:cNvPr id="68" name="Text 66"/>
          <p:cNvSpPr/>
          <p:nvPr/>
        </p:nvSpPr>
        <p:spPr>
          <a:xfrm>
            <a:off x="8549640" y="4498848"/>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Decision: design authority sign-off</a:t>
            </a:r>
            <a:endParaRPr lang="en-US" sz="750" dirty="0"/>
          </a:p>
        </p:txBody>
      </p:sp>
      <p:sp>
        <p:nvSpPr>
          <p:cNvPr id="69" name="Shape 67"/>
          <p:cNvSpPr/>
          <p:nvPr/>
        </p:nvSpPr>
        <p:spPr>
          <a:xfrm>
            <a:off x="8385048" y="4718304"/>
            <a:ext cx="100584" cy="100584"/>
          </a:xfrm>
          <a:prstGeom prst="ellipse">
            <a:avLst/>
          </a:prstGeom>
          <a:solidFill>
            <a:srgbClr val="0E6B45"/>
          </a:solidFill>
          <a:ln w="12700">
            <a:solidFill>
              <a:srgbClr val="0E6B45"/>
            </a:solidFill>
            <a:prstDash val="solid"/>
          </a:ln>
        </p:spPr>
      </p:sp>
      <p:sp>
        <p:nvSpPr>
          <p:cNvPr id="70" name="Text 68"/>
          <p:cNvSpPr/>
          <p:nvPr/>
        </p:nvSpPr>
        <p:spPr>
          <a:xfrm>
            <a:off x="8549640" y="4672584"/>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ShAIping ✓ integration ✓ · standards skills · plan</a:t>
            </a:r>
            <a:endParaRPr lang="en-US" sz="750" dirty="0"/>
          </a:p>
        </p:txBody>
      </p:sp>
      <p:sp>
        <p:nvSpPr>
          <p:cNvPr id="71" name="Shape 69"/>
          <p:cNvSpPr/>
          <p:nvPr/>
        </p:nvSpPr>
        <p:spPr>
          <a:xfrm>
            <a:off x="8385048" y="4892040"/>
            <a:ext cx="100584" cy="100584"/>
          </a:xfrm>
          <a:prstGeom prst="ellipse">
            <a:avLst/>
          </a:prstGeom>
          <a:solidFill>
            <a:srgbClr val="B23A32"/>
          </a:solidFill>
          <a:ln w="12700">
            <a:solidFill>
              <a:srgbClr val="B23A32"/>
            </a:solidFill>
            <a:prstDash val="solid"/>
          </a:ln>
        </p:spPr>
      </p:sp>
      <p:sp>
        <p:nvSpPr>
          <p:cNvPr id="72" name="Text 70"/>
          <p:cNvSpPr/>
          <p:nvPr/>
        </p:nvSpPr>
        <p:spPr>
          <a:xfrm>
            <a:off x="8549640" y="4846320"/>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A3 conformance script · ledger · task guard</a:t>
            </a:r>
            <a:endParaRPr lang="en-US" sz="750" dirty="0"/>
          </a:p>
        </p:txBody>
      </p:sp>
      <p:sp>
        <p:nvSpPr>
          <p:cNvPr id="73" name="Shape 71"/>
          <p:cNvSpPr/>
          <p:nvPr/>
        </p:nvSpPr>
        <p:spPr>
          <a:xfrm>
            <a:off x="7223760" y="5623560"/>
            <a:ext cx="2926080" cy="841248"/>
          </a:xfrm>
          <a:prstGeom prst="roundRect">
            <a:avLst>
              <a:gd name="adj" fmla="val 6522"/>
            </a:avLst>
          </a:prstGeom>
          <a:solidFill>
            <a:srgbClr val="FFFFFF"/>
          </a:solidFill>
          <a:ln w="9525">
            <a:solidFill>
              <a:srgbClr val="E9ECEA"/>
            </a:solidFill>
            <a:prstDash val="solid"/>
          </a:ln>
        </p:spPr>
      </p:sp>
      <p:sp>
        <p:nvSpPr>
          <p:cNvPr id="74" name="Text 72"/>
          <p:cNvSpPr/>
          <p:nvPr/>
        </p:nvSpPr>
        <p:spPr>
          <a:xfrm>
            <a:off x="7315200" y="5678424"/>
            <a:ext cx="1554480" cy="201168"/>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4 · Implement</a:t>
            </a:r>
            <a:endParaRPr lang="en-US" sz="1000" dirty="0"/>
          </a:p>
        </p:txBody>
      </p:sp>
      <p:sp>
        <p:nvSpPr>
          <p:cNvPr id="75" name="Text 73"/>
          <p:cNvSpPr/>
          <p:nvPr/>
        </p:nvSpPr>
        <p:spPr>
          <a:xfrm>
            <a:off x="8915400" y="5687568"/>
            <a:ext cx="1143000"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tech lead</a:t>
            </a:r>
            <a:endParaRPr lang="en-US" sz="650" dirty="0"/>
          </a:p>
        </p:txBody>
      </p:sp>
      <p:sp>
        <p:nvSpPr>
          <p:cNvPr id="76" name="Shape 74"/>
          <p:cNvSpPr/>
          <p:nvPr/>
        </p:nvSpPr>
        <p:spPr>
          <a:xfrm>
            <a:off x="7324344" y="5952744"/>
            <a:ext cx="118872" cy="118872"/>
          </a:xfrm>
          <a:prstGeom prst="diamond">
            <a:avLst/>
          </a:prstGeom>
          <a:solidFill>
            <a:srgbClr val="3E4F48"/>
          </a:solidFill>
          <a:ln w="12700">
            <a:solidFill>
              <a:srgbClr val="3E4F48"/>
            </a:solidFill>
            <a:prstDash val="solid"/>
          </a:ln>
        </p:spPr>
      </p:sp>
      <p:sp>
        <p:nvSpPr>
          <p:cNvPr id="77" name="Text 75"/>
          <p:cNvSpPr/>
          <p:nvPr/>
        </p:nvSpPr>
        <p:spPr>
          <a:xfrm>
            <a:off x="7498080" y="5916168"/>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Decision: PR approval</a:t>
            </a:r>
            <a:endParaRPr lang="en-US" sz="750" dirty="0"/>
          </a:p>
        </p:txBody>
      </p:sp>
      <p:sp>
        <p:nvSpPr>
          <p:cNvPr id="78" name="Shape 76"/>
          <p:cNvSpPr/>
          <p:nvPr/>
        </p:nvSpPr>
        <p:spPr>
          <a:xfrm>
            <a:off x="7333488" y="6135624"/>
            <a:ext cx="100584" cy="100584"/>
          </a:xfrm>
          <a:prstGeom prst="ellipse">
            <a:avLst/>
          </a:prstGeom>
          <a:solidFill>
            <a:srgbClr val="0E6B45"/>
          </a:solidFill>
          <a:ln w="12700">
            <a:solidFill>
              <a:srgbClr val="0E6B45"/>
            </a:solidFill>
            <a:prstDash val="solid"/>
          </a:ln>
        </p:spPr>
      </p:sp>
      <p:sp>
        <p:nvSpPr>
          <p:cNvPr id="79" name="Text 77"/>
          <p:cNvSpPr/>
          <p:nvPr/>
        </p:nvSpPr>
        <p:spPr>
          <a:xfrm>
            <a:off x="7498080" y="6089904"/>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native: tasks · analyze · implement ⇄ converge ✓</a:t>
            </a:r>
            <a:endParaRPr lang="en-US" sz="750" dirty="0"/>
          </a:p>
        </p:txBody>
      </p:sp>
      <p:sp>
        <p:nvSpPr>
          <p:cNvPr id="80" name="Shape 78"/>
          <p:cNvSpPr/>
          <p:nvPr/>
        </p:nvSpPr>
        <p:spPr>
          <a:xfrm>
            <a:off x="7333488" y="6309360"/>
            <a:ext cx="100584" cy="100584"/>
          </a:xfrm>
          <a:prstGeom prst="ellipse">
            <a:avLst/>
          </a:prstGeom>
          <a:solidFill>
            <a:srgbClr val="B23A32"/>
          </a:solidFill>
          <a:ln w="12700">
            <a:solidFill>
              <a:srgbClr val="B23A32"/>
            </a:solidFill>
            <a:prstDash val="solid"/>
          </a:ln>
        </p:spPr>
      </p:sp>
      <p:sp>
        <p:nvSpPr>
          <p:cNvPr id="81" name="Text 79"/>
          <p:cNvSpPr/>
          <p:nvPr/>
        </p:nvSpPr>
        <p:spPr>
          <a:xfrm>
            <a:off x="7498080" y="6263640"/>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A4 fitness runner · audit ledger</a:t>
            </a:r>
            <a:endParaRPr lang="en-US" sz="750" dirty="0"/>
          </a:p>
        </p:txBody>
      </p:sp>
      <p:sp>
        <p:nvSpPr>
          <p:cNvPr id="82" name="Shape 80"/>
          <p:cNvSpPr/>
          <p:nvPr/>
        </p:nvSpPr>
        <p:spPr>
          <a:xfrm>
            <a:off x="2011680" y="5623560"/>
            <a:ext cx="2926080" cy="841248"/>
          </a:xfrm>
          <a:prstGeom prst="roundRect">
            <a:avLst>
              <a:gd name="adj" fmla="val 6522"/>
            </a:avLst>
          </a:prstGeom>
          <a:solidFill>
            <a:srgbClr val="FFFFFF"/>
          </a:solidFill>
          <a:ln w="9525">
            <a:solidFill>
              <a:srgbClr val="E9ECEA"/>
            </a:solidFill>
            <a:prstDash val="solid"/>
          </a:ln>
        </p:spPr>
      </p:sp>
      <p:sp>
        <p:nvSpPr>
          <p:cNvPr id="83" name="Text 81"/>
          <p:cNvSpPr/>
          <p:nvPr/>
        </p:nvSpPr>
        <p:spPr>
          <a:xfrm>
            <a:off x="2103120" y="5678424"/>
            <a:ext cx="1554480" cy="201168"/>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5 · Test</a:t>
            </a:r>
            <a:endParaRPr lang="en-US" sz="1000" dirty="0"/>
          </a:p>
        </p:txBody>
      </p:sp>
      <p:sp>
        <p:nvSpPr>
          <p:cNvPr id="84" name="Text 82"/>
          <p:cNvSpPr/>
          <p:nvPr/>
        </p:nvSpPr>
        <p:spPr>
          <a:xfrm>
            <a:off x="3703320" y="5687568"/>
            <a:ext cx="1143000"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QA lead</a:t>
            </a:r>
            <a:endParaRPr lang="en-US" sz="650" dirty="0"/>
          </a:p>
        </p:txBody>
      </p:sp>
      <p:sp>
        <p:nvSpPr>
          <p:cNvPr id="85" name="Shape 83"/>
          <p:cNvSpPr/>
          <p:nvPr/>
        </p:nvSpPr>
        <p:spPr>
          <a:xfrm>
            <a:off x="2112264" y="5952744"/>
            <a:ext cx="118872" cy="118872"/>
          </a:xfrm>
          <a:prstGeom prst="diamond">
            <a:avLst/>
          </a:prstGeom>
          <a:solidFill>
            <a:srgbClr val="3E4F48"/>
          </a:solidFill>
          <a:ln w="12700">
            <a:solidFill>
              <a:srgbClr val="3E4F48"/>
            </a:solidFill>
            <a:prstDash val="solid"/>
          </a:ln>
        </p:spPr>
      </p:sp>
      <p:sp>
        <p:nvSpPr>
          <p:cNvPr id="86" name="Text 84"/>
          <p:cNvSpPr/>
          <p:nvPr/>
        </p:nvSpPr>
        <p:spPr>
          <a:xfrm>
            <a:off x="2286000" y="5916168"/>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Decision: test exit → code enters CI</a:t>
            </a:r>
            <a:endParaRPr lang="en-US" sz="750" dirty="0"/>
          </a:p>
        </p:txBody>
      </p:sp>
      <p:sp>
        <p:nvSpPr>
          <p:cNvPr id="87" name="Shape 85"/>
          <p:cNvSpPr/>
          <p:nvPr/>
        </p:nvSpPr>
        <p:spPr>
          <a:xfrm>
            <a:off x="2121408" y="6135624"/>
            <a:ext cx="100584" cy="100584"/>
          </a:xfrm>
          <a:prstGeom prst="ellipse">
            <a:avLst/>
          </a:prstGeom>
          <a:solidFill>
            <a:srgbClr val="0E6B45"/>
          </a:solidFill>
          <a:ln w="12700">
            <a:solidFill>
              <a:srgbClr val="0E6B45"/>
            </a:solidFill>
            <a:prstDash val="solid"/>
          </a:ln>
        </p:spPr>
      </p:sp>
      <p:sp>
        <p:nvSpPr>
          <p:cNvPr id="88" name="Text 86"/>
          <p:cNvSpPr/>
          <p:nvPr/>
        </p:nvSpPr>
        <p:spPr>
          <a:xfrm>
            <a:off x="2286000" y="6089904"/>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deterministic run · workflow do-while → back to 4</a:t>
            </a:r>
            <a:endParaRPr lang="en-US" sz="750" dirty="0"/>
          </a:p>
        </p:txBody>
      </p:sp>
      <p:sp>
        <p:nvSpPr>
          <p:cNvPr id="89" name="Shape 87"/>
          <p:cNvSpPr/>
          <p:nvPr/>
        </p:nvSpPr>
        <p:spPr>
          <a:xfrm>
            <a:off x="2121408" y="6309360"/>
            <a:ext cx="100584" cy="100584"/>
          </a:xfrm>
          <a:prstGeom prst="ellipse">
            <a:avLst/>
          </a:prstGeom>
          <a:solidFill>
            <a:srgbClr val="B23A32"/>
          </a:solidFill>
          <a:ln w="12700">
            <a:solidFill>
              <a:srgbClr val="B23A32"/>
            </a:solidFill>
            <a:prstDash val="solid"/>
          </a:ln>
        </p:spPr>
      </p:sp>
      <p:sp>
        <p:nvSpPr>
          <p:cNvPr id="90" name="Text 88"/>
          <p:cNvSpPr/>
          <p:nvPr/>
        </p:nvSpPr>
        <p:spPr>
          <a:xfrm>
            <a:off x="2286000" y="6263640"/>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A5 evidence gate · NFR tests</a:t>
            </a:r>
            <a:endParaRPr lang="en-US" sz="750" dirty="0"/>
          </a:p>
        </p:txBody>
      </p:sp>
      <p:sp>
        <p:nvSpPr>
          <p:cNvPr id="91" name="Shape 89"/>
          <p:cNvSpPr/>
          <p:nvPr/>
        </p:nvSpPr>
        <p:spPr>
          <a:xfrm>
            <a:off x="987552" y="4206240"/>
            <a:ext cx="2926080" cy="841248"/>
          </a:xfrm>
          <a:prstGeom prst="roundRect">
            <a:avLst>
              <a:gd name="adj" fmla="val 6522"/>
            </a:avLst>
          </a:prstGeom>
          <a:solidFill>
            <a:srgbClr val="FFFFFF"/>
          </a:solidFill>
          <a:ln w="9525">
            <a:solidFill>
              <a:srgbClr val="E9ECEA"/>
            </a:solidFill>
            <a:prstDash val="solid"/>
          </a:ln>
        </p:spPr>
      </p:sp>
      <p:sp>
        <p:nvSpPr>
          <p:cNvPr id="92" name="Text 90"/>
          <p:cNvSpPr/>
          <p:nvPr/>
        </p:nvSpPr>
        <p:spPr>
          <a:xfrm>
            <a:off x="1078992" y="4261104"/>
            <a:ext cx="1554480" cy="201168"/>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6 · Deploy</a:t>
            </a:r>
            <a:endParaRPr lang="en-US" sz="1000" dirty="0"/>
          </a:p>
        </p:txBody>
      </p:sp>
      <p:sp>
        <p:nvSpPr>
          <p:cNvPr id="93" name="Text 91"/>
          <p:cNvSpPr/>
          <p:nvPr/>
        </p:nvSpPr>
        <p:spPr>
          <a:xfrm>
            <a:off x="2679192" y="4270248"/>
            <a:ext cx="1143000"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existing pipeline</a:t>
            </a:r>
            <a:endParaRPr lang="en-US" sz="650" dirty="0"/>
          </a:p>
        </p:txBody>
      </p:sp>
      <p:sp>
        <p:nvSpPr>
          <p:cNvPr id="94" name="Shape 92"/>
          <p:cNvSpPr/>
          <p:nvPr/>
        </p:nvSpPr>
        <p:spPr>
          <a:xfrm>
            <a:off x="1088136" y="4535424"/>
            <a:ext cx="118872" cy="118872"/>
          </a:xfrm>
          <a:prstGeom prst="diamond">
            <a:avLst/>
          </a:prstGeom>
          <a:solidFill>
            <a:srgbClr val="3E4F48"/>
          </a:solidFill>
          <a:ln w="12700">
            <a:solidFill>
              <a:srgbClr val="3E4F48"/>
            </a:solidFill>
            <a:prstDash val="solid"/>
          </a:ln>
        </p:spPr>
      </p:sp>
      <p:sp>
        <p:nvSpPr>
          <p:cNvPr id="95" name="Text 93"/>
          <p:cNvSpPr/>
          <p:nvPr/>
        </p:nvSpPr>
        <p:spPr>
          <a:xfrm>
            <a:off x="1261872" y="4498848"/>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Decision: release approval — as today</a:t>
            </a:r>
            <a:endParaRPr lang="en-US" sz="750" dirty="0"/>
          </a:p>
        </p:txBody>
      </p:sp>
      <p:sp>
        <p:nvSpPr>
          <p:cNvPr id="96" name="Shape 94"/>
          <p:cNvSpPr/>
          <p:nvPr/>
        </p:nvSpPr>
        <p:spPr>
          <a:xfrm>
            <a:off x="1097280" y="4718304"/>
            <a:ext cx="100584" cy="100584"/>
          </a:xfrm>
          <a:prstGeom prst="ellipse">
            <a:avLst/>
          </a:prstGeom>
          <a:solidFill>
            <a:srgbClr val="0E6B45"/>
          </a:solidFill>
          <a:ln w="12700">
            <a:solidFill>
              <a:srgbClr val="0E6B45"/>
            </a:solidFill>
            <a:prstDash val="solid"/>
          </a:ln>
        </p:spPr>
      </p:sp>
      <p:sp>
        <p:nvSpPr>
          <p:cNvPr id="97" name="Text 95"/>
          <p:cNvSpPr/>
          <p:nvPr/>
        </p:nvSpPr>
        <p:spPr>
          <a:xfrm>
            <a:off x="1261872" y="4672584"/>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existing CI/CD pipeline, unchanged</a:t>
            </a:r>
            <a:endParaRPr lang="en-US" sz="750" dirty="0"/>
          </a:p>
        </p:txBody>
      </p:sp>
      <p:sp>
        <p:nvSpPr>
          <p:cNvPr id="98" name="Shape 96"/>
          <p:cNvSpPr/>
          <p:nvPr/>
        </p:nvSpPr>
        <p:spPr>
          <a:xfrm>
            <a:off x="1097280" y="4892040"/>
            <a:ext cx="100584" cy="100584"/>
          </a:xfrm>
          <a:prstGeom prst="ellipse">
            <a:avLst/>
          </a:prstGeom>
          <a:solidFill>
            <a:srgbClr val="B23A32"/>
          </a:solidFill>
          <a:ln w="12700">
            <a:solidFill>
              <a:srgbClr val="B23A32"/>
            </a:solidFill>
            <a:prstDash val="solid"/>
          </a:ln>
        </p:spPr>
      </p:sp>
      <p:sp>
        <p:nvSpPr>
          <p:cNvPr id="99" name="Text 97"/>
          <p:cNvSpPr/>
          <p:nvPr/>
        </p:nvSpPr>
        <p:spPr>
          <a:xfrm>
            <a:off x="1261872" y="4846320"/>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A6: required PR checks (same scripts)</a:t>
            </a:r>
            <a:endParaRPr lang="en-US" sz="750" dirty="0"/>
          </a:p>
        </p:txBody>
      </p:sp>
      <p:sp>
        <p:nvSpPr>
          <p:cNvPr id="100" name="Shape 98"/>
          <p:cNvSpPr/>
          <p:nvPr/>
        </p:nvSpPr>
        <p:spPr>
          <a:xfrm>
            <a:off x="1463040" y="1737360"/>
            <a:ext cx="2926080" cy="841248"/>
          </a:xfrm>
          <a:prstGeom prst="roundRect">
            <a:avLst>
              <a:gd name="adj" fmla="val 6522"/>
            </a:avLst>
          </a:prstGeom>
          <a:solidFill>
            <a:srgbClr val="FFFFFF"/>
          </a:solidFill>
          <a:ln w="9525">
            <a:solidFill>
              <a:srgbClr val="E9ECEA"/>
            </a:solidFill>
            <a:prstDash val="solid"/>
          </a:ln>
        </p:spPr>
      </p:sp>
      <p:sp>
        <p:nvSpPr>
          <p:cNvPr id="101" name="Text 99"/>
          <p:cNvSpPr/>
          <p:nvPr/>
        </p:nvSpPr>
        <p:spPr>
          <a:xfrm>
            <a:off x="1554480" y="1792224"/>
            <a:ext cx="1554480" cy="201168"/>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7 · Operate &amp; assess</a:t>
            </a:r>
            <a:endParaRPr lang="en-US" sz="1000" dirty="0"/>
          </a:p>
        </p:txBody>
      </p:sp>
      <p:sp>
        <p:nvSpPr>
          <p:cNvPr id="102" name="Text 100"/>
          <p:cNvSpPr/>
          <p:nvPr/>
        </p:nvSpPr>
        <p:spPr>
          <a:xfrm>
            <a:off x="3154680" y="1801368"/>
            <a:ext cx="1143000"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ops (existing) + architect</a:t>
            </a:r>
            <a:endParaRPr lang="en-US" sz="650" dirty="0"/>
          </a:p>
        </p:txBody>
      </p:sp>
      <p:sp>
        <p:nvSpPr>
          <p:cNvPr id="103" name="Shape 101"/>
          <p:cNvSpPr/>
          <p:nvPr/>
        </p:nvSpPr>
        <p:spPr>
          <a:xfrm>
            <a:off x="1563624" y="2066544"/>
            <a:ext cx="118872" cy="118872"/>
          </a:xfrm>
          <a:prstGeom prst="diamond">
            <a:avLst/>
          </a:prstGeom>
          <a:solidFill>
            <a:srgbClr val="3E4F48"/>
          </a:solidFill>
          <a:ln w="12700">
            <a:solidFill>
              <a:srgbClr val="3E4F48"/>
            </a:solidFill>
            <a:prstDash val="solid"/>
          </a:ln>
        </p:spPr>
      </p:sp>
      <p:sp>
        <p:nvSpPr>
          <p:cNvPr id="104" name="Text 102"/>
          <p:cNvSpPr/>
          <p:nvPr/>
        </p:nvSpPr>
        <p:spPr>
          <a:xfrm>
            <a:off x="1737360" y="2029968"/>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Decision: findings accepted into 1 / 0</a:t>
            </a:r>
            <a:endParaRPr lang="en-US" sz="750" dirty="0"/>
          </a:p>
        </p:txBody>
      </p:sp>
      <p:sp>
        <p:nvSpPr>
          <p:cNvPr id="105" name="Shape 103"/>
          <p:cNvSpPr/>
          <p:nvPr/>
        </p:nvSpPr>
        <p:spPr>
          <a:xfrm>
            <a:off x="1572768" y="2249424"/>
            <a:ext cx="100584" cy="100584"/>
          </a:xfrm>
          <a:prstGeom prst="ellipse">
            <a:avLst/>
          </a:prstGeom>
          <a:solidFill>
            <a:srgbClr val="0E6B45"/>
          </a:solidFill>
          <a:ln w="12700">
            <a:solidFill>
              <a:srgbClr val="0E6B45"/>
            </a:solidFill>
            <a:prstDash val="solid"/>
          </a:ln>
        </p:spPr>
      </p:sp>
      <p:sp>
        <p:nvSpPr>
          <p:cNvPr id="106" name="Text 104"/>
          <p:cNvSpPr/>
          <p:nvPr/>
        </p:nvSpPr>
        <p:spPr>
          <a:xfrm>
            <a:off x="1737360" y="2203704"/>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A7 Architecture Assessor ✓ runs 7 → 1</a:t>
            </a:r>
            <a:endParaRPr lang="en-US" sz="750" dirty="0"/>
          </a:p>
        </p:txBody>
      </p:sp>
      <p:sp>
        <p:nvSpPr>
          <p:cNvPr id="107" name="Shape 105"/>
          <p:cNvSpPr/>
          <p:nvPr/>
        </p:nvSpPr>
        <p:spPr>
          <a:xfrm>
            <a:off x="1572768" y="2423160"/>
            <a:ext cx="100584" cy="100584"/>
          </a:xfrm>
          <a:prstGeom prst="ellipse">
            <a:avLst/>
          </a:prstGeom>
          <a:solidFill>
            <a:srgbClr val="B23A32"/>
          </a:solidFill>
          <a:ln w="12700">
            <a:solidFill>
              <a:srgbClr val="B23A32"/>
            </a:solidFill>
            <a:prstDash val="solid"/>
          </a:ln>
        </p:spPr>
      </p:sp>
      <p:sp>
        <p:nvSpPr>
          <p:cNvPr id="108" name="Text 106"/>
          <p:cNvSpPr/>
          <p:nvPr/>
        </p:nvSpPr>
        <p:spPr>
          <a:xfrm>
            <a:off x="1737360" y="2377440"/>
            <a:ext cx="2578608" cy="182880"/>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proposer · waiver ledger · re-entry workflow</a:t>
            </a:r>
            <a:endParaRPr lang="en-US" sz="750" dirty="0"/>
          </a:p>
        </p:txBody>
      </p:sp>
      <p:sp>
        <p:nvSpPr>
          <p:cNvPr id="109" name="Shape 107"/>
          <p:cNvSpPr/>
          <p:nvPr/>
        </p:nvSpPr>
        <p:spPr>
          <a:xfrm>
            <a:off x="320040" y="5138928"/>
            <a:ext cx="1691640" cy="1335024"/>
          </a:xfrm>
          <a:prstGeom prst="roundRect">
            <a:avLst>
              <a:gd name="adj" fmla="val 4110"/>
            </a:avLst>
          </a:prstGeom>
          <a:solidFill>
            <a:srgbClr val="EAF5EE"/>
          </a:solidFill>
          <a:ln w="12700">
            <a:solidFill>
              <a:srgbClr val="EAF5EE"/>
            </a:solidFill>
            <a:prstDash val="solid"/>
          </a:ln>
        </p:spPr>
      </p:sp>
      <p:sp>
        <p:nvSpPr>
          <p:cNvPr id="110" name="Text 108"/>
          <p:cNvSpPr/>
          <p:nvPr/>
        </p:nvSpPr>
        <p:spPr>
          <a:xfrm>
            <a:off x="429768" y="5193792"/>
            <a:ext cx="1645920" cy="182880"/>
          </a:xfrm>
          <a:prstGeom prst="rect">
            <a:avLst/>
          </a:prstGeom>
          <a:noFill/>
          <a:ln/>
        </p:spPr>
        <p:txBody>
          <a:bodyPr wrap="square" lIns="0" tIns="0" rIns="0" bIns="0" rtlCol="0" anchor="t"/>
          <a:lstStyle/>
          <a:p>
            <a:pPr indent="0" marL="0">
              <a:buNone/>
            </a:pPr>
            <a:r>
              <a:rPr lang="en-US" sz="850" b="1" dirty="0">
                <a:solidFill>
                  <a:srgbClr val="0B3F2C"/>
                </a:solidFill>
                <a:latin typeface="Arial" pitchFamily="34" charset="0"/>
                <a:ea typeface="Arial" pitchFamily="34" charset="-122"/>
                <a:cs typeface="Arial" pitchFamily="34" charset="-120"/>
              </a:rPr>
              <a:t>How to read</a:t>
            </a:r>
            <a:endParaRPr lang="en-US" sz="850" dirty="0"/>
          </a:p>
        </p:txBody>
      </p:sp>
      <p:sp>
        <p:nvSpPr>
          <p:cNvPr id="111" name="Shape 109"/>
          <p:cNvSpPr/>
          <p:nvPr/>
        </p:nvSpPr>
        <p:spPr>
          <a:xfrm>
            <a:off x="438912" y="5422392"/>
            <a:ext cx="118872" cy="118872"/>
          </a:xfrm>
          <a:prstGeom prst="diamond">
            <a:avLst/>
          </a:prstGeom>
          <a:solidFill>
            <a:srgbClr val="3E4F48"/>
          </a:solidFill>
          <a:ln w="12700">
            <a:solidFill>
              <a:srgbClr val="3E4F48"/>
            </a:solidFill>
            <a:prstDash val="solid"/>
          </a:ln>
        </p:spPr>
      </p:sp>
      <p:sp>
        <p:nvSpPr>
          <p:cNvPr id="112" name="Text 110"/>
          <p:cNvSpPr/>
          <p:nvPr/>
        </p:nvSpPr>
        <p:spPr>
          <a:xfrm>
            <a:off x="612648" y="5385816"/>
            <a:ext cx="1371600" cy="182880"/>
          </a:xfrm>
          <a:prstGeom prst="rect">
            <a:avLst/>
          </a:prstGeom>
          <a:noFill/>
          <a:ln/>
        </p:spPr>
        <p:txBody>
          <a:bodyPr wrap="square" lIns="0" tIns="0" rIns="0" bIns="0" rtlCol="0" anchor="ctr"/>
          <a:lstStyle/>
          <a:p>
            <a:pPr indent="0" marL="0">
              <a:buNone/>
            </a:pPr>
            <a:r>
              <a:rPr lang="en-US" sz="700" dirty="0">
                <a:solidFill>
                  <a:srgbClr val="1B2A24"/>
                </a:solidFill>
                <a:latin typeface="Arial" pitchFamily="34" charset="0"/>
                <a:ea typeface="Arial" pitchFamily="34" charset="-122"/>
                <a:cs typeface="Arial" pitchFamily="34" charset="-120"/>
              </a:rPr>
              <a:t>human decision at a boundary</a:t>
            </a:r>
            <a:endParaRPr lang="en-US" sz="700" dirty="0"/>
          </a:p>
        </p:txBody>
      </p:sp>
      <p:sp>
        <p:nvSpPr>
          <p:cNvPr id="113" name="Shape 111"/>
          <p:cNvSpPr/>
          <p:nvPr/>
        </p:nvSpPr>
        <p:spPr>
          <a:xfrm>
            <a:off x="438912" y="5605272"/>
            <a:ext cx="118872" cy="118872"/>
          </a:xfrm>
          <a:prstGeom prst="diamond">
            <a:avLst/>
          </a:prstGeom>
          <a:solidFill>
            <a:srgbClr val="0B3F2C"/>
          </a:solidFill>
          <a:ln w="12700">
            <a:solidFill>
              <a:srgbClr val="0B3F2C"/>
            </a:solidFill>
            <a:prstDash val="solid"/>
          </a:ln>
        </p:spPr>
      </p:sp>
      <p:sp>
        <p:nvSpPr>
          <p:cNvPr id="114" name="Text 112"/>
          <p:cNvSpPr/>
          <p:nvPr/>
        </p:nvSpPr>
        <p:spPr>
          <a:xfrm>
            <a:off x="612648" y="5568696"/>
            <a:ext cx="1371600" cy="182880"/>
          </a:xfrm>
          <a:prstGeom prst="rect">
            <a:avLst/>
          </a:prstGeom>
          <a:noFill/>
          <a:ln/>
        </p:spPr>
        <p:txBody>
          <a:bodyPr wrap="square" lIns="0" tIns="0" rIns="0" bIns="0" rtlCol="0" anchor="ctr"/>
          <a:lstStyle/>
          <a:p>
            <a:pPr indent="0" marL="0">
              <a:buNone/>
            </a:pPr>
            <a:r>
              <a:rPr lang="en-US" sz="700" dirty="0">
                <a:solidFill>
                  <a:srgbClr val="1B2A24"/>
                </a:solidFill>
                <a:latin typeface="Arial" pitchFamily="34" charset="0"/>
                <a:ea typeface="Arial" pitchFamily="34" charset="-122"/>
                <a:cs typeface="Arial" pitchFamily="34" charset="-120"/>
              </a:rPr>
              <a:t>master gate (next iteration)</a:t>
            </a:r>
            <a:endParaRPr lang="en-US" sz="700" dirty="0"/>
          </a:p>
        </p:txBody>
      </p:sp>
      <p:sp>
        <p:nvSpPr>
          <p:cNvPr id="115" name="Text 113"/>
          <p:cNvSpPr/>
          <p:nvPr/>
        </p:nvSpPr>
        <p:spPr>
          <a:xfrm>
            <a:off x="429768" y="5779008"/>
            <a:ext cx="137160" cy="137160"/>
          </a:xfrm>
          <a:prstGeom prst="ellipse">
            <a:avLst/>
          </a:prstGeom>
          <a:solidFill>
            <a:srgbClr val="1E9A5B"/>
          </a:solidFill>
          <a:ln w="6350">
            <a:solidFill>
              <a:srgbClr val="FFFFFF"/>
            </a:solid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a:t>
            </a:r>
            <a:endParaRPr lang="en-US" sz="550" dirty="0"/>
          </a:p>
        </p:txBody>
      </p:sp>
      <p:sp>
        <p:nvSpPr>
          <p:cNvPr id="116" name="Text 114"/>
          <p:cNvSpPr/>
          <p:nvPr/>
        </p:nvSpPr>
        <p:spPr>
          <a:xfrm>
            <a:off x="585216" y="5779008"/>
            <a:ext cx="137160" cy="137160"/>
          </a:xfrm>
          <a:prstGeom prst="ellipse">
            <a:avLst/>
          </a:prstGeom>
          <a:solidFill>
            <a:srgbClr val="D28E14"/>
          </a:solidFill>
          <a:ln w="6350">
            <a:solidFill>
              <a:srgbClr val="FFFFFF"/>
            </a:solid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a:t>
            </a:r>
            <a:endParaRPr lang="en-US" sz="550" dirty="0"/>
          </a:p>
        </p:txBody>
      </p:sp>
      <p:sp>
        <p:nvSpPr>
          <p:cNvPr id="117" name="Text 115"/>
          <p:cNvSpPr/>
          <p:nvPr/>
        </p:nvSpPr>
        <p:spPr>
          <a:xfrm>
            <a:off x="740664" y="5779008"/>
            <a:ext cx="137160" cy="137160"/>
          </a:xfrm>
          <a:prstGeom prst="ellipse">
            <a:avLst/>
          </a:prstGeom>
          <a:solidFill>
            <a:srgbClr val="B23A32"/>
          </a:solidFill>
          <a:ln w="6350">
            <a:solidFill>
              <a:srgbClr val="FFFFFF"/>
            </a:solidFill>
          </a:ln>
        </p:spPr>
        <p:txBody>
          <a:bodyPr wrap="square" lIns="0" tIns="0" rIns="0" bIns="0" rtlCol="0" anchor="ctr"/>
          <a:lstStyle/>
          <a:p>
            <a:pPr algn="ctr" indent="0" marL="0">
              <a:buNone/>
            </a:pPr>
            <a:r>
              <a:rPr lang="en-US" sz="550" b="1" dirty="0">
                <a:solidFill>
                  <a:srgbClr val="FFFFFF"/>
                </a:solidFill>
                <a:latin typeface="Arial" pitchFamily="34" charset="0"/>
                <a:ea typeface="Arial" pitchFamily="34" charset="-122"/>
                <a:cs typeface="Arial" pitchFamily="34" charset="-120"/>
              </a:rPr>
              <a:t>A</a:t>
            </a:r>
            <a:endParaRPr lang="en-US" sz="550" dirty="0"/>
          </a:p>
        </p:txBody>
      </p:sp>
      <p:sp>
        <p:nvSpPr>
          <p:cNvPr id="118" name="Text 116"/>
          <p:cNvSpPr/>
          <p:nvPr/>
        </p:nvSpPr>
        <p:spPr>
          <a:xfrm>
            <a:off x="914400" y="5751576"/>
            <a:ext cx="1115568" cy="182880"/>
          </a:xfrm>
          <a:prstGeom prst="rect">
            <a:avLst/>
          </a:prstGeom>
          <a:noFill/>
          <a:ln/>
        </p:spPr>
        <p:txBody>
          <a:bodyPr wrap="square" lIns="0" tIns="0" rIns="0" bIns="0" rtlCol="0" anchor="ctr"/>
          <a:lstStyle/>
          <a:p>
            <a:pPr indent="0" marL="0">
              <a:buNone/>
            </a:pPr>
            <a:r>
              <a:rPr lang="en-US" sz="580" dirty="0">
                <a:solidFill>
                  <a:srgbClr val="1B2A24"/>
                </a:solidFill>
                <a:latin typeface="Arial" pitchFamily="34" charset="0"/>
                <a:ea typeface="Arial" pitchFamily="34" charset="-122"/>
                <a:cs typeface="Arial" pitchFamily="34" charset="-120"/>
              </a:rPr>
              <a:t>A-gate status: available · in progress · to build</a:t>
            </a:r>
            <a:endParaRPr lang="en-US" sz="580" dirty="0"/>
          </a:p>
        </p:txBody>
      </p:sp>
      <p:sp>
        <p:nvSpPr>
          <p:cNvPr id="119" name="Shape 117"/>
          <p:cNvSpPr/>
          <p:nvPr/>
        </p:nvSpPr>
        <p:spPr>
          <a:xfrm>
            <a:off x="448056" y="5980176"/>
            <a:ext cx="100584" cy="100584"/>
          </a:xfrm>
          <a:prstGeom prst="ellipse">
            <a:avLst/>
          </a:prstGeom>
          <a:solidFill>
            <a:srgbClr val="0E6B45"/>
          </a:solidFill>
          <a:ln w="12700">
            <a:solidFill>
              <a:srgbClr val="0E6B45"/>
            </a:solidFill>
            <a:prstDash val="solid"/>
          </a:ln>
        </p:spPr>
      </p:sp>
      <p:sp>
        <p:nvSpPr>
          <p:cNvPr id="120" name="Text 118"/>
          <p:cNvSpPr/>
          <p:nvPr/>
        </p:nvSpPr>
        <p:spPr>
          <a:xfrm>
            <a:off x="612648" y="5934456"/>
            <a:ext cx="1371600" cy="182880"/>
          </a:xfrm>
          <a:prstGeom prst="rect">
            <a:avLst/>
          </a:prstGeom>
          <a:noFill/>
          <a:ln/>
        </p:spPr>
        <p:txBody>
          <a:bodyPr wrap="square" lIns="0" tIns="0" rIns="0" bIns="0" rtlCol="0" anchor="ctr"/>
          <a:lstStyle/>
          <a:p>
            <a:pPr indent="0" marL="0">
              <a:buNone/>
            </a:pPr>
            <a:r>
              <a:rPr lang="en-US" sz="700" dirty="0">
                <a:solidFill>
                  <a:srgbClr val="1B2A24"/>
                </a:solidFill>
                <a:latin typeface="Arial" pitchFamily="34" charset="0"/>
                <a:ea typeface="Arial" pitchFamily="34" charset="-122"/>
                <a:cs typeface="Arial" pitchFamily="34" charset="-120"/>
              </a:rPr>
              <a:t>tools available today</a:t>
            </a:r>
            <a:endParaRPr lang="en-US" sz="700" dirty="0"/>
          </a:p>
        </p:txBody>
      </p:sp>
      <p:sp>
        <p:nvSpPr>
          <p:cNvPr id="121" name="Shape 119"/>
          <p:cNvSpPr/>
          <p:nvPr/>
        </p:nvSpPr>
        <p:spPr>
          <a:xfrm>
            <a:off x="448056" y="6163056"/>
            <a:ext cx="100584" cy="100584"/>
          </a:xfrm>
          <a:prstGeom prst="ellipse">
            <a:avLst/>
          </a:prstGeom>
          <a:solidFill>
            <a:srgbClr val="B23A32"/>
          </a:solidFill>
          <a:ln w="12700">
            <a:solidFill>
              <a:srgbClr val="B23A32"/>
            </a:solidFill>
            <a:prstDash val="solid"/>
          </a:ln>
        </p:spPr>
      </p:sp>
      <p:sp>
        <p:nvSpPr>
          <p:cNvPr id="122" name="Text 120"/>
          <p:cNvSpPr/>
          <p:nvPr/>
        </p:nvSpPr>
        <p:spPr>
          <a:xfrm>
            <a:off x="612648" y="6117336"/>
            <a:ext cx="1371600" cy="182880"/>
          </a:xfrm>
          <a:prstGeom prst="rect">
            <a:avLst/>
          </a:prstGeom>
          <a:noFill/>
          <a:ln/>
        </p:spPr>
        <p:txBody>
          <a:bodyPr wrap="square" lIns="0" tIns="0" rIns="0" bIns="0" rtlCol="0" anchor="ctr"/>
          <a:lstStyle/>
          <a:p>
            <a:pPr indent="0" marL="0">
              <a:buNone/>
            </a:pPr>
            <a:r>
              <a:rPr lang="en-US" sz="700" dirty="0">
                <a:solidFill>
                  <a:srgbClr val="1B2A24"/>
                </a:solidFill>
                <a:latin typeface="Arial" pitchFamily="34" charset="0"/>
                <a:ea typeface="Arial" pitchFamily="34" charset="-122"/>
                <a:cs typeface="Arial" pitchFamily="34" charset="-120"/>
              </a:rPr>
              <a:t>missing → to build</a:t>
            </a:r>
            <a:endParaRPr lang="en-US" sz="700" dirty="0"/>
          </a:p>
        </p:txBody>
      </p:sp>
      <p:sp>
        <p:nvSpPr>
          <p:cNvPr id="123" name="Text 121"/>
          <p:cNvSpPr/>
          <p:nvPr/>
        </p:nvSpPr>
        <p:spPr>
          <a:xfrm>
            <a:off x="429768" y="6309360"/>
            <a:ext cx="1536192" cy="146304"/>
          </a:xfrm>
          <a:prstGeom prst="rect">
            <a:avLst/>
          </a:prstGeom>
          <a:noFill/>
          <a:ln/>
        </p:spPr>
        <p:txBody>
          <a:bodyPr wrap="square" lIns="0" tIns="0" rIns="0" bIns="0" rtlCol="0" anchor="t"/>
          <a:lstStyle/>
          <a:p>
            <a:pPr indent="0" marL="0">
              <a:buNone/>
            </a:pPr>
            <a:r>
              <a:rPr lang="en-US" sz="600" dirty="0">
                <a:solidFill>
                  <a:srgbClr val="5F6B66"/>
                </a:solidFill>
                <a:latin typeface="Arial" pitchFamily="34" charset="0"/>
                <a:ea typeface="Arial" pitchFamily="34" charset="-122"/>
                <a:cs typeface="Arial" pitchFamily="34" charset="-120"/>
              </a:rPr>
              <a:t>Shade = Spec Kit coverage (dark → light); grey = existing, out of scope.</a:t>
            </a:r>
            <a:endParaRPr lang="en-US" sz="600" dirty="0"/>
          </a:p>
        </p:txBody>
      </p:sp>
      <p:sp>
        <p:nvSpPr>
          <p:cNvPr id="124" name="Shape 122"/>
          <p:cNvSpPr/>
          <p:nvPr/>
        </p:nvSpPr>
        <p:spPr>
          <a:xfrm>
            <a:off x="10012680" y="5102352"/>
            <a:ext cx="1828800" cy="1371600"/>
          </a:xfrm>
          <a:prstGeom prst="roundRect">
            <a:avLst>
              <a:gd name="adj" fmla="val 4000"/>
            </a:avLst>
          </a:prstGeom>
          <a:solidFill>
            <a:srgbClr val="EAF5EE"/>
          </a:solidFill>
          <a:ln w="12700">
            <a:solidFill>
              <a:srgbClr val="EAF5EE"/>
            </a:solidFill>
            <a:prstDash val="solid"/>
          </a:ln>
        </p:spPr>
      </p:sp>
      <p:sp>
        <p:nvSpPr>
          <p:cNvPr id="125" name="Text 123"/>
          <p:cNvSpPr/>
          <p:nvPr/>
        </p:nvSpPr>
        <p:spPr>
          <a:xfrm>
            <a:off x="10104120" y="5138928"/>
            <a:ext cx="1691640" cy="182880"/>
          </a:xfrm>
          <a:prstGeom prst="rect">
            <a:avLst/>
          </a:prstGeom>
          <a:noFill/>
          <a:ln/>
        </p:spPr>
        <p:txBody>
          <a:bodyPr wrap="square" lIns="0" tIns="0" rIns="0" bIns="0" rtlCol="0" anchor="t"/>
          <a:lstStyle/>
          <a:p>
            <a:pPr indent="0" marL="0">
              <a:buNone/>
            </a:pPr>
            <a:r>
              <a:rPr lang="en-US" sz="850" b="1" dirty="0">
                <a:solidFill>
                  <a:srgbClr val="0B3F2C"/>
                </a:solidFill>
                <a:latin typeface="Arial" pitchFamily="34" charset="0"/>
                <a:ea typeface="Arial" pitchFamily="34" charset="-122"/>
                <a:cs typeface="Arial" pitchFamily="34" charset="-120"/>
              </a:rPr>
              <a:t>A-gates along the loop</a:t>
            </a:r>
            <a:endParaRPr lang="en-US" sz="850" dirty="0"/>
          </a:p>
        </p:txBody>
      </p:sp>
      <p:sp>
        <p:nvSpPr>
          <p:cNvPr id="126" name="Text 124"/>
          <p:cNvSpPr/>
          <p:nvPr/>
        </p:nvSpPr>
        <p:spPr>
          <a:xfrm>
            <a:off x="10104120" y="5340096"/>
            <a:ext cx="146304" cy="146304"/>
          </a:xfrm>
          <a:prstGeom prst="ellipse">
            <a:avLst/>
          </a:prstGeom>
          <a:solidFill>
            <a:srgbClr val="B23A32"/>
          </a:solidFill>
          <a:ln w="6350">
            <a:solidFill>
              <a:srgbClr val="FFFFFF"/>
            </a:solid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A0</a:t>
            </a:r>
            <a:endParaRPr lang="en-US" sz="500" dirty="0"/>
          </a:p>
        </p:txBody>
      </p:sp>
      <p:sp>
        <p:nvSpPr>
          <p:cNvPr id="127" name="Text 125"/>
          <p:cNvSpPr/>
          <p:nvPr/>
        </p:nvSpPr>
        <p:spPr>
          <a:xfrm>
            <a:off x="10296144" y="5321808"/>
            <a:ext cx="1536192" cy="182880"/>
          </a:xfrm>
          <a:prstGeom prst="rect">
            <a:avLst/>
          </a:prstGeom>
          <a:noFill/>
          <a:ln/>
        </p:spPr>
        <p:txBody>
          <a:bodyPr wrap="square" lIns="0" tIns="0" rIns="0" bIns="0" rtlCol="0" anchor="ctr"/>
          <a:lstStyle/>
          <a:p>
            <a:pPr indent="0" marL="0">
              <a:buNone/>
            </a:pPr>
            <a:r>
              <a:rPr lang="en-US" sz="620" dirty="0">
                <a:solidFill>
                  <a:srgbClr val="1B2A24"/>
                </a:solidFill>
                <a:latin typeface="Arial" pitchFamily="34" charset="0"/>
                <a:ea typeface="Arial" pitchFamily="34" charset="-122"/>
                <a:cs typeface="Arial" pitchFamily="34" charset="-120"/>
              </a:rPr>
              <a:t>domain map guard — to build</a:t>
            </a:r>
            <a:endParaRPr lang="en-US" sz="620" dirty="0"/>
          </a:p>
        </p:txBody>
      </p:sp>
      <p:sp>
        <p:nvSpPr>
          <p:cNvPr id="128" name="Text 126"/>
          <p:cNvSpPr/>
          <p:nvPr/>
        </p:nvSpPr>
        <p:spPr>
          <a:xfrm>
            <a:off x="10104120" y="5479085"/>
            <a:ext cx="146304" cy="146304"/>
          </a:xfrm>
          <a:prstGeom prst="ellipse">
            <a:avLst/>
          </a:prstGeom>
          <a:solidFill>
            <a:srgbClr val="B23A32"/>
          </a:solidFill>
          <a:ln w="6350">
            <a:solidFill>
              <a:srgbClr val="FFFFFF"/>
            </a:solid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A1</a:t>
            </a:r>
            <a:endParaRPr lang="en-US" sz="500" dirty="0"/>
          </a:p>
        </p:txBody>
      </p:sp>
      <p:sp>
        <p:nvSpPr>
          <p:cNvPr id="129" name="Text 127"/>
          <p:cNvSpPr/>
          <p:nvPr/>
        </p:nvSpPr>
        <p:spPr>
          <a:xfrm>
            <a:off x="10296144" y="5460797"/>
            <a:ext cx="1536192" cy="182880"/>
          </a:xfrm>
          <a:prstGeom prst="rect">
            <a:avLst/>
          </a:prstGeom>
          <a:noFill/>
          <a:ln/>
        </p:spPr>
        <p:txBody>
          <a:bodyPr wrap="square" lIns="0" tIns="0" rIns="0" bIns="0" rtlCol="0" anchor="ctr"/>
          <a:lstStyle/>
          <a:p>
            <a:pPr indent="0" marL="0">
              <a:buNone/>
            </a:pPr>
            <a:r>
              <a:rPr lang="en-US" sz="620" dirty="0">
                <a:solidFill>
                  <a:srgbClr val="1B2A24"/>
                </a:solidFill>
                <a:latin typeface="Arial" pitchFamily="34" charset="0"/>
                <a:ea typeface="Arial" pitchFamily="34" charset="-122"/>
                <a:cs typeface="Arial" pitchFamily="34" charset="-120"/>
              </a:rPr>
              <a:t>architecture intake — to build</a:t>
            </a:r>
            <a:endParaRPr lang="en-US" sz="620" dirty="0"/>
          </a:p>
        </p:txBody>
      </p:sp>
      <p:sp>
        <p:nvSpPr>
          <p:cNvPr id="130" name="Text 128"/>
          <p:cNvSpPr/>
          <p:nvPr/>
        </p:nvSpPr>
        <p:spPr>
          <a:xfrm>
            <a:off x="10104120" y="5618074"/>
            <a:ext cx="146304" cy="146304"/>
          </a:xfrm>
          <a:prstGeom prst="ellipse">
            <a:avLst/>
          </a:prstGeom>
          <a:solidFill>
            <a:srgbClr val="B23A32"/>
          </a:solidFill>
          <a:ln w="6350">
            <a:solidFill>
              <a:srgbClr val="FFFFFF"/>
            </a:solid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A2</a:t>
            </a:r>
            <a:endParaRPr lang="en-US" sz="500" dirty="0"/>
          </a:p>
        </p:txBody>
      </p:sp>
      <p:sp>
        <p:nvSpPr>
          <p:cNvPr id="131" name="Text 129"/>
          <p:cNvSpPr/>
          <p:nvPr/>
        </p:nvSpPr>
        <p:spPr>
          <a:xfrm>
            <a:off x="10296144" y="5599786"/>
            <a:ext cx="1536192" cy="182880"/>
          </a:xfrm>
          <a:prstGeom prst="rect">
            <a:avLst/>
          </a:prstGeom>
          <a:noFill/>
          <a:ln/>
        </p:spPr>
        <p:txBody>
          <a:bodyPr wrap="square" lIns="0" tIns="0" rIns="0" bIns="0" rtlCol="0" anchor="ctr"/>
          <a:lstStyle/>
          <a:p>
            <a:pPr indent="0" marL="0">
              <a:buNone/>
            </a:pPr>
            <a:r>
              <a:rPr lang="en-US" sz="620" dirty="0">
                <a:solidFill>
                  <a:srgbClr val="1B2A24"/>
                </a:solidFill>
                <a:latin typeface="Arial" pitchFamily="34" charset="0"/>
                <a:ea typeface="Arial" pitchFamily="34" charset="-122"/>
                <a:cs typeface="Arial" pitchFamily="34" charset="-120"/>
              </a:rPr>
              <a:t>architecture in the charter — to build</a:t>
            </a:r>
            <a:endParaRPr lang="en-US" sz="620" dirty="0"/>
          </a:p>
        </p:txBody>
      </p:sp>
      <p:sp>
        <p:nvSpPr>
          <p:cNvPr id="132" name="Text 130"/>
          <p:cNvSpPr/>
          <p:nvPr/>
        </p:nvSpPr>
        <p:spPr>
          <a:xfrm>
            <a:off x="10104120" y="5757062"/>
            <a:ext cx="146304" cy="146304"/>
          </a:xfrm>
          <a:prstGeom prst="ellipse">
            <a:avLst/>
          </a:prstGeom>
          <a:solidFill>
            <a:srgbClr val="D28E14"/>
          </a:solidFill>
          <a:ln w="6350">
            <a:solidFill>
              <a:srgbClr val="FFFFFF"/>
            </a:solid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A3</a:t>
            </a:r>
            <a:endParaRPr lang="en-US" sz="500" dirty="0"/>
          </a:p>
        </p:txBody>
      </p:sp>
      <p:sp>
        <p:nvSpPr>
          <p:cNvPr id="133" name="Text 131"/>
          <p:cNvSpPr/>
          <p:nvPr/>
        </p:nvSpPr>
        <p:spPr>
          <a:xfrm>
            <a:off x="10296144" y="5738774"/>
            <a:ext cx="1536192" cy="182880"/>
          </a:xfrm>
          <a:prstGeom prst="rect">
            <a:avLst/>
          </a:prstGeom>
          <a:noFill/>
          <a:ln/>
        </p:spPr>
        <p:txBody>
          <a:bodyPr wrap="square" lIns="0" tIns="0" rIns="0" bIns="0" rtlCol="0" anchor="ctr"/>
          <a:lstStyle/>
          <a:p>
            <a:pPr indent="0" marL="0">
              <a:buNone/>
            </a:pPr>
            <a:r>
              <a:rPr lang="en-US" sz="620" dirty="0">
                <a:solidFill>
                  <a:srgbClr val="1B2A24"/>
                </a:solidFill>
                <a:latin typeface="Arial" pitchFamily="34" charset="0"/>
                <a:ea typeface="Arial" pitchFamily="34" charset="-122"/>
                <a:cs typeface="Arial" pitchFamily="34" charset="-120"/>
              </a:rPr>
              <a:t>plan conformance — in progress</a:t>
            </a:r>
            <a:endParaRPr lang="en-US" sz="620" dirty="0"/>
          </a:p>
        </p:txBody>
      </p:sp>
      <p:sp>
        <p:nvSpPr>
          <p:cNvPr id="134" name="Text 132"/>
          <p:cNvSpPr/>
          <p:nvPr/>
        </p:nvSpPr>
        <p:spPr>
          <a:xfrm>
            <a:off x="10104120" y="5896051"/>
            <a:ext cx="146304" cy="146304"/>
          </a:xfrm>
          <a:prstGeom prst="ellipse">
            <a:avLst/>
          </a:prstGeom>
          <a:solidFill>
            <a:srgbClr val="D28E14"/>
          </a:solidFill>
          <a:ln w="6350">
            <a:solidFill>
              <a:srgbClr val="FFFFFF"/>
            </a:solid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A4</a:t>
            </a:r>
            <a:endParaRPr lang="en-US" sz="500" dirty="0"/>
          </a:p>
        </p:txBody>
      </p:sp>
      <p:sp>
        <p:nvSpPr>
          <p:cNvPr id="135" name="Text 133"/>
          <p:cNvSpPr/>
          <p:nvPr/>
        </p:nvSpPr>
        <p:spPr>
          <a:xfrm>
            <a:off x="10296144" y="5877763"/>
            <a:ext cx="1536192" cy="182880"/>
          </a:xfrm>
          <a:prstGeom prst="rect">
            <a:avLst/>
          </a:prstGeom>
          <a:noFill/>
          <a:ln/>
        </p:spPr>
        <p:txBody>
          <a:bodyPr wrap="square" lIns="0" tIns="0" rIns="0" bIns="0" rtlCol="0" anchor="ctr"/>
          <a:lstStyle/>
          <a:p>
            <a:pPr indent="0" marL="0">
              <a:buNone/>
            </a:pPr>
            <a:r>
              <a:rPr lang="en-US" sz="620" dirty="0">
                <a:solidFill>
                  <a:srgbClr val="1B2A24"/>
                </a:solidFill>
                <a:latin typeface="Arial" pitchFamily="34" charset="0"/>
                <a:ea typeface="Arial" pitchFamily="34" charset="-122"/>
                <a:cs typeface="Arial" pitchFamily="34" charset="-120"/>
              </a:rPr>
              <a:t>fitness functions — in progress</a:t>
            </a:r>
            <a:endParaRPr lang="en-US" sz="620" dirty="0"/>
          </a:p>
        </p:txBody>
      </p:sp>
      <p:sp>
        <p:nvSpPr>
          <p:cNvPr id="136" name="Text 134"/>
          <p:cNvSpPr/>
          <p:nvPr/>
        </p:nvSpPr>
        <p:spPr>
          <a:xfrm>
            <a:off x="10104120" y="6035040"/>
            <a:ext cx="146304" cy="146304"/>
          </a:xfrm>
          <a:prstGeom prst="ellipse">
            <a:avLst/>
          </a:prstGeom>
          <a:solidFill>
            <a:srgbClr val="B23A32"/>
          </a:solidFill>
          <a:ln w="6350">
            <a:solidFill>
              <a:srgbClr val="FFFFFF"/>
            </a:solid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A5</a:t>
            </a:r>
            <a:endParaRPr lang="en-US" sz="500" dirty="0"/>
          </a:p>
        </p:txBody>
      </p:sp>
      <p:sp>
        <p:nvSpPr>
          <p:cNvPr id="137" name="Text 135"/>
          <p:cNvSpPr/>
          <p:nvPr/>
        </p:nvSpPr>
        <p:spPr>
          <a:xfrm>
            <a:off x="10296144" y="6016752"/>
            <a:ext cx="1536192" cy="182880"/>
          </a:xfrm>
          <a:prstGeom prst="rect">
            <a:avLst/>
          </a:prstGeom>
          <a:noFill/>
          <a:ln/>
        </p:spPr>
        <p:txBody>
          <a:bodyPr wrap="square" lIns="0" tIns="0" rIns="0" bIns="0" rtlCol="0" anchor="ctr"/>
          <a:lstStyle/>
          <a:p>
            <a:pPr indent="0" marL="0">
              <a:buNone/>
            </a:pPr>
            <a:r>
              <a:rPr lang="en-US" sz="620" dirty="0">
                <a:solidFill>
                  <a:srgbClr val="1B2A24"/>
                </a:solidFill>
                <a:latin typeface="Arial" pitchFamily="34" charset="0"/>
                <a:ea typeface="Arial" pitchFamily="34" charset="-122"/>
                <a:cs typeface="Arial" pitchFamily="34" charset="-120"/>
              </a:rPr>
              <a:t>evidence at test exit — to build</a:t>
            </a:r>
            <a:endParaRPr lang="en-US" sz="620" dirty="0"/>
          </a:p>
        </p:txBody>
      </p:sp>
      <p:sp>
        <p:nvSpPr>
          <p:cNvPr id="138" name="Text 136"/>
          <p:cNvSpPr/>
          <p:nvPr/>
        </p:nvSpPr>
        <p:spPr>
          <a:xfrm>
            <a:off x="10104120" y="6174029"/>
            <a:ext cx="146304" cy="146304"/>
          </a:xfrm>
          <a:prstGeom prst="ellipse">
            <a:avLst/>
          </a:prstGeom>
          <a:solidFill>
            <a:srgbClr val="B23A32"/>
          </a:solidFill>
          <a:ln w="6350">
            <a:solidFill>
              <a:srgbClr val="FFFFFF"/>
            </a:solid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A6</a:t>
            </a:r>
            <a:endParaRPr lang="en-US" sz="500" dirty="0"/>
          </a:p>
        </p:txBody>
      </p:sp>
      <p:sp>
        <p:nvSpPr>
          <p:cNvPr id="139" name="Text 137"/>
          <p:cNvSpPr/>
          <p:nvPr/>
        </p:nvSpPr>
        <p:spPr>
          <a:xfrm>
            <a:off x="10296144" y="6155741"/>
            <a:ext cx="1536192" cy="182880"/>
          </a:xfrm>
          <a:prstGeom prst="rect">
            <a:avLst/>
          </a:prstGeom>
          <a:noFill/>
          <a:ln/>
        </p:spPr>
        <p:txBody>
          <a:bodyPr wrap="square" lIns="0" tIns="0" rIns="0" bIns="0" rtlCol="0" anchor="ctr"/>
          <a:lstStyle/>
          <a:p>
            <a:pPr indent="0" marL="0">
              <a:buNone/>
            </a:pPr>
            <a:r>
              <a:rPr lang="en-US" sz="620" dirty="0">
                <a:solidFill>
                  <a:srgbClr val="1B2A24"/>
                </a:solidFill>
                <a:latin typeface="Arial" pitchFamily="34" charset="0"/>
                <a:ea typeface="Arial" pitchFamily="34" charset="-122"/>
                <a:cs typeface="Arial" pitchFamily="34" charset="-120"/>
              </a:rPr>
              <a:t>required checks on the PR — to build</a:t>
            </a:r>
            <a:endParaRPr lang="en-US" sz="620" dirty="0"/>
          </a:p>
        </p:txBody>
      </p:sp>
      <p:sp>
        <p:nvSpPr>
          <p:cNvPr id="140" name="Text 138"/>
          <p:cNvSpPr/>
          <p:nvPr/>
        </p:nvSpPr>
        <p:spPr>
          <a:xfrm>
            <a:off x="10104120" y="6313018"/>
            <a:ext cx="146304" cy="146304"/>
          </a:xfrm>
          <a:prstGeom prst="ellipse">
            <a:avLst/>
          </a:prstGeom>
          <a:solidFill>
            <a:srgbClr val="1E9A5B"/>
          </a:solidFill>
          <a:ln w="6350">
            <a:solidFill>
              <a:srgbClr val="FFFFFF"/>
            </a:solidFill>
          </a:ln>
        </p:spPr>
        <p:txBody>
          <a:bodyPr wrap="square" lIns="0" tIns="0" rIns="0" bIns="0" rtlCol="0" anchor="ctr"/>
          <a:lstStyle/>
          <a:p>
            <a:pPr algn="ctr" indent="0" marL="0">
              <a:buNone/>
            </a:pPr>
            <a:r>
              <a:rPr lang="en-US" sz="500" b="1" dirty="0">
                <a:solidFill>
                  <a:srgbClr val="FFFFFF"/>
                </a:solidFill>
                <a:latin typeface="Arial" pitchFamily="34" charset="0"/>
                <a:ea typeface="Arial" pitchFamily="34" charset="-122"/>
                <a:cs typeface="Arial" pitchFamily="34" charset="-120"/>
              </a:rPr>
              <a:t>A7</a:t>
            </a:r>
            <a:endParaRPr lang="en-US" sz="500" dirty="0"/>
          </a:p>
        </p:txBody>
      </p:sp>
      <p:sp>
        <p:nvSpPr>
          <p:cNvPr id="141" name="Text 139"/>
          <p:cNvSpPr/>
          <p:nvPr/>
        </p:nvSpPr>
        <p:spPr>
          <a:xfrm>
            <a:off x="10296144" y="6294730"/>
            <a:ext cx="1536192" cy="182880"/>
          </a:xfrm>
          <a:prstGeom prst="rect">
            <a:avLst/>
          </a:prstGeom>
          <a:noFill/>
          <a:ln/>
        </p:spPr>
        <p:txBody>
          <a:bodyPr wrap="square" lIns="0" tIns="0" rIns="0" bIns="0" rtlCol="0" anchor="ctr"/>
          <a:lstStyle/>
          <a:p>
            <a:pPr indent="0" marL="0">
              <a:buNone/>
            </a:pPr>
            <a:r>
              <a:rPr lang="en-US" sz="620" dirty="0">
                <a:solidFill>
                  <a:srgbClr val="1B2A24"/>
                </a:solidFill>
                <a:latin typeface="Arial" pitchFamily="34" charset="0"/>
                <a:ea typeface="Arial" pitchFamily="34" charset="-122"/>
                <a:cs typeface="Arial" pitchFamily="34" charset="-120"/>
              </a:rPr>
              <a:t>Architecture Assessor — available</a:t>
            </a:r>
            <a:endParaRPr lang="en-US" sz="620" dirty="0"/>
          </a:p>
        </p:txBody>
      </p:sp>
      <p:sp>
        <p:nvSpPr>
          <p:cNvPr id="142" name="Text 140"/>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Humans turn the loop — the decisions, who takes them, on what evidence</a:t>
            </a:r>
            <a:endParaRPr lang="en-US" sz="2400" dirty="0"/>
          </a:p>
        </p:txBody>
      </p:sp>
      <p:sp>
        <p:nvSpPr>
          <p:cNvPr id="3" name="Text 1"/>
          <p:cNvSpPr/>
          <p:nvPr/>
        </p:nvSpPr>
        <p:spPr>
          <a:xfrm>
            <a:off x="457200" y="804672"/>
            <a:ext cx="11247120" cy="365760"/>
          </a:xfrm>
          <a:prstGeom prst="rect">
            <a:avLst/>
          </a:prstGeom>
          <a:noFill/>
          <a:ln/>
        </p:spPr>
        <p:txBody>
          <a:bodyPr wrap="square" lIns="0" tIns="0" rIns="0" bIns="0" rtlCol="0" anchor="t"/>
          <a:lstStyle/>
          <a:p>
            <a:pPr indent="0" marL="0">
              <a:buNone/>
            </a:pPr>
            <a:r>
              <a:rPr lang="en-US" sz="1100" dirty="0">
                <a:solidFill>
                  <a:srgbClr val="5F6B66"/>
                </a:solidFill>
                <a:latin typeface="Arial" pitchFamily="34" charset="0"/>
                <a:ea typeface="Arial" pitchFamily="34" charset="-122"/>
                <a:cs typeface="Arial" pitchFamily="34" charset="-120"/>
              </a:rPr>
              <a:t>Inside an iteration agents author and scripted checks verify; the loop only advances on a recorded human decision. This is the master element of the process, and every decision leaves evidence the architecture can be audited against.</a:t>
            </a:r>
            <a:endParaRPr lang="en-US" sz="11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1051560"/>
                <a:gridCol w="2194560"/>
                <a:gridCol w="2331720"/>
                <a:gridCol w="3291840"/>
                <a:gridCol w="2377440"/>
              </a:tblGrid>
              <a:tr h="274320">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Boundary</a:t>
                      </a:r>
                      <a:endParaRPr lang="en-US" sz="90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Decision</a:t>
                      </a:r>
                      <a:endParaRPr lang="en-US" sz="90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Decided by</a:t>
                      </a:r>
                      <a:endParaRPr lang="en-US" sz="90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Evidence in front of them</a:t>
                      </a:r>
                      <a:endParaRPr lang="en-US" sz="90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algn="l" indent="0" marL="0">
                        <a:buNone/>
                      </a:pPr>
                      <a:r>
                        <a:rPr lang="en-US" sz="900" b="1" dirty="0">
                          <a:solidFill>
                            <a:srgbClr val="FFFFFF"/>
                          </a:solidFill>
                          <a:latin typeface="Arial" pitchFamily="34" charset="0"/>
                          <a:ea typeface="Arial" pitchFamily="34" charset="-122"/>
                          <a:cs typeface="Arial" pitchFamily="34" charset="-120"/>
                        </a:rPr>
                        <a:t>Recorded as</a:t>
                      </a:r>
                      <a:endParaRPr lang="en-US" sz="90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r>
              <a:tr h="548640">
                <a:tc>
                  <a:txBody>
                    <a:bodyPr/>
                    <a:lstStyle/>
                    <a:p>
                      <a:pPr indent="0" marL="0">
                        <a:buNone/>
                      </a:pPr>
                      <a:r>
                        <a:rPr lang="en-US" sz="800" b="1" dirty="0">
                          <a:solidFill>
                            <a:srgbClr val="0B3F2C"/>
                          </a:solidFill>
                          <a:latin typeface="Arial" pitchFamily="34" charset="0"/>
                          <a:ea typeface="Arial" pitchFamily="34" charset="-122"/>
                          <a:cs typeface="Arial" pitchFamily="34" charset="-120"/>
                        </a:rPr>
                        <a:t>0</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b="1" dirty="0">
                          <a:solidFill>
                            <a:srgbClr val="0B3F2C"/>
                          </a:solidFill>
                          <a:latin typeface="Arial" pitchFamily="34" charset="0"/>
                          <a:ea typeface="Arial" pitchFamily="34" charset="-122"/>
                          <a:cs typeface="Arial" pitchFamily="34" charset="-120"/>
                        </a:rPr>
                        <a:t>Domain change approved</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Lead architect + domain owner (architecture review board for structural changes)</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Impact analysis from the trace graph (specs, features, contracts touched), ADR draft, change class</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ADR in the decision ledger; new domain-map version pinned by specs and plans</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457200">
                <a:tc>
                  <a:txBody>
                    <a:bodyPr/>
                    <a:lstStyle/>
                    <a:p>
                      <a:pPr indent="0" marL="0">
                        <a:buNone/>
                      </a:pPr>
                      <a:r>
                        <a:rPr lang="en-US" sz="800" b="1" dirty="0">
                          <a:solidFill>
                            <a:srgbClr val="0B3F2C"/>
                          </a:solidFill>
                          <a:latin typeface="Arial" pitchFamily="34" charset="0"/>
                          <a:ea typeface="Arial" pitchFamily="34" charset="-122"/>
                          <a:cs typeface="Arial" pitchFamily="34" charset="-120"/>
                        </a:rPr>
                        <a:t>1 → 2</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b="1" dirty="0">
                          <a:solidFill>
                            <a:srgbClr val="0B3F2C"/>
                          </a:solidFill>
                          <a:latin typeface="Arial" pitchFamily="34" charset="0"/>
                          <a:ea typeface="Arial" pitchFamily="34" charset="-122"/>
                          <a:cs typeface="Arial" pitchFamily="34" charset="-120"/>
                        </a:rPr>
                        <a:t>Requirements baseline approved</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Business / product owner; lead architect co-signs the context assignment</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Requirement list with context, owner, source, durable IDs; open clarifications = 0</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Baseline version</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566928">
                <a:tc>
                  <a:txBody>
                    <a:bodyPr/>
                    <a:lstStyle/>
                    <a:p>
                      <a:pPr indent="0" marL="0">
                        <a:buNone/>
                      </a:pPr>
                      <a:r>
                        <a:rPr lang="en-US" sz="800" b="1" dirty="0">
                          <a:solidFill>
                            <a:srgbClr val="0B3F2C"/>
                          </a:solidFill>
                          <a:latin typeface="Arial" pitchFamily="34" charset="0"/>
                          <a:ea typeface="Arial" pitchFamily="34" charset="-122"/>
                          <a:cs typeface="Arial" pitchFamily="34" charset="-120"/>
                        </a:rPr>
                        <a:t>2 → 3</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CFE9DA"/>
                    </a:solidFill>
                  </a:tcPr>
                </a:tc>
                <a:tc>
                  <a:txBody>
                    <a:bodyPr/>
                    <a:lstStyle/>
                    <a:p>
                      <a:pPr indent="0" marL="0">
                        <a:buNone/>
                      </a:pPr>
                      <a:r>
                        <a:rPr lang="en-US" sz="800" b="1" dirty="0">
                          <a:solidFill>
                            <a:srgbClr val="0B3F2C"/>
                          </a:solidFill>
                          <a:latin typeface="Arial" pitchFamily="34" charset="0"/>
                          <a:ea typeface="Arial" pitchFamily="34" charset="-122"/>
                          <a:cs typeface="Arial" pitchFamily="34" charset="-120"/>
                        </a:rPr>
                        <a:t>Start the next iteration — the master gate</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CFE9DA"/>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Steering / product board with the lead architect</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4F2EA"/>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Iteration charter: scope by context, capacity, cross-context dependencies, architecture-debt items with the Assessor’s evidence, exit criteria</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4F2EA"/>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Decision record + workflow input</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4F2EA"/>
                    </a:solidFill>
                  </a:tcPr>
                </a:tc>
              </a:tr>
              <a:tr h="566928">
                <a:tc>
                  <a:txBody>
                    <a:bodyPr/>
                    <a:lstStyle/>
                    <a:p>
                      <a:pPr indent="0" marL="0">
                        <a:buNone/>
                      </a:pPr>
                      <a:r>
                        <a:rPr lang="en-US" sz="800" b="1" dirty="0">
                          <a:solidFill>
                            <a:srgbClr val="0B3F2C"/>
                          </a:solidFill>
                          <a:latin typeface="Arial" pitchFamily="34" charset="0"/>
                          <a:ea typeface="Arial" pitchFamily="34" charset="-122"/>
                          <a:cs typeface="Arial" pitchFamily="34" charset="-120"/>
                        </a:rPr>
                        <a:t>3 → 4</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b="1" dirty="0">
                          <a:solidFill>
                            <a:srgbClr val="0B3F2C"/>
                          </a:solidFill>
                          <a:latin typeface="Arial" pitchFamily="34" charset="0"/>
                          <a:ea typeface="Arial" pitchFamily="34" charset="-122"/>
                          <a:cs typeface="Arial" pitchFamily="34" charset="-120"/>
                        </a:rPr>
                        <a:t>Design authority sign-off</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Lead architect (plan) · business analyst (specification)</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ShAIping checks, handover record and contract test, plan.md with Constitution Check + architecture conformance table, analyze report</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Signed plan version, ADRs</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457200">
                <a:tc>
                  <a:txBody>
                    <a:bodyPr/>
                    <a:lstStyle/>
                    <a:p>
                      <a:pPr indent="0" marL="0">
                        <a:buNone/>
                      </a:pPr>
                      <a:r>
                        <a:rPr lang="en-US" sz="800" b="1" dirty="0">
                          <a:solidFill>
                            <a:srgbClr val="0B3F2C"/>
                          </a:solidFill>
                          <a:latin typeface="Arial" pitchFamily="34" charset="0"/>
                          <a:ea typeface="Arial" pitchFamily="34" charset="-122"/>
                          <a:cs typeface="Arial" pitchFamily="34" charset="-120"/>
                        </a:rPr>
                        <a:t>4 ⇄ 5 → 6</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b="1" dirty="0">
                          <a:solidFill>
                            <a:srgbClr val="0B3F2C"/>
                          </a:solidFill>
                          <a:latin typeface="Arial" pitchFamily="34" charset="0"/>
                          <a:ea typeface="Arial" pitchFamily="34" charset="-122"/>
                          <a:cs typeface="Arial" pitchFamily="34" charset="-120"/>
                        </a:rPr>
                        <a:t>PR approval · test exit (code enters CI)</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Tech lead · QA lead</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Deterministic test verdict, fitness-function result, review and security scan; requirement → test matrix</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PR + test report</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457200">
                <a:tc>
                  <a:txBody>
                    <a:bodyPr/>
                    <a:lstStyle/>
                    <a:p>
                      <a:pPr indent="0" marL="0">
                        <a:buNone/>
                      </a:pPr>
                      <a:r>
                        <a:rPr lang="en-US" sz="800" b="1" dirty="0">
                          <a:solidFill>
                            <a:srgbClr val="0B3F2C"/>
                          </a:solidFill>
                          <a:latin typeface="Arial" pitchFamily="34" charset="0"/>
                          <a:ea typeface="Arial" pitchFamily="34" charset="-122"/>
                          <a:cs typeface="Arial" pitchFamily="34" charset="-120"/>
                        </a:rPr>
                        <a:t>6 → 7</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b="1" dirty="0">
                          <a:solidFill>
                            <a:srgbClr val="0B3F2C"/>
                          </a:solidFill>
                          <a:latin typeface="Arial" pitchFamily="34" charset="0"/>
                          <a:ea typeface="Arial" pitchFamily="34" charset="-122"/>
                          <a:cs typeface="Arial" pitchFamily="34" charset="-120"/>
                        </a:rPr>
                        <a:t>Release approval — existing pipeline, unchanged</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Release / change manager (as today)</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The existing CI/CD evidence; nothing added by the loop</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Existing change record</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548640">
                <a:tc>
                  <a:txBody>
                    <a:bodyPr/>
                    <a:lstStyle/>
                    <a:p>
                      <a:pPr indent="0" marL="0">
                        <a:buNone/>
                      </a:pPr>
                      <a:r>
                        <a:rPr lang="en-US" sz="800" b="1" dirty="0">
                          <a:solidFill>
                            <a:srgbClr val="0B3F2C"/>
                          </a:solidFill>
                          <a:latin typeface="Arial" pitchFamily="34" charset="0"/>
                          <a:ea typeface="Arial" pitchFamily="34" charset="-122"/>
                          <a:cs typeface="Arial" pitchFamily="34" charset="-120"/>
                        </a:rPr>
                        <a:t>7 → 1 / 0</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b="1" dirty="0">
                          <a:solidFill>
                            <a:srgbClr val="0B3F2C"/>
                          </a:solidFill>
                          <a:latin typeface="Arial" pitchFamily="34" charset="0"/>
                          <a:ea typeface="Arial" pitchFamily="34" charset="-122"/>
                          <a:cs typeface="Arial" pitchFamily="34" charset="-120"/>
                        </a:rPr>
                        <a:t>Findings accepted</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Lead architect with the business owner of the context</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findings.json (rule ID, evidence, severity) and the [PROPOSED] requirement / domain changes</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Accepted proposals → new requirement IDs or a domain change request</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bl>
          </a:graphicData>
        </a:graphic>
      </p:graphicFrame>
      <p:sp>
        <p:nvSpPr>
          <p:cNvPr id="5" name="Shape 2"/>
          <p:cNvSpPr/>
          <p:nvPr/>
        </p:nvSpPr>
        <p:spPr>
          <a:xfrm>
            <a:off x="457200" y="5532120"/>
            <a:ext cx="11274552" cy="822960"/>
          </a:xfrm>
          <a:prstGeom prst="roundRect">
            <a:avLst>
              <a:gd name="adj" fmla="val 8889"/>
            </a:avLst>
          </a:prstGeom>
          <a:solidFill>
            <a:srgbClr val="0B3F2C"/>
          </a:solidFill>
          <a:ln w="12700">
            <a:solidFill>
              <a:srgbClr val="0B3F2C"/>
            </a:solidFill>
            <a:prstDash val="solid"/>
          </a:ln>
        </p:spPr>
      </p:sp>
      <p:sp>
        <p:nvSpPr>
          <p:cNvPr id="6" name="Text 3"/>
          <p:cNvSpPr/>
          <p:nvPr/>
        </p:nvSpPr>
        <p:spPr>
          <a:xfrm>
            <a:off x="685800" y="5596128"/>
            <a:ext cx="10835640" cy="713232"/>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Inside the iteration, no human waits: </a:t>
            </a:r>
            <a:pPr indent="0" marL="0">
              <a:buNone/>
            </a:pPr>
            <a:r>
              <a:rPr lang="en-US" sz="900" dirty="0">
                <a:solidFill>
                  <a:srgbClr val="FFFFFF"/>
                </a:solidFill>
                <a:latin typeface="Arial" pitchFamily="34" charset="0"/>
                <a:ea typeface="Arial" pitchFamily="34" charset="-122"/>
                <a:cs typeface="Arial" pitchFamily="34" charset="-120"/>
              </a:rPr>
              <a:t>ShAIping’s 12 scripted checks, the handover contract test, Spec Kit’s Constitution Check / analyze / checklist STOP-gate / hooks, the architecture conformance script, the fitness runner and the deterministic test loop run automatically. Between iterations, no agent decides: baseline, iteration start, design sign-off, test exit and findings acceptance are people — named, minuted, evidenced. Deploy and operations keep their existing decisions.</a:t>
            </a:r>
            <a:endParaRPr lang="en-US" sz="900" dirty="0"/>
          </a:p>
        </p:txBody>
      </p:sp>
      <p:sp>
        <p:nvSpPr>
          <p:cNvPr id="7" name="Text 4"/>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144000" cy="45720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Step 0 · Domain master design — the prerequisite</a:t>
            </a:r>
            <a:endParaRPr lang="en-US" sz="2400" dirty="0"/>
          </a:p>
        </p:txBody>
      </p:sp>
      <p:sp>
        <p:nvSpPr>
          <p:cNvPr id="3" name="Text 1"/>
          <p:cNvSpPr/>
          <p:nvPr/>
        </p:nvSpPr>
        <p:spPr>
          <a:xfrm>
            <a:off x="457200" y="749808"/>
            <a:ext cx="7955280" cy="548640"/>
          </a:xfrm>
          <a:prstGeom prst="rect">
            <a:avLst/>
          </a:prstGeom>
          <a:noFill/>
          <a:ln/>
        </p:spPr>
        <p:txBody>
          <a:bodyPr wrap="square" lIns="0" tIns="0" rIns="0" bIns="0" rtlCol="0" anchor="t"/>
          <a:lstStyle/>
          <a:p>
            <a:pPr indent="0" marL="0">
              <a:buNone/>
            </a:pPr>
            <a:r>
              <a:rPr lang="en-US" sz="1100" b="1" dirty="0">
                <a:solidFill>
                  <a:srgbClr val="0E6B45"/>
                </a:solidFill>
                <a:latin typeface="Arial" pitchFamily="34" charset="0"/>
                <a:ea typeface="Arial" pitchFamily="34" charset="-122"/>
                <a:cs typeface="Arial" pitchFamily="34" charset="-120"/>
              </a:rPr>
              <a:t>“Where are the domains?” — here: a versioned, owned map of bounded contexts that every requirement, specification and plan must name. Strategic domain-driven design is architecture; the loop revolves around it (A0) and it belongs to the lead architect.</a:t>
            </a:r>
            <a:endParaRPr lang="en-US" sz="1100" dirty="0"/>
          </a:p>
        </p:txBody>
      </p:sp>
      <p:sp>
        <p:nvSpPr>
          <p:cNvPr id="4" name="Text 2"/>
          <p:cNvSpPr/>
          <p:nvPr/>
        </p:nvSpPr>
        <p:spPr>
          <a:xfrm>
            <a:off x="8549640" y="310896"/>
            <a:ext cx="1024128" cy="210312"/>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native</a:t>
            </a:r>
            <a:endParaRPr lang="en-US" sz="650" dirty="0"/>
          </a:p>
        </p:txBody>
      </p:sp>
      <p:sp>
        <p:nvSpPr>
          <p:cNvPr id="5" name="Text 3"/>
          <p:cNvSpPr/>
          <p:nvPr/>
        </p:nvSpPr>
        <p:spPr>
          <a:xfrm>
            <a:off x="9628632" y="310896"/>
            <a:ext cx="1024128" cy="210312"/>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available</a:t>
            </a:r>
            <a:endParaRPr lang="en-US" sz="650" dirty="0"/>
          </a:p>
        </p:txBody>
      </p:sp>
      <p:sp>
        <p:nvSpPr>
          <p:cNvPr id="6" name="Text 4"/>
          <p:cNvSpPr/>
          <p:nvPr/>
        </p:nvSpPr>
        <p:spPr>
          <a:xfrm>
            <a:off x="10707624" y="310896"/>
            <a:ext cx="1024128" cy="210312"/>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in progress</a:t>
            </a:r>
            <a:endParaRPr lang="en-US" sz="650" dirty="0"/>
          </a:p>
        </p:txBody>
      </p:sp>
      <p:sp>
        <p:nvSpPr>
          <p:cNvPr id="7" name="Text 5"/>
          <p:cNvSpPr/>
          <p:nvPr/>
        </p:nvSpPr>
        <p:spPr>
          <a:xfrm>
            <a:off x="8549640" y="576072"/>
            <a:ext cx="1024128" cy="210312"/>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8" name="Text 6"/>
          <p:cNvSpPr/>
          <p:nvPr/>
        </p:nvSpPr>
        <p:spPr>
          <a:xfrm>
            <a:off x="9628632" y="576072"/>
            <a:ext cx="1024128" cy="210312"/>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9" name="Text 7"/>
          <p:cNvSpPr/>
          <p:nvPr/>
        </p:nvSpPr>
        <p:spPr>
          <a:xfrm>
            <a:off x="457200" y="1371600"/>
            <a:ext cx="45720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What the master design contains</a:t>
            </a:r>
            <a:endParaRPr lang="en-US" sz="950" dirty="0"/>
          </a:p>
        </p:txBody>
      </p:sp>
      <p:sp>
        <p:nvSpPr>
          <p:cNvPr id="10" name="Shape 8"/>
          <p:cNvSpPr/>
          <p:nvPr/>
        </p:nvSpPr>
        <p:spPr>
          <a:xfrm>
            <a:off x="457200" y="1645920"/>
            <a:ext cx="3749040" cy="694944"/>
          </a:xfrm>
          <a:prstGeom prst="roundRect">
            <a:avLst>
              <a:gd name="adj" fmla="val 7895"/>
            </a:avLst>
          </a:prstGeom>
          <a:solidFill>
            <a:srgbClr val="EAF5EE"/>
          </a:solidFill>
          <a:ln w="12700">
            <a:solidFill>
              <a:srgbClr val="EAF5EE"/>
            </a:solidFill>
            <a:prstDash val="solid"/>
          </a:ln>
        </p:spPr>
      </p:sp>
      <p:sp>
        <p:nvSpPr>
          <p:cNvPr id="11" name="Text 9"/>
          <p:cNvSpPr/>
          <p:nvPr/>
        </p:nvSpPr>
        <p:spPr>
          <a:xfrm>
            <a:off x="594360" y="1719072"/>
            <a:ext cx="3474720" cy="20116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Subdomains</a:t>
            </a:r>
            <a:endParaRPr lang="en-US" sz="900" dirty="0"/>
          </a:p>
        </p:txBody>
      </p:sp>
      <p:sp>
        <p:nvSpPr>
          <p:cNvPr id="12" name="Text 10"/>
          <p:cNvSpPr/>
          <p:nvPr/>
        </p:nvSpPr>
        <p:spPr>
          <a:xfrm>
            <a:off x="594360" y="1938528"/>
            <a:ext cx="3520440" cy="384048"/>
          </a:xfrm>
          <a:prstGeom prst="rect">
            <a:avLst/>
          </a:prstGeom>
          <a:noFill/>
          <a:ln/>
        </p:spPr>
        <p:txBody>
          <a:bodyPr wrap="square" lIns="0" tIns="0" rIns="0" bIns="0" rtlCol="0" anchor="t"/>
          <a:lstStyle/>
          <a:p>
            <a:pPr indent="0" marL="0">
              <a:buNone/>
            </a:pPr>
            <a:r>
              <a:rPr lang="en-US" sz="800" dirty="0">
                <a:solidFill>
                  <a:srgbClr val="1B2A24"/>
                </a:solidFill>
                <a:latin typeface="Arial" pitchFamily="34" charset="0"/>
                <a:ea typeface="Arial" pitchFamily="34" charset="-122"/>
                <a:cs typeface="Arial" pitchFamily="34" charset="-120"/>
              </a:rPr>
              <a:t>core · supporting · generic — where to invest, where to buy or reuse</a:t>
            </a:r>
            <a:endParaRPr lang="en-US" sz="800" dirty="0"/>
          </a:p>
        </p:txBody>
      </p:sp>
      <p:sp>
        <p:nvSpPr>
          <p:cNvPr id="13" name="Shape 11"/>
          <p:cNvSpPr/>
          <p:nvPr/>
        </p:nvSpPr>
        <p:spPr>
          <a:xfrm>
            <a:off x="457200" y="2432304"/>
            <a:ext cx="3749040" cy="694944"/>
          </a:xfrm>
          <a:prstGeom prst="roundRect">
            <a:avLst>
              <a:gd name="adj" fmla="val 7895"/>
            </a:avLst>
          </a:prstGeom>
          <a:solidFill>
            <a:srgbClr val="EAF5EE"/>
          </a:solidFill>
          <a:ln w="12700">
            <a:solidFill>
              <a:srgbClr val="EAF5EE"/>
            </a:solidFill>
            <a:prstDash val="solid"/>
          </a:ln>
        </p:spPr>
      </p:sp>
      <p:sp>
        <p:nvSpPr>
          <p:cNvPr id="14" name="Text 12"/>
          <p:cNvSpPr/>
          <p:nvPr/>
        </p:nvSpPr>
        <p:spPr>
          <a:xfrm>
            <a:off x="594360" y="2505456"/>
            <a:ext cx="3474720" cy="20116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Bounded contexts + owners</a:t>
            </a:r>
            <a:endParaRPr lang="en-US" sz="900" dirty="0"/>
          </a:p>
        </p:txBody>
      </p:sp>
      <p:sp>
        <p:nvSpPr>
          <p:cNvPr id="15" name="Text 13"/>
          <p:cNvSpPr/>
          <p:nvPr/>
        </p:nvSpPr>
        <p:spPr>
          <a:xfrm>
            <a:off x="594360" y="2724912"/>
            <a:ext cx="3520440" cy="384048"/>
          </a:xfrm>
          <a:prstGeom prst="rect">
            <a:avLst/>
          </a:prstGeom>
          <a:noFill/>
          <a:ln/>
        </p:spPr>
        <p:txBody>
          <a:bodyPr wrap="square" lIns="0" tIns="0" rIns="0" bIns="0" rtlCol="0" anchor="t"/>
          <a:lstStyle/>
          <a:p>
            <a:pPr indent="0" marL="0">
              <a:buNone/>
            </a:pPr>
            <a:r>
              <a:rPr lang="en-US" sz="800" dirty="0">
                <a:solidFill>
                  <a:srgbClr val="1B2A24"/>
                </a:solidFill>
                <a:latin typeface="Arial" pitchFamily="34" charset="0"/>
                <a:ea typeface="Arial" pitchFamily="34" charset="-122"/>
                <a:cs typeface="Arial" pitchFamily="34" charset="-120"/>
              </a:rPr>
              <a:t>each context has a name, a purpose, a domain owner and a delivery team; features are authored inside exactly one</a:t>
            </a:r>
            <a:endParaRPr lang="en-US" sz="800" dirty="0"/>
          </a:p>
        </p:txBody>
      </p:sp>
      <p:sp>
        <p:nvSpPr>
          <p:cNvPr id="16" name="Shape 14"/>
          <p:cNvSpPr/>
          <p:nvPr/>
        </p:nvSpPr>
        <p:spPr>
          <a:xfrm>
            <a:off x="457200" y="3218688"/>
            <a:ext cx="3749040" cy="694944"/>
          </a:xfrm>
          <a:prstGeom prst="roundRect">
            <a:avLst>
              <a:gd name="adj" fmla="val 7895"/>
            </a:avLst>
          </a:prstGeom>
          <a:solidFill>
            <a:srgbClr val="EAF5EE"/>
          </a:solidFill>
          <a:ln w="12700">
            <a:solidFill>
              <a:srgbClr val="EAF5EE"/>
            </a:solidFill>
            <a:prstDash val="solid"/>
          </a:ln>
        </p:spPr>
      </p:sp>
      <p:sp>
        <p:nvSpPr>
          <p:cNvPr id="17" name="Text 15"/>
          <p:cNvSpPr/>
          <p:nvPr/>
        </p:nvSpPr>
        <p:spPr>
          <a:xfrm>
            <a:off x="594360" y="3291840"/>
            <a:ext cx="3474720" cy="20116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Context map</a:t>
            </a:r>
            <a:endParaRPr lang="en-US" sz="900" dirty="0"/>
          </a:p>
        </p:txBody>
      </p:sp>
      <p:sp>
        <p:nvSpPr>
          <p:cNvPr id="18" name="Text 16"/>
          <p:cNvSpPr/>
          <p:nvPr/>
        </p:nvSpPr>
        <p:spPr>
          <a:xfrm>
            <a:off x="594360" y="3511296"/>
            <a:ext cx="3520440" cy="384048"/>
          </a:xfrm>
          <a:prstGeom prst="rect">
            <a:avLst/>
          </a:prstGeom>
          <a:noFill/>
          <a:ln/>
        </p:spPr>
        <p:txBody>
          <a:bodyPr wrap="square" lIns="0" tIns="0" rIns="0" bIns="0" rtlCol="0" anchor="t"/>
          <a:lstStyle/>
          <a:p>
            <a:pPr indent="0" marL="0">
              <a:buNone/>
            </a:pPr>
            <a:r>
              <a:rPr lang="en-US" sz="800" dirty="0">
                <a:solidFill>
                  <a:srgbClr val="1B2A24"/>
                </a:solidFill>
                <a:latin typeface="Arial" pitchFamily="34" charset="0"/>
                <a:ea typeface="Arial" pitchFamily="34" charset="-122"/>
                <a:cs typeface="Arial" pitchFamily="34" charset="-120"/>
              </a:rPr>
              <a:t>relationships between contexts (upstream / downstream, shared language, anti-corruption layers) — the integration architecture</a:t>
            </a:r>
            <a:endParaRPr lang="en-US" sz="800" dirty="0"/>
          </a:p>
        </p:txBody>
      </p:sp>
      <p:sp>
        <p:nvSpPr>
          <p:cNvPr id="19" name="Shape 17"/>
          <p:cNvSpPr/>
          <p:nvPr/>
        </p:nvSpPr>
        <p:spPr>
          <a:xfrm>
            <a:off x="457200" y="4005072"/>
            <a:ext cx="3749040" cy="694944"/>
          </a:xfrm>
          <a:prstGeom prst="roundRect">
            <a:avLst>
              <a:gd name="adj" fmla="val 7895"/>
            </a:avLst>
          </a:prstGeom>
          <a:solidFill>
            <a:srgbClr val="EAF5EE"/>
          </a:solidFill>
          <a:ln w="12700">
            <a:solidFill>
              <a:srgbClr val="EAF5EE"/>
            </a:solidFill>
            <a:prstDash val="solid"/>
          </a:ln>
        </p:spPr>
      </p:sp>
      <p:sp>
        <p:nvSpPr>
          <p:cNvPr id="20" name="Text 18"/>
          <p:cNvSpPr/>
          <p:nvPr/>
        </p:nvSpPr>
        <p:spPr>
          <a:xfrm>
            <a:off x="594360" y="4078224"/>
            <a:ext cx="3474720" cy="20116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Ubiquitous language</a:t>
            </a:r>
            <a:endParaRPr lang="en-US" sz="900" dirty="0"/>
          </a:p>
        </p:txBody>
      </p:sp>
      <p:sp>
        <p:nvSpPr>
          <p:cNvPr id="21" name="Text 19"/>
          <p:cNvSpPr/>
          <p:nvPr/>
        </p:nvSpPr>
        <p:spPr>
          <a:xfrm>
            <a:off x="594360" y="4297680"/>
            <a:ext cx="3520440" cy="384048"/>
          </a:xfrm>
          <a:prstGeom prst="rect">
            <a:avLst/>
          </a:prstGeom>
          <a:noFill/>
          <a:ln/>
        </p:spPr>
        <p:txBody>
          <a:bodyPr wrap="square" lIns="0" tIns="0" rIns="0" bIns="0" rtlCol="0" anchor="t"/>
          <a:lstStyle/>
          <a:p>
            <a:pPr indent="0" marL="0">
              <a:buNone/>
            </a:pPr>
            <a:r>
              <a:rPr lang="en-US" sz="800" dirty="0">
                <a:solidFill>
                  <a:srgbClr val="1B2A24"/>
                </a:solidFill>
                <a:latin typeface="Arial" pitchFamily="34" charset="0"/>
                <a:ea typeface="Arial" pitchFamily="34" charset="-122"/>
                <a:cs typeface="Arial" pitchFamily="34" charset="-120"/>
              </a:rPr>
              <a:t>glossary per context; the same term means one thing inside a context, translations live on the boundaries</a:t>
            </a:r>
            <a:endParaRPr lang="en-US" sz="800" dirty="0"/>
          </a:p>
        </p:txBody>
      </p:sp>
      <p:sp>
        <p:nvSpPr>
          <p:cNvPr id="22" name="Shape 20"/>
          <p:cNvSpPr/>
          <p:nvPr/>
        </p:nvSpPr>
        <p:spPr>
          <a:xfrm>
            <a:off x="457200" y="4791456"/>
            <a:ext cx="3749040" cy="694944"/>
          </a:xfrm>
          <a:prstGeom prst="roundRect">
            <a:avLst>
              <a:gd name="adj" fmla="val 7895"/>
            </a:avLst>
          </a:prstGeom>
          <a:solidFill>
            <a:srgbClr val="EAF5EE"/>
          </a:solidFill>
          <a:ln w="12700">
            <a:solidFill>
              <a:srgbClr val="EAF5EE"/>
            </a:solidFill>
            <a:prstDash val="solid"/>
          </a:ln>
        </p:spPr>
      </p:sp>
      <p:sp>
        <p:nvSpPr>
          <p:cNvPr id="23" name="Text 21"/>
          <p:cNvSpPr/>
          <p:nvPr/>
        </p:nvSpPr>
        <p:spPr>
          <a:xfrm>
            <a:off x="594360" y="4864608"/>
            <a:ext cx="3474720" cy="20116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Enterprise mapping</a:t>
            </a:r>
            <a:endParaRPr lang="en-US" sz="900" dirty="0"/>
          </a:p>
        </p:txBody>
      </p:sp>
      <p:sp>
        <p:nvSpPr>
          <p:cNvPr id="24" name="Text 22"/>
          <p:cNvSpPr/>
          <p:nvPr/>
        </p:nvSpPr>
        <p:spPr>
          <a:xfrm>
            <a:off x="594360" y="5084064"/>
            <a:ext cx="3520440" cy="384048"/>
          </a:xfrm>
          <a:prstGeom prst="rect">
            <a:avLst/>
          </a:prstGeom>
          <a:noFill/>
          <a:ln/>
        </p:spPr>
        <p:txBody>
          <a:bodyPr wrap="square" lIns="0" tIns="0" rIns="0" bIns="0" rtlCol="0" anchor="t"/>
          <a:lstStyle/>
          <a:p>
            <a:pPr indent="0" marL="0">
              <a:buNone/>
            </a:pPr>
            <a:r>
              <a:rPr lang="en-US" sz="800" dirty="0">
                <a:solidFill>
                  <a:srgbClr val="1B2A24"/>
                </a:solidFill>
                <a:latin typeface="Arial" pitchFamily="34" charset="0"/>
                <a:ea typeface="Arial" pitchFamily="34" charset="-122"/>
                <a:cs typeface="Arial" pitchFamily="34" charset="-120"/>
              </a:rPr>
              <a:t>contexts mapped to the business-capability map and the application portfolio, so the manager sees where each domain lives</a:t>
            </a:r>
            <a:endParaRPr lang="en-US" sz="800" dirty="0"/>
          </a:p>
        </p:txBody>
      </p:sp>
      <p:sp>
        <p:nvSpPr>
          <p:cNvPr id="25" name="Shape 23"/>
          <p:cNvSpPr/>
          <p:nvPr/>
        </p:nvSpPr>
        <p:spPr>
          <a:xfrm>
            <a:off x="4434840" y="1645920"/>
            <a:ext cx="3794760" cy="4206240"/>
          </a:xfrm>
          <a:prstGeom prst="roundRect">
            <a:avLst>
              <a:gd name="adj" fmla="val 1928"/>
            </a:avLst>
          </a:prstGeom>
          <a:solidFill>
            <a:srgbClr val="FFFFFF"/>
          </a:solidFill>
          <a:ln w="12700">
            <a:solidFill>
              <a:srgbClr val="CFE9DA"/>
            </a:solidFill>
            <a:prstDash val="solid"/>
          </a:ln>
        </p:spPr>
      </p:sp>
      <p:sp>
        <p:nvSpPr>
          <p:cNvPr id="26" name="Text 24"/>
          <p:cNvSpPr/>
          <p:nvPr/>
        </p:nvSpPr>
        <p:spPr>
          <a:xfrm>
            <a:off x="4572000" y="1719072"/>
            <a:ext cx="352044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How it becomes part of the Spec Kit ecosystem</a:t>
            </a:r>
            <a:endParaRPr lang="en-US" sz="950" dirty="0"/>
          </a:p>
        </p:txBody>
      </p:sp>
      <p:sp>
        <p:nvSpPr>
          <p:cNvPr id="27" name="Text 25"/>
          <p:cNvSpPr/>
          <p:nvPr/>
        </p:nvSpPr>
        <p:spPr>
          <a:xfrm>
            <a:off x="4572000" y="1975104"/>
            <a:ext cx="3520440" cy="3840480"/>
          </a:xfrm>
          <a:prstGeom prst="rect">
            <a:avLst/>
          </a:prstGeom>
          <a:noFill/>
          <a:ln/>
        </p:spPr>
        <p:txBody>
          <a:bodyPr wrap="square" lIns="0" tIns="0" rIns="0" bIns="0" rtlCol="0" anchor="t"/>
          <a:lstStyle/>
          <a:p>
            <a:pPr marL="152400" indent="-152400">
              <a:spcAft>
                <a:spcPts val="400"/>
              </a:spcAft>
              <a:buSzPct val="100000"/>
              <a:buChar char="▪"/>
            </a:pPr>
            <a:r>
              <a:rPr lang="en-US" sz="800" dirty="0">
                <a:solidFill>
                  <a:srgbClr val="1B2A24"/>
                </a:solidFill>
                <a:latin typeface="Arial" pitchFamily="34" charset="0"/>
                <a:ea typeface="Arial" pitchFamily="34" charset="-122"/>
                <a:cs typeface="Arial" pitchFamily="34" charset="-120"/>
              </a:rPr>
              <a:t>Lives next to the constitution: .specify/memory/domain-map.md, context-map.md, glossary.md — versioned; every spec.md and plan.md pins the domain-map version it was authored against</a:t>
            </a:r>
            <a:endParaRPr lang="en-US" sz="800" dirty="0"/>
          </a:p>
          <a:p>
            <a:pPr marL="152400" indent="-152400">
              <a:spcAft>
                <a:spcPts val="400"/>
              </a:spcAft>
              <a:buSzPct val="100000"/>
              <a:buChar char="▪"/>
            </a:pPr>
            <a:r>
              <a:rPr lang="en-US" sz="800" dirty="0">
                <a:solidFill>
                  <a:srgbClr val="1B2A24"/>
                </a:solidFill>
                <a:latin typeface="Arial" pitchFamily="34" charset="0"/>
                <a:ea typeface="Arial" pitchFamily="34" charset="-122"/>
                <a:cs typeface="Arial" pitchFamily="34" charset="-120"/>
              </a:rPr>
              <a:t>The constitution states it: “features are authored inside a bounded context of the domain map” — analyze treats constitution conflicts as CRITICAL</a:t>
            </a:r>
            <a:endParaRPr lang="en-US" sz="800" dirty="0"/>
          </a:p>
          <a:p>
            <a:pPr marL="152400" indent="-152400">
              <a:spcAft>
                <a:spcPts val="400"/>
              </a:spcAft>
              <a:buSzPct val="100000"/>
              <a:buChar char="▪"/>
            </a:pPr>
            <a:r>
              <a:rPr lang="en-US" sz="800" dirty="0">
                <a:solidFill>
                  <a:srgbClr val="1B2A24"/>
                </a:solidFill>
                <a:latin typeface="Arial" pitchFamily="34" charset="0"/>
                <a:ea typeface="Arial" pitchFamily="34" charset="-122"/>
                <a:cs typeface="Arial" pitchFamily="34" charset="-120"/>
              </a:rPr>
              <a:t>Loaded before every command (before_* hooks, memory-loader pattern); feature directories keyed by context (specs/&lt;context&gt;/&lt;###-feature&gt;) — spec folder conventions are configurable in the ecosystem (branch-convention, multi-sites)</a:t>
            </a:r>
            <a:endParaRPr lang="en-US" sz="800" dirty="0"/>
          </a:p>
          <a:p>
            <a:pPr marL="152400" indent="-152400">
              <a:spcAft>
                <a:spcPts val="400"/>
              </a:spcAft>
              <a:buSzPct val="100000"/>
              <a:buChar char="▪"/>
            </a:pPr>
            <a:r>
              <a:rPr lang="en-US" sz="800" dirty="0">
                <a:solidFill>
                  <a:srgbClr val="1B2A24"/>
                </a:solidFill>
                <a:latin typeface="Arial" pitchFamily="34" charset="0"/>
                <a:ea typeface="Arial" pitchFamily="34" charset="-122"/>
                <a:cs typeface="Arial" pitchFamily="34" charset="-120"/>
              </a:rPr>
              <a:t>ShAIping does feature-level EventStorming inside a context; the master design is the layer above it and is the source of the glossary ShAIping enforces</a:t>
            </a:r>
            <a:endParaRPr lang="en-US" sz="800" dirty="0"/>
          </a:p>
          <a:p>
            <a:pPr marL="152400" indent="-152400">
              <a:spcAft>
                <a:spcPts val="400"/>
              </a:spcAft>
              <a:buSzPct val="100000"/>
              <a:buChar char="▪"/>
            </a:pPr>
            <a:r>
              <a:rPr lang="en-US" sz="800" dirty="0">
                <a:solidFill>
                  <a:srgbClr val="1B2A24"/>
                </a:solidFill>
                <a:latin typeface="Arial" pitchFamily="34" charset="0"/>
                <a:ea typeface="Arial" pitchFamily="34" charset="-122"/>
                <a:cs typeface="Arial" pitchFamily="34" charset="-120"/>
              </a:rPr>
              <a:t>The architecture rulebook references contexts: boundary-crossing rules, allowed relationships, data classification per context — enforced at 3, 4 and 7</a:t>
            </a:r>
            <a:endParaRPr lang="en-US" sz="800" dirty="0"/>
          </a:p>
          <a:p>
            <a:pPr marL="152400" indent="-152400">
              <a:spcAft>
                <a:spcPts val="400"/>
              </a:spcAft>
              <a:buSzPct val="100000"/>
              <a:buChar char="▪"/>
            </a:pPr>
            <a:r>
              <a:rPr lang="en-US" sz="800" dirty="0">
                <a:solidFill>
                  <a:srgbClr val="1B2A24"/>
                </a:solidFill>
                <a:latin typeface="Arial" pitchFamily="34" charset="0"/>
                <a:ea typeface="Arial" pitchFamily="34" charset="-122"/>
                <a:cs typeface="Arial" pitchFamily="34" charset="-120"/>
              </a:rPr>
              <a:t>Corporate distribution: fragments per business line via a fragment registry (charter pattern) + project overlays; installed with the corporate bundle</a:t>
            </a:r>
            <a:endParaRPr lang="en-US" sz="800" dirty="0"/>
          </a:p>
        </p:txBody>
      </p:sp>
      <p:sp>
        <p:nvSpPr>
          <p:cNvPr id="28" name="Shape 26"/>
          <p:cNvSpPr/>
          <p:nvPr/>
        </p:nvSpPr>
        <p:spPr>
          <a:xfrm>
            <a:off x="8503920" y="1645920"/>
            <a:ext cx="3246120" cy="4206240"/>
          </a:xfrm>
          <a:prstGeom prst="roundRect">
            <a:avLst>
              <a:gd name="adj" fmla="val 2254"/>
            </a:avLst>
          </a:prstGeom>
          <a:solidFill>
            <a:srgbClr val="EAF5EE"/>
          </a:solidFill>
          <a:ln w="12700">
            <a:solidFill>
              <a:srgbClr val="EAF5EE"/>
            </a:solidFill>
            <a:prstDash val="solid"/>
          </a:ln>
        </p:spPr>
      </p:sp>
      <p:sp>
        <p:nvSpPr>
          <p:cNvPr id="29" name="Text 27"/>
          <p:cNvSpPr/>
          <p:nvPr/>
        </p:nvSpPr>
        <p:spPr>
          <a:xfrm>
            <a:off x="8613648" y="1755648"/>
            <a:ext cx="3026664" cy="347472"/>
          </a:xfrm>
          <a:prstGeom prst="roundRect">
            <a:avLst>
              <a:gd name="adj" fmla="val 15789"/>
            </a:avLst>
          </a:prstGeom>
          <a:solidFill>
            <a:srgbClr val="0B3F2C"/>
          </a:solidFill>
          <a:ln>
            <a:solidFill>
              <a:srgbClr val="0B3F2C"/>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A0 · domain map guard — status and ownership</a:t>
            </a:r>
            <a:endParaRPr lang="en-US" sz="1000" dirty="0"/>
          </a:p>
        </p:txBody>
      </p:sp>
      <p:sp>
        <p:nvSpPr>
          <p:cNvPr id="30" name="Text 28"/>
          <p:cNvSpPr/>
          <p:nvPr/>
        </p:nvSpPr>
        <p:spPr>
          <a:xfrm>
            <a:off x="8641080" y="2194560"/>
            <a:ext cx="2971800" cy="502920"/>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Owner: </a:t>
            </a:r>
            <a:pPr indent="0" marL="0">
              <a:buNone/>
            </a:pPr>
            <a:r>
              <a:rPr lang="en-US" sz="800" dirty="0">
                <a:solidFill>
                  <a:srgbClr val="1B2A24"/>
                </a:solidFill>
                <a:latin typeface="Arial" pitchFamily="34" charset="0"/>
                <a:ea typeface="Arial" pitchFamily="34" charset="-122"/>
                <a:cs typeface="Arial" pitchFamily="34" charset="-120"/>
              </a:rPr>
              <a:t>lead architect; domain owners co-sign their contexts; the architecture review board approves structural changes.</a:t>
            </a:r>
            <a:endParaRPr lang="en-US" sz="800" dirty="0"/>
          </a:p>
        </p:txBody>
      </p:sp>
      <p:sp>
        <p:nvSpPr>
          <p:cNvPr id="31" name="Text 29"/>
          <p:cNvSpPr/>
          <p:nvPr/>
        </p:nvSpPr>
        <p:spPr>
          <a:xfrm>
            <a:off x="8641080" y="2715768"/>
            <a:ext cx="2971800" cy="457200"/>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Spec Kit today: </a:t>
            </a:r>
            <a:pPr indent="0" marL="0">
              <a:buNone/>
            </a:pPr>
            <a:r>
              <a:rPr lang="en-US" sz="800" dirty="0">
                <a:solidFill>
                  <a:srgbClr val="1B2A24"/>
                </a:solidFill>
                <a:latin typeface="Arial" pitchFamily="34" charset="0"/>
                <a:ea typeface="Arial" pitchFamily="34" charset="-122"/>
                <a:cs typeface="Arial" pitchFamily="34" charset="-120"/>
              </a:rPr>
              <a:t>nothing native — no domain or context concept; the constitution and memory folder are the natural host.</a:t>
            </a:r>
            <a:endParaRPr lang="en-US" sz="800" dirty="0"/>
          </a:p>
        </p:txBody>
      </p:sp>
      <p:sp>
        <p:nvSpPr>
          <p:cNvPr id="32" name="Text 30"/>
          <p:cNvSpPr/>
          <p:nvPr/>
        </p:nvSpPr>
        <p:spPr>
          <a:xfrm>
            <a:off x="8641080" y="3191256"/>
            <a:ext cx="2971800" cy="640080"/>
          </a:xfrm>
          <a:prstGeom prst="rect">
            <a:avLst/>
          </a:prstGeom>
          <a:noFill/>
          <a:ln/>
        </p:spPr>
        <p:txBody>
          <a:bodyPr wrap="square" lIns="0" tIns="0" rIns="0" bIns="0" rtlCol="0" anchor="t"/>
          <a:lstStyle/>
          <a:p>
            <a:pPr indent="0" marL="0">
              <a:buNone/>
            </a:pPr>
            <a:r>
              <a:rPr lang="en-US" sz="800" b="1" dirty="0">
                <a:solidFill>
                  <a:srgbClr val="D28E14"/>
                </a:solidFill>
                <a:latin typeface="Arial" pitchFamily="34" charset="0"/>
                <a:ea typeface="Arial" pitchFamily="34" charset="-122"/>
                <a:cs typeface="Arial" pitchFamily="34" charset="-120"/>
              </a:rPr>
              <a:t>Ecosystem: </a:t>
            </a:r>
            <a:pPr indent="0" marL="0">
              <a:buNone/>
            </a:pPr>
            <a:r>
              <a:rPr lang="en-US" sz="800" dirty="0">
                <a:solidFill>
                  <a:srgbClr val="1B2A24"/>
                </a:solidFill>
                <a:latin typeface="Arial" pitchFamily="34" charset="0"/>
                <a:ea typeface="Arial" pitchFamily="34" charset="-122"/>
                <a:cs typeface="Arial" pitchFamily="34" charset="-120"/>
              </a:rPr>
              <a:t>charter (modular constitutions from fragment registries), memory-loader (loads memory files before commands), mde preset (model-driven, business-analysis focus) — patterns, not the artifact.</a:t>
            </a:r>
            <a:endParaRPr lang="en-US" sz="800" dirty="0"/>
          </a:p>
        </p:txBody>
      </p:sp>
      <p:sp>
        <p:nvSpPr>
          <p:cNvPr id="33" name="Text 31"/>
          <p:cNvSpPr/>
          <p:nvPr/>
        </p:nvSpPr>
        <p:spPr>
          <a:xfrm>
            <a:off x="8613648" y="3913632"/>
            <a:ext cx="3026664" cy="274320"/>
          </a:xfrm>
          <a:prstGeom prst="roundRect">
            <a:avLst>
              <a:gd name="adj" fmla="val 20000"/>
            </a:avLst>
          </a:prstGeom>
          <a:solidFill>
            <a:srgbClr val="B23A32"/>
          </a:solidFill>
          <a:ln>
            <a:solidFill>
              <a:srgbClr val="B23A32"/>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MISSING → to build</a:t>
            </a:r>
            <a:endParaRPr lang="en-US" sz="850" dirty="0"/>
          </a:p>
        </p:txBody>
      </p:sp>
      <p:sp>
        <p:nvSpPr>
          <p:cNvPr id="34" name="Text 32"/>
          <p:cNvSpPr/>
          <p:nvPr/>
        </p:nvSpPr>
        <p:spPr>
          <a:xfrm>
            <a:off x="8641080" y="4261104"/>
            <a:ext cx="2971800" cy="1463040"/>
          </a:xfrm>
          <a:prstGeom prst="rect">
            <a:avLst/>
          </a:prstGeom>
          <a:noFill/>
          <a:ln/>
        </p:spPr>
        <p:txBody>
          <a:bodyPr wrap="square" lIns="0" tIns="0" rIns="0" bIns="0" rtlCol="0" anchor="t"/>
          <a:lstStyle/>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Domain master design artifact set (map, context map, glossary, owners) with versioning</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Constitution clause + before_* hook that verifies the pinned domain-map version</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Feature-to-context assignment check (no orphan features)</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Change control — see next slide</a:t>
            </a:r>
            <a:endParaRPr lang="en-US" sz="800" dirty="0"/>
          </a:p>
        </p:txBody>
      </p:sp>
      <p:sp>
        <p:nvSpPr>
          <p:cNvPr id="35" name="Text 33"/>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10515600" cy="45720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Step 0 · Domain change control</a:t>
            </a:r>
            <a:endParaRPr lang="en-US" sz="2400" dirty="0"/>
          </a:p>
        </p:txBody>
      </p:sp>
      <p:sp>
        <p:nvSpPr>
          <p:cNvPr id="3" name="Text 1"/>
          <p:cNvSpPr/>
          <p:nvPr/>
        </p:nvSpPr>
        <p:spPr>
          <a:xfrm>
            <a:off x="457200" y="749808"/>
            <a:ext cx="11247120" cy="502920"/>
          </a:xfrm>
          <a:prstGeom prst="rect">
            <a:avLst/>
          </a:prstGeom>
          <a:noFill/>
          <a:ln/>
        </p:spPr>
        <p:txBody>
          <a:bodyPr wrap="square" lIns="0" tIns="0" rIns="0" bIns="0" rtlCol="0" anchor="t"/>
          <a:lstStyle/>
          <a:p>
            <a:pPr indent="0" marL="0">
              <a:buNone/>
            </a:pPr>
            <a:r>
              <a:rPr lang="en-US" sz="1100" b="1" dirty="0">
                <a:solidFill>
                  <a:srgbClr val="0E6B45"/>
                </a:solidFill>
                <a:latin typeface="Arial" pitchFamily="34" charset="0"/>
                <a:ea typeface="Arial" pitchFamily="34" charset="-122"/>
                <a:cs typeface="Arial" pitchFamily="34" charset="-120"/>
              </a:rPr>
              <a:t>“What happens when we change the domains?” — a domain change is an architecture change: classified, impact-analysed on the trace graph, decided by named people, recorded as an ADR, and it re-validates every specification that depends on the changed context.</a:t>
            </a:r>
            <a:endParaRPr lang="en-US" sz="1100" dirty="0"/>
          </a:p>
        </p:txBody>
      </p:sp>
      <p:sp>
        <p:nvSpPr>
          <p:cNvPr id="4" name="Shape 2"/>
          <p:cNvSpPr/>
          <p:nvPr/>
        </p:nvSpPr>
        <p:spPr>
          <a:xfrm>
            <a:off x="457200" y="1371600"/>
            <a:ext cx="1691640" cy="868680"/>
          </a:xfrm>
          <a:prstGeom prst="roundRect">
            <a:avLst>
              <a:gd name="adj" fmla="val 6316"/>
            </a:avLst>
          </a:prstGeom>
          <a:solidFill>
            <a:srgbClr val="EAF5EE"/>
          </a:solidFill>
          <a:ln w="12700">
            <a:solidFill>
              <a:srgbClr val="CFE9DA"/>
            </a:solidFill>
            <a:prstDash val="solid"/>
          </a:ln>
        </p:spPr>
      </p:sp>
      <p:sp>
        <p:nvSpPr>
          <p:cNvPr id="5" name="Text 3"/>
          <p:cNvSpPr/>
          <p:nvPr/>
        </p:nvSpPr>
        <p:spPr>
          <a:xfrm>
            <a:off x="512064" y="1417320"/>
            <a:ext cx="1581912" cy="777240"/>
          </a:xfrm>
          <a:prstGeom prst="rect">
            <a:avLst/>
          </a:prstGeom>
          <a:noFill/>
          <a:ln/>
        </p:spPr>
        <p:txBody>
          <a:bodyPr wrap="square" lIns="0" tIns="0" rIns="0" bIns="0" rtlCol="0" anchor="ctr"/>
          <a:lstStyle/>
          <a:p>
            <a:pPr algn="ctr" indent="0" marL="0">
              <a:buNone/>
            </a:pPr>
            <a:r>
              <a:rPr lang="en-US" sz="800" dirty="0">
                <a:solidFill>
                  <a:srgbClr val="1B2A24"/>
                </a:solidFill>
                <a:latin typeface="Arial" pitchFamily="34" charset="0"/>
                <a:ea typeface="Arial" pitchFamily="34" charset="-122"/>
                <a:cs typeface="Arial" pitchFamily="34" charset="-120"/>
              </a:rPr>
              <a:t>Change request</a:t>
            </a:r>
            <a:endParaRPr lang="en-US" sz="800" dirty="0"/>
          </a:p>
          <a:p>
            <a:pPr algn="ctr" indent="0" marL="0">
              <a:buNone/>
            </a:pPr>
            <a:r>
              <a:rPr lang="en-US" sz="800" dirty="0">
                <a:solidFill>
                  <a:srgbClr val="1B2A24"/>
                </a:solidFill>
                <a:latin typeface="Arial" pitchFamily="34" charset="0"/>
                <a:ea typeface="Arial" pitchFamily="34" charset="-122"/>
                <a:cs typeface="Arial" pitchFamily="34" charset="-120"/>
              </a:rPr>
              <a:t>business · Assessor finding ·</a:t>
            </a:r>
            <a:endParaRPr lang="en-US" sz="800" dirty="0"/>
          </a:p>
          <a:p>
            <a:pPr algn="ctr" indent="0" marL="0">
              <a:buNone/>
            </a:pPr>
            <a:r>
              <a:rPr lang="en-US" sz="800" dirty="0">
                <a:solidFill>
                  <a:srgbClr val="1B2A24"/>
                </a:solidFill>
                <a:latin typeface="Arial" pitchFamily="34" charset="0"/>
                <a:ea typeface="Arial" pitchFamily="34" charset="-122"/>
                <a:cs typeface="Arial" pitchFamily="34" charset="-120"/>
              </a:rPr>
              <a:t>architect</a:t>
            </a:r>
            <a:endParaRPr lang="en-US" sz="800" dirty="0"/>
          </a:p>
        </p:txBody>
      </p:sp>
      <p:sp>
        <p:nvSpPr>
          <p:cNvPr id="6" name="Shape 4"/>
          <p:cNvSpPr/>
          <p:nvPr/>
        </p:nvSpPr>
        <p:spPr>
          <a:xfrm>
            <a:off x="2176272" y="1805940"/>
            <a:ext cx="164592" cy="0"/>
          </a:xfrm>
          <a:prstGeom prst="line">
            <a:avLst/>
          </a:prstGeom>
          <a:noFill/>
          <a:ln w="15875">
            <a:solidFill>
              <a:srgbClr val="0E6B45"/>
            </a:solidFill>
            <a:prstDash val="solid"/>
            <a:tailEnd type="triangle"/>
          </a:ln>
        </p:spPr>
      </p:sp>
      <p:sp>
        <p:nvSpPr>
          <p:cNvPr id="7" name="Shape 5"/>
          <p:cNvSpPr/>
          <p:nvPr/>
        </p:nvSpPr>
        <p:spPr>
          <a:xfrm>
            <a:off x="2368296" y="1371600"/>
            <a:ext cx="1691640" cy="868680"/>
          </a:xfrm>
          <a:prstGeom prst="roundRect">
            <a:avLst>
              <a:gd name="adj" fmla="val 6316"/>
            </a:avLst>
          </a:prstGeom>
          <a:solidFill>
            <a:srgbClr val="EAF5EE"/>
          </a:solidFill>
          <a:ln w="12700">
            <a:solidFill>
              <a:srgbClr val="CFE9DA"/>
            </a:solidFill>
            <a:prstDash val="solid"/>
          </a:ln>
        </p:spPr>
      </p:sp>
      <p:sp>
        <p:nvSpPr>
          <p:cNvPr id="8" name="Text 6"/>
          <p:cNvSpPr/>
          <p:nvPr/>
        </p:nvSpPr>
        <p:spPr>
          <a:xfrm>
            <a:off x="2423160" y="1417320"/>
            <a:ext cx="1581912" cy="777240"/>
          </a:xfrm>
          <a:prstGeom prst="rect">
            <a:avLst/>
          </a:prstGeom>
          <a:noFill/>
          <a:ln/>
        </p:spPr>
        <p:txBody>
          <a:bodyPr wrap="square" lIns="0" tIns="0" rIns="0" bIns="0" rtlCol="0" anchor="ctr"/>
          <a:lstStyle/>
          <a:p>
            <a:pPr algn="ctr" indent="0" marL="0">
              <a:buNone/>
            </a:pPr>
            <a:r>
              <a:rPr lang="en-US" sz="800" dirty="0">
                <a:solidFill>
                  <a:srgbClr val="1B2A24"/>
                </a:solidFill>
                <a:latin typeface="Arial" pitchFamily="34" charset="0"/>
                <a:ea typeface="Arial" pitchFamily="34" charset="-122"/>
                <a:cs typeface="Arial" pitchFamily="34" charset="-120"/>
              </a:rPr>
              <a:t>Impact analysis</a:t>
            </a:r>
            <a:endParaRPr lang="en-US" sz="800" dirty="0"/>
          </a:p>
          <a:p>
            <a:pPr algn="ctr" indent="0" marL="0">
              <a:buNone/>
            </a:pPr>
            <a:r>
              <a:rPr lang="en-US" sz="800" dirty="0">
                <a:solidFill>
                  <a:srgbClr val="1B2A24"/>
                </a:solidFill>
                <a:latin typeface="Arial" pitchFamily="34" charset="0"/>
                <a:ea typeface="Arial" pitchFamily="34" charset="-122"/>
                <a:cs typeface="Arial" pitchFamily="34" charset="-120"/>
              </a:rPr>
              <a:t>trace graph: specs, features,</a:t>
            </a:r>
            <a:endParaRPr lang="en-US" sz="800" dirty="0"/>
          </a:p>
          <a:p>
            <a:pPr algn="ctr" indent="0" marL="0">
              <a:buNone/>
            </a:pPr>
            <a:r>
              <a:rPr lang="en-US" sz="800" dirty="0">
                <a:solidFill>
                  <a:srgbClr val="1B2A24"/>
                </a:solidFill>
                <a:latin typeface="Arial" pitchFamily="34" charset="0"/>
                <a:ea typeface="Arial" pitchFamily="34" charset="-122"/>
                <a:cs typeface="Arial" pitchFamily="34" charset="-120"/>
              </a:rPr>
              <a:t>contracts, services touched</a:t>
            </a:r>
            <a:endParaRPr lang="en-US" sz="800" dirty="0"/>
          </a:p>
        </p:txBody>
      </p:sp>
      <p:sp>
        <p:nvSpPr>
          <p:cNvPr id="9" name="Shape 7"/>
          <p:cNvSpPr/>
          <p:nvPr/>
        </p:nvSpPr>
        <p:spPr>
          <a:xfrm>
            <a:off x="4087368" y="1805940"/>
            <a:ext cx="164592" cy="0"/>
          </a:xfrm>
          <a:prstGeom prst="line">
            <a:avLst/>
          </a:prstGeom>
          <a:noFill/>
          <a:ln w="15875">
            <a:solidFill>
              <a:srgbClr val="0E6B45"/>
            </a:solidFill>
            <a:prstDash val="solid"/>
            <a:tailEnd type="triangle"/>
          </a:ln>
        </p:spPr>
      </p:sp>
      <p:sp>
        <p:nvSpPr>
          <p:cNvPr id="10" name="Shape 8"/>
          <p:cNvSpPr/>
          <p:nvPr/>
        </p:nvSpPr>
        <p:spPr>
          <a:xfrm>
            <a:off x="4279392" y="1371600"/>
            <a:ext cx="1691640" cy="868680"/>
          </a:xfrm>
          <a:prstGeom prst="roundRect">
            <a:avLst>
              <a:gd name="adj" fmla="val 6316"/>
            </a:avLst>
          </a:prstGeom>
          <a:solidFill>
            <a:srgbClr val="EAF5EE"/>
          </a:solidFill>
          <a:ln w="12700">
            <a:solidFill>
              <a:srgbClr val="CFE9DA"/>
            </a:solidFill>
            <a:prstDash val="solid"/>
          </a:ln>
        </p:spPr>
      </p:sp>
      <p:sp>
        <p:nvSpPr>
          <p:cNvPr id="11" name="Text 9"/>
          <p:cNvSpPr/>
          <p:nvPr/>
        </p:nvSpPr>
        <p:spPr>
          <a:xfrm>
            <a:off x="4334256" y="1417320"/>
            <a:ext cx="1581912" cy="777240"/>
          </a:xfrm>
          <a:prstGeom prst="rect">
            <a:avLst/>
          </a:prstGeom>
          <a:noFill/>
          <a:ln/>
        </p:spPr>
        <p:txBody>
          <a:bodyPr wrap="square" lIns="0" tIns="0" rIns="0" bIns="0" rtlCol="0" anchor="ctr"/>
          <a:lstStyle/>
          <a:p>
            <a:pPr algn="ctr" indent="0" marL="0">
              <a:buNone/>
            </a:pPr>
            <a:r>
              <a:rPr lang="en-US" sz="800" dirty="0">
                <a:solidFill>
                  <a:srgbClr val="1B2A24"/>
                </a:solidFill>
                <a:latin typeface="Arial" pitchFamily="34" charset="0"/>
                <a:ea typeface="Arial" pitchFamily="34" charset="-122"/>
                <a:cs typeface="Arial" pitchFamily="34" charset="-120"/>
              </a:rPr>
              <a:t>Classify</a:t>
            </a:r>
            <a:endParaRPr lang="en-US" sz="800" dirty="0"/>
          </a:p>
          <a:p>
            <a:pPr algn="ctr" indent="0" marL="0">
              <a:buNone/>
            </a:pPr>
            <a:r>
              <a:rPr lang="en-US" sz="800" dirty="0">
                <a:solidFill>
                  <a:srgbClr val="1B2A24"/>
                </a:solidFill>
                <a:latin typeface="Arial" pitchFamily="34" charset="0"/>
                <a:ea typeface="Arial" pitchFamily="34" charset="-122"/>
                <a:cs typeface="Arial" pitchFamily="34" charset="-120"/>
              </a:rPr>
              <a:t>patch · re-enter Design ·</a:t>
            </a:r>
            <a:endParaRPr lang="en-US" sz="800" dirty="0"/>
          </a:p>
          <a:p>
            <a:pPr algn="ctr" indent="0" marL="0">
              <a:buNone/>
            </a:pPr>
            <a:r>
              <a:rPr lang="en-US" sz="800" dirty="0">
                <a:solidFill>
                  <a:srgbClr val="1B2A24"/>
                </a:solidFill>
                <a:latin typeface="Arial" pitchFamily="34" charset="0"/>
                <a:ea typeface="Arial" pitchFamily="34" charset="-122"/>
                <a:cs typeface="Arial" pitchFamily="34" charset="-120"/>
              </a:rPr>
              <a:t>new iteration</a:t>
            </a:r>
            <a:endParaRPr lang="en-US" sz="800" dirty="0"/>
          </a:p>
        </p:txBody>
      </p:sp>
      <p:sp>
        <p:nvSpPr>
          <p:cNvPr id="12" name="Shape 10"/>
          <p:cNvSpPr/>
          <p:nvPr/>
        </p:nvSpPr>
        <p:spPr>
          <a:xfrm>
            <a:off x="5998464" y="1805940"/>
            <a:ext cx="164592" cy="0"/>
          </a:xfrm>
          <a:prstGeom prst="line">
            <a:avLst/>
          </a:prstGeom>
          <a:noFill/>
          <a:ln w="15875">
            <a:solidFill>
              <a:srgbClr val="0E6B45"/>
            </a:solidFill>
            <a:prstDash val="solid"/>
            <a:tailEnd type="triangle"/>
          </a:ln>
        </p:spPr>
      </p:sp>
      <p:sp>
        <p:nvSpPr>
          <p:cNvPr id="13" name="Shape 11"/>
          <p:cNvSpPr/>
          <p:nvPr/>
        </p:nvSpPr>
        <p:spPr>
          <a:xfrm>
            <a:off x="6190488" y="1371600"/>
            <a:ext cx="1691640" cy="868680"/>
          </a:xfrm>
          <a:prstGeom prst="roundRect">
            <a:avLst>
              <a:gd name="adj" fmla="val 6316"/>
            </a:avLst>
          </a:prstGeom>
          <a:solidFill>
            <a:srgbClr val="0B3F2C"/>
          </a:solidFill>
          <a:ln w="12700">
            <a:solidFill>
              <a:srgbClr val="0B3F2C"/>
            </a:solidFill>
            <a:prstDash val="solid"/>
          </a:ln>
        </p:spPr>
      </p:sp>
      <p:sp>
        <p:nvSpPr>
          <p:cNvPr id="14" name="Text 12"/>
          <p:cNvSpPr/>
          <p:nvPr/>
        </p:nvSpPr>
        <p:spPr>
          <a:xfrm>
            <a:off x="6245352" y="1417320"/>
            <a:ext cx="1581912" cy="77724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Decide</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lead architect + domain owner</a:t>
            </a:r>
            <a:endParaRPr lang="en-US" sz="800" dirty="0"/>
          </a:p>
          <a:p>
            <a:pPr algn="ctr" indent="0" marL="0">
              <a:buNone/>
            </a:pPr>
            <a:r>
              <a:rPr lang="en-US" sz="800" b="1" dirty="0">
                <a:solidFill>
                  <a:srgbClr val="FFFFFF"/>
                </a:solidFill>
                <a:latin typeface="Arial" pitchFamily="34" charset="0"/>
                <a:ea typeface="Arial" pitchFamily="34" charset="-122"/>
                <a:cs typeface="Arial" pitchFamily="34" charset="-120"/>
              </a:rPr>
              <a:t>(board for structural)</a:t>
            </a:r>
            <a:endParaRPr lang="en-US" sz="800" dirty="0"/>
          </a:p>
        </p:txBody>
      </p:sp>
      <p:sp>
        <p:nvSpPr>
          <p:cNvPr id="15" name="Shape 13"/>
          <p:cNvSpPr/>
          <p:nvPr/>
        </p:nvSpPr>
        <p:spPr>
          <a:xfrm>
            <a:off x="7909560" y="1805940"/>
            <a:ext cx="164592" cy="0"/>
          </a:xfrm>
          <a:prstGeom prst="line">
            <a:avLst/>
          </a:prstGeom>
          <a:noFill/>
          <a:ln w="15875">
            <a:solidFill>
              <a:srgbClr val="0E6B45"/>
            </a:solidFill>
            <a:prstDash val="solid"/>
            <a:tailEnd type="triangle"/>
          </a:ln>
        </p:spPr>
      </p:sp>
      <p:sp>
        <p:nvSpPr>
          <p:cNvPr id="16" name="Shape 14"/>
          <p:cNvSpPr/>
          <p:nvPr/>
        </p:nvSpPr>
        <p:spPr>
          <a:xfrm>
            <a:off x="8101584" y="1371600"/>
            <a:ext cx="1691640" cy="868680"/>
          </a:xfrm>
          <a:prstGeom prst="roundRect">
            <a:avLst>
              <a:gd name="adj" fmla="val 6316"/>
            </a:avLst>
          </a:prstGeom>
          <a:solidFill>
            <a:srgbClr val="EAF5EE"/>
          </a:solidFill>
          <a:ln w="12700">
            <a:solidFill>
              <a:srgbClr val="CFE9DA"/>
            </a:solidFill>
            <a:prstDash val="solid"/>
          </a:ln>
        </p:spPr>
      </p:sp>
      <p:sp>
        <p:nvSpPr>
          <p:cNvPr id="17" name="Text 15"/>
          <p:cNvSpPr/>
          <p:nvPr/>
        </p:nvSpPr>
        <p:spPr>
          <a:xfrm>
            <a:off x="8156448" y="1417320"/>
            <a:ext cx="1581912" cy="777240"/>
          </a:xfrm>
          <a:prstGeom prst="rect">
            <a:avLst/>
          </a:prstGeom>
          <a:noFill/>
          <a:ln/>
        </p:spPr>
        <p:txBody>
          <a:bodyPr wrap="square" lIns="0" tIns="0" rIns="0" bIns="0" rtlCol="0" anchor="ctr"/>
          <a:lstStyle/>
          <a:p>
            <a:pPr algn="ctr" indent="0" marL="0">
              <a:buNone/>
            </a:pPr>
            <a:r>
              <a:rPr lang="en-US" sz="800" dirty="0">
                <a:solidFill>
                  <a:srgbClr val="1B2A24"/>
                </a:solidFill>
                <a:latin typeface="Arial" pitchFamily="34" charset="0"/>
                <a:ea typeface="Arial" pitchFamily="34" charset="-122"/>
                <a:cs typeface="Arial" pitchFamily="34" charset="-120"/>
              </a:rPr>
              <a:t>Record + re-validate</a:t>
            </a:r>
            <a:endParaRPr lang="en-US" sz="800" dirty="0"/>
          </a:p>
          <a:p>
            <a:pPr algn="ctr" indent="0" marL="0">
              <a:buNone/>
            </a:pPr>
            <a:r>
              <a:rPr lang="en-US" sz="800" dirty="0">
                <a:solidFill>
                  <a:srgbClr val="1B2A24"/>
                </a:solidFill>
                <a:latin typeface="Arial" pitchFamily="34" charset="0"/>
                <a:ea typeface="Arial" pitchFamily="34" charset="-122"/>
                <a:cs typeface="Arial" pitchFamily="34" charset="-120"/>
              </a:rPr>
              <a:t>ADR · new map version ·</a:t>
            </a:r>
            <a:endParaRPr lang="en-US" sz="800" dirty="0"/>
          </a:p>
          <a:p>
            <a:pPr algn="ctr" indent="0" marL="0">
              <a:buNone/>
            </a:pPr>
            <a:r>
              <a:rPr lang="en-US" sz="800" dirty="0">
                <a:solidFill>
                  <a:srgbClr val="1B2A24"/>
                </a:solidFill>
                <a:latin typeface="Arial" pitchFamily="34" charset="0"/>
                <a:ea typeface="Arial" pitchFamily="34" charset="-122"/>
                <a:cs typeface="Arial" pitchFamily="34" charset="-120"/>
              </a:rPr>
              <a:t>affected specs re-checked</a:t>
            </a:r>
            <a:endParaRPr lang="en-US" sz="800" dirty="0"/>
          </a:p>
        </p:txBody>
      </p:sp>
      <p:sp>
        <p:nvSpPr>
          <p:cNvPr id="18" name="Shape 16"/>
          <p:cNvSpPr/>
          <p:nvPr/>
        </p:nvSpPr>
        <p:spPr>
          <a:xfrm>
            <a:off x="9820656" y="1805940"/>
            <a:ext cx="164592" cy="0"/>
          </a:xfrm>
          <a:prstGeom prst="line">
            <a:avLst/>
          </a:prstGeom>
          <a:noFill/>
          <a:ln w="15875">
            <a:solidFill>
              <a:srgbClr val="0E6B45"/>
            </a:solidFill>
            <a:prstDash val="solid"/>
            <a:tailEnd type="triangle"/>
          </a:ln>
        </p:spPr>
      </p:sp>
      <p:sp>
        <p:nvSpPr>
          <p:cNvPr id="19" name="Shape 17"/>
          <p:cNvSpPr/>
          <p:nvPr/>
        </p:nvSpPr>
        <p:spPr>
          <a:xfrm>
            <a:off x="10012680" y="1371600"/>
            <a:ext cx="1691640" cy="868680"/>
          </a:xfrm>
          <a:prstGeom prst="roundRect">
            <a:avLst>
              <a:gd name="adj" fmla="val 6316"/>
            </a:avLst>
          </a:prstGeom>
          <a:solidFill>
            <a:srgbClr val="0E6B45"/>
          </a:solidFill>
          <a:ln w="12700">
            <a:solidFill>
              <a:srgbClr val="0E6B45"/>
            </a:solidFill>
            <a:prstDash val="solid"/>
          </a:ln>
        </p:spPr>
      </p:sp>
      <p:sp>
        <p:nvSpPr>
          <p:cNvPr id="20" name="Text 18"/>
          <p:cNvSpPr/>
          <p:nvPr/>
        </p:nvSpPr>
        <p:spPr>
          <a:xfrm>
            <a:off x="10067544" y="1417320"/>
            <a:ext cx="1581912" cy="777240"/>
          </a:xfrm>
          <a:prstGeom prst="rect">
            <a:avLst/>
          </a:prstGeom>
          <a:noFill/>
          <a:ln/>
        </p:spPr>
        <p:txBody>
          <a:bodyPr wrap="square" lIns="0" tIns="0" rIns="0" bIns="0" rtlCol="0" anchor="ctr"/>
          <a:lstStyle/>
          <a:p>
            <a:pPr algn="ctr" indent="0" marL="0">
              <a:buNone/>
            </a:pPr>
            <a:r>
              <a:rPr lang="en-US" sz="800" dirty="0">
                <a:solidFill>
                  <a:srgbClr val="FFFFFF"/>
                </a:solidFill>
                <a:latin typeface="Arial" pitchFamily="34" charset="0"/>
                <a:ea typeface="Arial" pitchFamily="34" charset="-122"/>
                <a:cs typeface="Arial" pitchFamily="34" charset="-120"/>
              </a:rPr>
              <a:t>Schedule</a:t>
            </a:r>
            <a:endParaRPr lang="en-US" sz="800" dirty="0"/>
          </a:p>
          <a:p>
            <a:pPr algn="ctr" indent="0" marL="0">
              <a:buNone/>
            </a:pPr>
            <a:r>
              <a:rPr lang="en-US" sz="800" dirty="0">
                <a:solidFill>
                  <a:srgbClr val="FFFFFF"/>
                </a:solidFill>
                <a:latin typeface="Arial" pitchFamily="34" charset="0"/>
                <a:ea typeface="Arial" pitchFamily="34" charset="-122"/>
                <a:cs typeface="Arial" pitchFamily="34" charset="-120"/>
              </a:rPr>
              <a:t>in Plan (Step 2)</a:t>
            </a:r>
            <a:endParaRPr lang="en-US" sz="800" dirty="0"/>
          </a:p>
        </p:txBody>
      </p:sp>
      <p:sp>
        <p:nvSpPr>
          <p:cNvPr id="21" name="Text 19"/>
          <p:cNvSpPr/>
          <p:nvPr/>
        </p:nvSpPr>
        <p:spPr>
          <a:xfrm>
            <a:off x="457200" y="2468880"/>
            <a:ext cx="73152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Three change classes — and what each one triggers</a:t>
            </a:r>
            <a:endParaRPr lang="en-US" sz="950" dirty="0"/>
          </a:p>
        </p:txBody>
      </p:sp>
      <p:sp>
        <p:nvSpPr>
          <p:cNvPr id="22" name="Shape 20"/>
          <p:cNvSpPr/>
          <p:nvPr/>
        </p:nvSpPr>
        <p:spPr>
          <a:xfrm>
            <a:off x="457200" y="2743200"/>
            <a:ext cx="2468880" cy="1691640"/>
          </a:xfrm>
          <a:prstGeom prst="roundRect">
            <a:avLst>
              <a:gd name="adj" fmla="val 3243"/>
            </a:avLst>
          </a:prstGeom>
          <a:solidFill>
            <a:srgbClr val="FFFFFF"/>
          </a:solidFill>
          <a:ln w="9525">
            <a:solidFill>
              <a:srgbClr val="E9ECEA"/>
            </a:solidFill>
            <a:prstDash val="solid"/>
          </a:ln>
        </p:spPr>
      </p:sp>
      <p:sp>
        <p:nvSpPr>
          <p:cNvPr id="23" name="Text 21"/>
          <p:cNvSpPr/>
          <p:nvPr/>
        </p:nvSpPr>
        <p:spPr>
          <a:xfrm>
            <a:off x="566928" y="2852928"/>
            <a:ext cx="1097280" cy="219456"/>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Patch</a:t>
            </a:r>
            <a:endParaRPr lang="en-US" sz="800" dirty="0"/>
          </a:p>
        </p:txBody>
      </p:sp>
      <p:sp>
        <p:nvSpPr>
          <p:cNvPr id="24" name="Text 22"/>
          <p:cNvSpPr/>
          <p:nvPr/>
        </p:nvSpPr>
        <p:spPr>
          <a:xfrm>
            <a:off x="566928" y="3163824"/>
            <a:ext cx="2249424" cy="502920"/>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Example: </a:t>
            </a:r>
            <a:pPr indent="0" marL="0">
              <a:buNone/>
            </a:pPr>
            <a:r>
              <a:rPr lang="en-US" sz="800" dirty="0">
                <a:solidFill>
                  <a:srgbClr val="1B2A24"/>
                </a:solidFill>
                <a:latin typeface="Arial" pitchFamily="34" charset="0"/>
                <a:ea typeface="Arial" pitchFamily="34" charset="-122"/>
                <a:cs typeface="Arial" pitchFamily="34" charset="-120"/>
              </a:rPr>
              <a:t>glossary term, rename, description</a:t>
            </a:r>
            <a:endParaRPr lang="en-US" sz="800" dirty="0"/>
          </a:p>
        </p:txBody>
      </p:sp>
      <p:sp>
        <p:nvSpPr>
          <p:cNvPr id="25" name="Text 23"/>
          <p:cNvSpPr/>
          <p:nvPr/>
        </p:nvSpPr>
        <p:spPr>
          <a:xfrm>
            <a:off x="566928" y="3675888"/>
            <a:ext cx="2249424" cy="731520"/>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Triggers: </a:t>
            </a:r>
            <a:pPr indent="0" marL="0">
              <a:buNone/>
            </a:pPr>
            <a:r>
              <a:rPr lang="en-US" sz="800" dirty="0">
                <a:solidFill>
                  <a:srgbClr val="1B2A24"/>
                </a:solidFill>
                <a:latin typeface="Arial" pitchFamily="34" charset="0"/>
                <a:ea typeface="Arial" pitchFamily="34" charset="-122"/>
                <a:cs typeface="Arial" pitchFamily="34" charset="-120"/>
              </a:rPr>
              <a:t>new map version; affected specs re-validated automatically (glossary guard); no re-loop</a:t>
            </a:r>
            <a:endParaRPr lang="en-US" sz="800" dirty="0"/>
          </a:p>
        </p:txBody>
      </p:sp>
      <p:sp>
        <p:nvSpPr>
          <p:cNvPr id="26" name="Shape 24"/>
          <p:cNvSpPr/>
          <p:nvPr/>
        </p:nvSpPr>
        <p:spPr>
          <a:xfrm>
            <a:off x="3063240" y="2743200"/>
            <a:ext cx="2468880" cy="1691640"/>
          </a:xfrm>
          <a:prstGeom prst="roundRect">
            <a:avLst>
              <a:gd name="adj" fmla="val 3243"/>
            </a:avLst>
          </a:prstGeom>
          <a:solidFill>
            <a:srgbClr val="FFFFFF"/>
          </a:solidFill>
          <a:ln w="9525">
            <a:solidFill>
              <a:srgbClr val="E9ECEA"/>
            </a:solidFill>
            <a:prstDash val="solid"/>
          </a:ln>
        </p:spPr>
      </p:sp>
      <p:sp>
        <p:nvSpPr>
          <p:cNvPr id="27" name="Text 25"/>
          <p:cNvSpPr/>
          <p:nvPr/>
        </p:nvSpPr>
        <p:spPr>
          <a:xfrm>
            <a:off x="3172968" y="2852928"/>
            <a:ext cx="1097280" cy="219456"/>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Restructure</a:t>
            </a:r>
            <a:endParaRPr lang="en-US" sz="800" dirty="0"/>
          </a:p>
        </p:txBody>
      </p:sp>
      <p:sp>
        <p:nvSpPr>
          <p:cNvPr id="28" name="Text 26"/>
          <p:cNvSpPr/>
          <p:nvPr/>
        </p:nvSpPr>
        <p:spPr>
          <a:xfrm>
            <a:off x="3172968" y="3163824"/>
            <a:ext cx="2249424" cy="502920"/>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Example: </a:t>
            </a:r>
            <a:pPr indent="0" marL="0">
              <a:buNone/>
            </a:pPr>
            <a:r>
              <a:rPr lang="en-US" sz="800" dirty="0">
                <a:solidFill>
                  <a:srgbClr val="1B2A24"/>
                </a:solidFill>
                <a:latin typeface="Arial" pitchFamily="34" charset="0"/>
                <a:ea typeface="Arial" pitchFamily="34" charset="-122"/>
                <a:cs typeface="Arial" pitchFamily="34" charset="-120"/>
              </a:rPr>
              <a:t>split / merge a context, move a capability, change a relationship in the context map</a:t>
            </a:r>
            <a:endParaRPr lang="en-US" sz="800" dirty="0"/>
          </a:p>
        </p:txBody>
      </p:sp>
      <p:sp>
        <p:nvSpPr>
          <p:cNvPr id="29" name="Text 27"/>
          <p:cNvSpPr/>
          <p:nvPr/>
        </p:nvSpPr>
        <p:spPr>
          <a:xfrm>
            <a:off x="3172968" y="3675888"/>
            <a:ext cx="2249424" cy="731520"/>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Triggers: </a:t>
            </a:r>
            <a:pPr indent="0" marL="0">
              <a:buNone/>
            </a:pPr>
            <a:r>
              <a:rPr lang="en-US" sz="800" dirty="0">
                <a:solidFill>
                  <a:srgbClr val="1B2A24"/>
                </a:solidFill>
                <a:latin typeface="Arial" pitchFamily="34" charset="0"/>
                <a:ea typeface="Arial" pitchFamily="34" charset="-122"/>
                <a:cs typeface="Arial" pitchFamily="34" charset="-120"/>
              </a:rPr>
              <a:t>affected features re-enter Design (Step 3): handover re-run, plan conformance re-checked; owners re-confirmed; ADR</a:t>
            </a:r>
            <a:endParaRPr lang="en-US" sz="800" dirty="0"/>
          </a:p>
        </p:txBody>
      </p:sp>
      <p:sp>
        <p:nvSpPr>
          <p:cNvPr id="30" name="Shape 28"/>
          <p:cNvSpPr/>
          <p:nvPr/>
        </p:nvSpPr>
        <p:spPr>
          <a:xfrm>
            <a:off x="5669280" y="2743200"/>
            <a:ext cx="2468880" cy="1691640"/>
          </a:xfrm>
          <a:prstGeom prst="roundRect">
            <a:avLst>
              <a:gd name="adj" fmla="val 3243"/>
            </a:avLst>
          </a:prstGeom>
          <a:solidFill>
            <a:srgbClr val="FFFFFF"/>
          </a:solidFill>
          <a:ln w="9525">
            <a:solidFill>
              <a:srgbClr val="E9ECEA"/>
            </a:solidFill>
            <a:prstDash val="solid"/>
          </a:ln>
        </p:spPr>
      </p:sp>
      <p:sp>
        <p:nvSpPr>
          <p:cNvPr id="31" name="Text 29"/>
          <p:cNvSpPr/>
          <p:nvPr/>
        </p:nvSpPr>
        <p:spPr>
          <a:xfrm>
            <a:off x="5779008" y="2852928"/>
            <a:ext cx="1097280" cy="219456"/>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New core domain</a:t>
            </a:r>
            <a:endParaRPr lang="en-US" sz="800" dirty="0"/>
          </a:p>
        </p:txBody>
      </p:sp>
      <p:sp>
        <p:nvSpPr>
          <p:cNvPr id="32" name="Text 30"/>
          <p:cNvSpPr/>
          <p:nvPr/>
        </p:nvSpPr>
        <p:spPr>
          <a:xfrm>
            <a:off x="5779008" y="3163824"/>
            <a:ext cx="2249424" cy="502920"/>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Example: </a:t>
            </a:r>
            <a:pPr indent="0" marL="0">
              <a:buNone/>
            </a:pPr>
            <a:r>
              <a:rPr lang="en-US" sz="800" dirty="0">
                <a:solidFill>
                  <a:srgbClr val="1B2A24"/>
                </a:solidFill>
                <a:latin typeface="Arial" pitchFamily="34" charset="0"/>
                <a:ea typeface="Arial" pitchFamily="34" charset="-122"/>
                <a:cs typeface="Arial" pitchFamily="34" charset="-120"/>
              </a:rPr>
              <a:t>a new bounded context or a change of core / supporting classification</a:t>
            </a:r>
            <a:endParaRPr lang="en-US" sz="800" dirty="0"/>
          </a:p>
        </p:txBody>
      </p:sp>
      <p:sp>
        <p:nvSpPr>
          <p:cNvPr id="33" name="Text 31"/>
          <p:cNvSpPr/>
          <p:nvPr/>
        </p:nvSpPr>
        <p:spPr>
          <a:xfrm>
            <a:off x="5779008" y="3675888"/>
            <a:ext cx="2249424" cy="731520"/>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Triggers: </a:t>
            </a:r>
            <a:pPr indent="0" marL="0">
              <a:buNone/>
            </a:pPr>
            <a:r>
              <a:rPr lang="en-US" sz="800" dirty="0">
                <a:solidFill>
                  <a:srgbClr val="1B2A24"/>
                </a:solidFill>
                <a:latin typeface="Arial" pitchFamily="34" charset="0"/>
                <a:ea typeface="Arial" pitchFamily="34" charset="-122"/>
                <a:cs typeface="Arial" pitchFamily="34" charset="-120"/>
              </a:rPr>
              <a:t>a new iteration is scoped in Plan (Step 2); requirements re-assigned; architecture rulebook updated</a:t>
            </a:r>
            <a:endParaRPr lang="en-US" sz="800" dirty="0"/>
          </a:p>
        </p:txBody>
      </p:sp>
      <p:sp>
        <p:nvSpPr>
          <p:cNvPr id="34" name="Shape 32"/>
          <p:cNvSpPr/>
          <p:nvPr/>
        </p:nvSpPr>
        <p:spPr>
          <a:xfrm>
            <a:off x="8503920" y="2468880"/>
            <a:ext cx="3246120" cy="3886200"/>
          </a:xfrm>
          <a:prstGeom prst="roundRect">
            <a:avLst>
              <a:gd name="adj" fmla="val 2254"/>
            </a:avLst>
          </a:prstGeom>
          <a:solidFill>
            <a:srgbClr val="EAF5EE"/>
          </a:solidFill>
          <a:ln w="12700">
            <a:solidFill>
              <a:srgbClr val="EAF5EE"/>
            </a:solidFill>
            <a:prstDash val="solid"/>
          </a:ln>
        </p:spPr>
      </p:sp>
      <p:sp>
        <p:nvSpPr>
          <p:cNvPr id="35" name="Text 33"/>
          <p:cNvSpPr/>
          <p:nvPr/>
        </p:nvSpPr>
        <p:spPr>
          <a:xfrm>
            <a:off x="8613648" y="2578608"/>
            <a:ext cx="3026664" cy="347472"/>
          </a:xfrm>
          <a:prstGeom prst="roundRect">
            <a:avLst>
              <a:gd name="adj" fmla="val 15789"/>
            </a:avLst>
          </a:prstGeom>
          <a:solidFill>
            <a:srgbClr val="0B3F2C"/>
          </a:solidFill>
          <a:ln>
            <a:solidFill>
              <a:srgbClr val="0B3F2C"/>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Guardrails around domain changes</a:t>
            </a:r>
            <a:endParaRPr lang="en-US" sz="1000" dirty="0"/>
          </a:p>
        </p:txBody>
      </p:sp>
      <p:sp>
        <p:nvSpPr>
          <p:cNvPr id="36" name="Text 34"/>
          <p:cNvSpPr/>
          <p:nvPr/>
        </p:nvSpPr>
        <p:spPr>
          <a:xfrm>
            <a:off x="8641080" y="3017520"/>
            <a:ext cx="2971800" cy="1554480"/>
          </a:xfrm>
          <a:prstGeom prst="rect">
            <a:avLst/>
          </a:prstGeom>
          <a:noFill/>
          <a:ln/>
        </p:spPr>
        <p:txBody>
          <a:bodyPr wrap="square" lIns="0" tIns="0" rIns="0" bIns="0" rtlCol="0" anchor="t"/>
          <a:lstStyle/>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no feature without a context; a context change invalidates dependent specs until re-validated</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every spec.md / plan.md pins domain-map@version — a stale pin blocks plan and implement (before_plan / before_implement hooks)</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structural changes need an ADR in the ledger; waivers only with owner, evidence and expiry</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the Assessor reports contexts that drift from the map (code that crosses boundaries the map does not allow)</a:t>
            </a:r>
            <a:endParaRPr lang="en-US" sz="800" dirty="0"/>
          </a:p>
        </p:txBody>
      </p:sp>
      <p:sp>
        <p:nvSpPr>
          <p:cNvPr id="37" name="Text 35"/>
          <p:cNvSpPr/>
          <p:nvPr/>
        </p:nvSpPr>
        <p:spPr>
          <a:xfrm>
            <a:off x="8641080" y="4617720"/>
            <a:ext cx="2971800" cy="868680"/>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In Spec Kit terms: </a:t>
            </a:r>
            <a:pPr indent="0" marL="0">
              <a:buNone/>
            </a:pPr>
            <a:r>
              <a:rPr lang="en-US" sz="800" dirty="0">
                <a:solidFill>
                  <a:srgbClr val="1B2A24"/>
                </a:solidFill>
                <a:latin typeface="Arial" pitchFamily="34" charset="0"/>
                <a:ea typeface="Arial" pitchFamily="34" charset="-122"/>
                <a:cs typeface="Arial" pitchFamily="34" charset="-120"/>
              </a:rPr>
              <a:t>an extension command speckit.domain.change (impact report from the trace graph → change class → list of affected features), a workflow with a human gate for the decision, hooks that verify the pinned version. Everything else is the constitution and the ledger.</a:t>
            </a:r>
            <a:endParaRPr lang="en-US" sz="800" dirty="0"/>
          </a:p>
        </p:txBody>
      </p:sp>
      <p:sp>
        <p:nvSpPr>
          <p:cNvPr id="38" name="Text 36"/>
          <p:cNvSpPr/>
          <p:nvPr/>
        </p:nvSpPr>
        <p:spPr>
          <a:xfrm>
            <a:off x="8613648" y="5532120"/>
            <a:ext cx="3026664" cy="256032"/>
          </a:xfrm>
          <a:prstGeom prst="roundRect">
            <a:avLst>
              <a:gd name="adj" fmla="val 21429"/>
            </a:avLst>
          </a:prstGeom>
          <a:solidFill>
            <a:srgbClr val="B23A32"/>
          </a:solidFill>
          <a:ln>
            <a:solidFill>
              <a:srgbClr val="B23A32"/>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MISSING → to build</a:t>
            </a:r>
            <a:endParaRPr lang="en-US" sz="850" dirty="0"/>
          </a:p>
        </p:txBody>
      </p:sp>
      <p:sp>
        <p:nvSpPr>
          <p:cNvPr id="39" name="Text 37"/>
          <p:cNvSpPr/>
          <p:nvPr/>
        </p:nvSpPr>
        <p:spPr>
          <a:xfrm>
            <a:off x="8641080" y="5833872"/>
            <a:ext cx="2971800" cy="457200"/>
          </a:xfrm>
          <a:prstGeom prst="rect">
            <a:avLst/>
          </a:prstGeom>
          <a:noFill/>
          <a:ln/>
        </p:spPr>
        <p:txBody>
          <a:bodyPr wrap="square" lIns="0" tIns="0" rIns="0" bIns="0" rtlCol="0" anchor="t"/>
          <a:lstStyle/>
          <a:p>
            <a:pPr indent="0" marL="0">
              <a:buNone/>
            </a:pPr>
            <a:r>
              <a:rPr lang="en-US" sz="800" dirty="0">
                <a:solidFill>
                  <a:srgbClr val="1B2A24"/>
                </a:solidFill>
                <a:latin typeface="Arial" pitchFamily="34" charset="0"/>
                <a:ea typeface="Arial" pitchFamily="34" charset="-122"/>
                <a:cs typeface="Arial" pitchFamily="34" charset="-120"/>
              </a:rPr>
              <a:t>speckit.domain.change · version pin hooks · glossary guard · re-validation runner</a:t>
            </a:r>
            <a:endParaRPr lang="en-US" sz="800" dirty="0"/>
          </a:p>
        </p:txBody>
      </p:sp>
      <p:sp>
        <p:nvSpPr>
          <p:cNvPr id="40" name="Shape 38"/>
          <p:cNvSpPr/>
          <p:nvPr/>
        </p:nvSpPr>
        <p:spPr>
          <a:xfrm>
            <a:off x="457200" y="4617720"/>
            <a:ext cx="7818120" cy="1737360"/>
          </a:xfrm>
          <a:prstGeom prst="roundRect">
            <a:avLst>
              <a:gd name="adj" fmla="val 4211"/>
            </a:avLst>
          </a:prstGeom>
          <a:solidFill>
            <a:srgbClr val="0B3F2C"/>
          </a:solidFill>
          <a:ln w="12700">
            <a:solidFill>
              <a:srgbClr val="0B3F2C"/>
            </a:solidFill>
            <a:prstDash val="solid"/>
          </a:ln>
        </p:spPr>
      </p:sp>
      <p:sp>
        <p:nvSpPr>
          <p:cNvPr id="41" name="Text 39"/>
          <p:cNvSpPr/>
          <p:nvPr/>
        </p:nvSpPr>
        <p:spPr>
          <a:xfrm>
            <a:off x="640080" y="4709160"/>
            <a:ext cx="5486400" cy="219456"/>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The one-line answer for management</a:t>
            </a:r>
            <a:endParaRPr lang="en-US" sz="1000" dirty="0"/>
          </a:p>
        </p:txBody>
      </p:sp>
      <p:sp>
        <p:nvSpPr>
          <p:cNvPr id="42" name="Text 40"/>
          <p:cNvSpPr/>
          <p:nvPr/>
        </p:nvSpPr>
        <p:spPr>
          <a:xfrm>
            <a:off x="640080" y="4956048"/>
            <a:ext cx="7452360" cy="1325880"/>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Domains are a versioned architecture artifact with named owners. Changing one is a controlled change: we know in advance which requirements, specifications, plans and services it touches, a named person decides, the decision is recorded, and the affected work is re-validated before it moves on. Nothing downstream can silently drift from the map — the Assessor would report it and the loop would bring it back as a proposal.</a:t>
            </a:r>
            <a:endParaRPr lang="en-US" sz="900" dirty="0"/>
          </a:p>
        </p:txBody>
      </p:sp>
      <p:sp>
        <p:nvSpPr>
          <p:cNvPr id="43" name="Text 41"/>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The agents behind the A-gates — injected into Spec Kit</a:t>
            </a:r>
            <a:endParaRPr lang="en-US" sz="2400" dirty="0"/>
          </a:p>
        </p:txBody>
      </p:sp>
      <p:sp>
        <p:nvSpPr>
          <p:cNvPr id="3" name="Text 1"/>
          <p:cNvSpPr/>
          <p:nvPr/>
        </p:nvSpPr>
        <p:spPr>
          <a:xfrm>
            <a:off x="457200" y="804672"/>
            <a:ext cx="11247120" cy="411480"/>
          </a:xfrm>
          <a:prstGeom prst="rect">
            <a:avLst/>
          </a:prstGeom>
          <a:noFill/>
          <a:ln/>
        </p:spPr>
        <p:txBody>
          <a:bodyPr wrap="square" lIns="0" tIns="0" rIns="0" bIns="0" rtlCol="0" anchor="t"/>
          <a:lstStyle/>
          <a:p>
            <a:pPr indent="0" marL="0">
              <a:buNone/>
            </a:pPr>
            <a:r>
              <a:rPr lang="en-US" sz="1100" dirty="0">
                <a:solidFill>
                  <a:srgbClr val="5F6B66"/>
                </a:solidFill>
                <a:latin typeface="Arial" pitchFamily="34" charset="0"/>
                <a:ea typeface="Arial" pitchFamily="34" charset="-122"/>
                <a:cs typeface="Arial" pitchFamily="34" charset="-120"/>
              </a:rPr>
              <a:t>Every guardrail is an extension command with a script (JSON verdict) attached to a Spec Kit hook, plus a preset that shapes what plan and tasks must contain. Hooks are convenient (agent-dispatched); the same scripts run as workflow shell gates and CI checks — that is the hard line. A-gate numbers = loop steps.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298448"/>
          <a:ext cx="11247120" cy="914400"/>
        </p:xfrm>
        <a:graphic>
          <a:graphicData uri="http://schemas.openxmlformats.org/drawingml/2006/table">
            <a:tbl>
              <a:tblPr/>
              <a:tblGrid>
                <a:gridCol w="1508760"/>
                <a:gridCol w="3246120"/>
                <a:gridCol w="2926080"/>
                <a:gridCol w="1417320"/>
                <a:gridCol w="2148840"/>
              </a:tblGrid>
              <a:tr h="237744">
                <a:tc>
                  <a:txBody>
                    <a:bodyPr/>
                    <a:lstStyle/>
                    <a:p>
                      <a:pPr indent="0" marL="0">
                        <a:buNone/>
                      </a:pPr>
                      <a:r>
                        <a:rPr lang="en-US" sz="850" b="1" dirty="0">
                          <a:solidFill>
                            <a:srgbClr val="FFFFFF"/>
                          </a:solidFill>
                          <a:latin typeface="Arial" pitchFamily="34" charset="0"/>
                          <a:ea typeface="Arial" pitchFamily="34" charset="-122"/>
                          <a:cs typeface="Arial" pitchFamily="34" charset="-120"/>
                        </a:rPr>
                        <a:t>Agent / guardrail</a:t>
                      </a:r>
                      <a:endParaRPr lang="en-US" sz="85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What it does</a:t>
                      </a:r>
                      <a:endParaRPr lang="en-US" sz="85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How it plugs into Spec Kit</a:t>
                      </a:r>
                      <a:endParaRPr lang="en-US" sz="85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Runs at</a:t>
                      </a:r>
                      <a:endParaRPr lang="en-US" sz="85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Status</a:t>
                      </a:r>
                      <a:endParaRPr lang="en-US" sz="85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r>
              <a:tr h="384048">
                <a:tc>
                  <a:txBody>
                    <a:bodyPr/>
                    <a:lstStyle/>
                    <a:p>
                      <a:pPr indent="0" marL="0">
                        <a:buNone/>
                      </a:pPr>
                      <a:r>
                        <a:rPr lang="en-US" sz="750" b="1" dirty="0">
                          <a:solidFill>
                            <a:srgbClr val="0B3F2C"/>
                          </a:solidFill>
                          <a:latin typeface="Arial" pitchFamily="34" charset="0"/>
                          <a:ea typeface="Arial" pitchFamily="34" charset="-122"/>
                          <a:cs typeface="Arial" pitchFamily="34" charset="-120"/>
                        </a:rPr>
                        <a:t>Architecture standards → rulebook (A3 · A4 · A7)</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The corporate architecture standards, implemented as a skills repository, become ARCH-### rules with severity, scope and a check binding; the same rules feed plan conformance, the fitness runner and the Assessor</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Skills loaded by the context loader before plan / tasks / implement; referenced by the plan and tasks presets; constitution article declares them NON-NEGOTIABLE</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A3 · A4 · A7</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skills repository available · binding to A-gates in progress</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BEFD2"/>
                    </a:solidFill>
                  </a:tcPr>
                </a:tc>
              </a:tr>
              <a:tr h="347472">
                <a:tc>
                  <a:txBody>
                    <a:bodyPr/>
                    <a:lstStyle/>
                    <a:p>
                      <a:pPr indent="0" marL="0">
                        <a:buNone/>
                      </a:pPr>
                      <a:r>
                        <a:rPr lang="en-US" sz="750" b="1" dirty="0">
                          <a:solidFill>
                            <a:srgbClr val="0B3F2C"/>
                          </a:solidFill>
                          <a:latin typeface="Arial" pitchFamily="34" charset="0"/>
                          <a:ea typeface="Arial" pitchFamily="34" charset="-122"/>
                          <a:cs typeface="Arial" pitchFamily="34" charset="-120"/>
                        </a:rPr>
                        <a:t>Domain map guard (A0)</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Verifies the pinned domain-map version and the feature ↔ bounded-context assignment; for a domain change: impact analysis on the trace graph → change class → affected features</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Extension commands speckit.domain.check / speckit.domain.change + scripts; mandatory before_plan and before_implement hooks; workflow gate for the change decision</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before plan · before implement · on domain change</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to build — no domain concept in Spec Kit</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8DEDB"/>
                    </a:solidFill>
                  </a:tcPr>
                </a:tc>
              </a:tr>
              <a:tr h="365760">
                <a:tc>
                  <a:txBody>
                    <a:bodyPr/>
                    <a:lstStyle/>
                    <a:p>
                      <a:pPr indent="0" marL="0">
                        <a:buNone/>
                      </a:pPr>
                      <a:r>
                        <a:rPr lang="en-US" sz="750" b="1" dirty="0">
                          <a:solidFill>
                            <a:srgbClr val="0B3F2C"/>
                          </a:solidFill>
                          <a:latin typeface="Arial" pitchFamily="34" charset="0"/>
                          <a:ea typeface="Arial" pitchFamily="34" charset="-122"/>
                          <a:cs typeface="Arial" pitchFamily="34" charset="-120"/>
                        </a:rPr>
                        <a:t>Architecture context loader (A3)</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Loads the rulebook, the domain map and the applicable ADRs for the feature’s context into the agent’s context; refreshes the agent instruction file</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Extension command speckit.arch.context; mandatory before_plan / before_tasks / before_implement hooks (priority 1); agent-context-style file update</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before plan · tasks · implement</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to build — standards exist as skills; patterns: adrkit, memory-loader, agent-context (first-party)</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8DEDB"/>
                    </a:solidFill>
                  </a:tcPr>
                </a:tc>
              </a:tr>
              <a:tr h="457200">
                <a:tc>
                  <a:txBody>
                    <a:bodyPr/>
                    <a:lstStyle/>
                    <a:p>
                      <a:pPr indent="0" marL="0">
                        <a:buNone/>
                      </a:pPr>
                      <a:r>
                        <a:rPr lang="en-US" sz="750" b="1" dirty="0">
                          <a:solidFill>
                            <a:srgbClr val="0B3F2C"/>
                          </a:solidFill>
                          <a:latin typeface="Arial" pitchFamily="34" charset="0"/>
                          <a:ea typeface="Arial" pitchFamily="34" charset="-122"/>
                          <a:cs typeface="Arial" pitchFamily="34" charset="-120"/>
                        </a:rPr>
                        <a:t>Plan conformance agent (A3)</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Makes plan.md carry an Architecture Conformance table (each applicable ARCH-### → satisfied / waiver / n-a; NFR allocation; boundary crossings; decisions required) and verifies it deterministically → JSON verdict; writes checklists/architecture.md</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Preset: plan-template append + speckit.plan wrap; extension script speckit.arch.check-plan on a mandatory after_plan hook; same script as workflow shell gate and CI check</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after plan · again on the PR (A6)</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in progress — standards applied via skills today; conformance table + deterministic script to build; native levers: Constitution Check gate, analyze CRITICAL</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BEFD2"/>
                    </a:solidFill>
                  </a:tcPr>
                </a:tc>
              </a:tr>
              <a:tr h="329184">
                <a:tc>
                  <a:txBody>
                    <a:bodyPr/>
                    <a:lstStyle/>
                    <a:p>
                      <a:pPr indent="0" marL="0">
                        <a:buNone/>
                      </a:pPr>
                      <a:r>
                        <a:rPr lang="en-US" sz="750" b="1" dirty="0">
                          <a:solidFill>
                            <a:srgbClr val="0B3F2C"/>
                          </a:solidFill>
                          <a:latin typeface="Arial" pitchFamily="34" charset="0"/>
                          <a:ea typeface="Arial" pitchFamily="34" charset="-122"/>
                          <a:cs typeface="Arial" pitchFamily="34" charset="-120"/>
                        </a:rPr>
                        <a:t>Decision ledger agent (A3)</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Drafts an ADR from the plan for rules marked decision-required and appends it to the hash-chained ledger; the conformance script requires the ADR id</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Extension command speckit.arch.decide; optional after_plan hook; ledger under .specify/memory/decisions/</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after plan · on waiver</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to build — pattern: adrkit (drafts ADRs from plan artifacts)</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8DEDB"/>
                    </a:solidFill>
                  </a:tcPr>
                </a:tc>
              </a:tr>
              <a:tr h="365760">
                <a:tc>
                  <a:txBody>
                    <a:bodyPr/>
                    <a:lstStyle/>
                    <a:p>
                      <a:pPr indent="0" marL="0">
                        <a:buNone/>
                      </a:pPr>
                      <a:r>
                        <a:rPr lang="en-US" sz="750" b="1" dirty="0">
                          <a:solidFill>
                            <a:srgbClr val="0B3F2C"/>
                          </a:solidFill>
                          <a:latin typeface="Arial" pitchFamily="34" charset="0"/>
                          <a:ea typeface="Arial" pitchFamily="34" charset="-122"/>
                          <a:cs typeface="Arial" pitchFamily="34" charset="-120"/>
                        </a:rPr>
                        <a:t>Task guard (A3)</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Ensures every task carries the requirement / ARCH IDs it implements (Carries:) and that mandated architecture work exists as tasks — fitness-test tasks in a tests-first phase</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Preset: tasks-template append + speckit.tasks wrap; extension script speckit.arch.check-tasks on a mandatory after_tasks hook</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after tasks</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to build — patterns: specassay (Carries), explicit-task-dependencies preset</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8DEDB"/>
                    </a:solidFill>
                  </a:tcPr>
                </a:tc>
              </a:tr>
              <a:tr h="402336">
                <a:tc>
                  <a:txBody>
                    <a:bodyPr/>
                    <a:lstStyle/>
                    <a:p>
                      <a:pPr indent="0" marL="0">
                        <a:buNone/>
                      </a:pPr>
                      <a:r>
                        <a:rPr lang="en-US" sz="750" b="1" dirty="0">
                          <a:solidFill>
                            <a:srgbClr val="0B3F2C"/>
                          </a:solidFill>
                          <a:latin typeface="Arial" pitchFamily="34" charset="0"/>
                          <a:ea typeface="Arial" pitchFamily="34" charset="-122"/>
                          <a:cs typeface="Arial" pitchFamily="34" charset="-120"/>
                        </a:rPr>
                        <a:t>Implement checklist gate (A4)</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implement scans every file in checklists/ and STOPs to ask when items are unchecked; the conformance script ticks checklists/architecture.md only when its checks pass — design-time architecture items block the start of implementation</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Native behaviour of /speckit.implement; our extension only writes the checklist file</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start of implement</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Spec Kit native (verified) · checklist writer to build</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D5EBDD"/>
                    </a:solidFill>
                  </a:tcPr>
                </a:tc>
              </a:tr>
              <a:tr h="420624">
                <a:tc>
                  <a:txBody>
                    <a:bodyPr/>
                    <a:lstStyle/>
                    <a:p>
                      <a:pPr indent="0" marL="0">
                        <a:buNone/>
                      </a:pPr>
                      <a:r>
                        <a:rPr lang="en-US" sz="750" b="1" dirty="0">
                          <a:solidFill>
                            <a:srgbClr val="0B3F2C"/>
                          </a:solidFill>
                          <a:latin typeface="Arial" pitchFamily="34" charset="0"/>
                          <a:ea typeface="Arial" pitchFamily="34" charset="-122"/>
                          <a:cs typeface="Arial" pitchFamily="34" charset="-120"/>
                        </a:rPr>
                        <a:t>Fitness-function runner (A4 · A5 · A6)</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Architecture tests on the code graph: dependency direction, forbidden imports, boundary crossings against the context map, layering, coupling thresholds → JSON verdict</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Extension command speckit.arch.fitness + script; mandatory after_implement / after_converge hooks; workflow do-while (tests + fitness → back to implement, max N); required PR status check; code-graph provider behind the contract seam</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after implement · in the 4 ⇄ 5 loop · on the PR</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to build — needs the code-graph provider; patterns: architecture-guard, blueprint-index</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8DEDB"/>
                    </a:solidFill>
                  </a:tcPr>
                </a:tc>
              </a:tr>
              <a:tr h="347472">
                <a:tc>
                  <a:txBody>
                    <a:bodyPr/>
                    <a:lstStyle/>
                    <a:p>
                      <a:pPr indent="0" marL="0">
                        <a:buNone/>
                      </a:pPr>
                      <a:r>
                        <a:rPr lang="en-US" sz="750" b="1" dirty="0">
                          <a:solidFill>
                            <a:srgbClr val="0B3F2C"/>
                          </a:solidFill>
                          <a:latin typeface="Arial" pitchFamily="34" charset="0"/>
                          <a:ea typeface="Arial" pitchFamily="34" charset="-122"/>
                          <a:cs typeface="Arial" pitchFamily="34" charset="-120"/>
                        </a:rPr>
                        <a:t>Waiver / exception agent (all A-gates)</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Records an exception (rule, scope, evidence, owner, expiry) in the ledger; conformance and fitness scripts consult it; expired waivers turn back into violations</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Extension command speckit.arch.waive; workflow gate — the lead architect approves</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on demand · re-checked by every script run</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to build</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8DEDB"/>
                    </a:solidFill>
                  </a:tcPr>
                </a:tc>
              </a:tr>
              <a:tr h="329184">
                <a:tc>
                  <a:txBody>
                    <a:bodyPr/>
                    <a:lstStyle/>
                    <a:p>
                      <a:pPr indent="0" marL="0">
                        <a:buNone/>
                      </a:pPr>
                      <a:r>
                        <a:rPr lang="en-US" sz="750" b="1" dirty="0">
                          <a:solidFill>
                            <a:srgbClr val="0B3F2C"/>
                          </a:solidFill>
                          <a:latin typeface="Arial" pitchFamily="34" charset="0"/>
                          <a:ea typeface="Arial" pitchFamily="34" charset="-122"/>
                          <a:cs typeface="Arial" pitchFamily="34" charset="-120"/>
                        </a:rPr>
                        <a:t>Agent audit ledger (A4)</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Records which agent changed what under which task; commits carry task and requirement IDs; permissions bounded per task</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after_implement hook + first-party git ext commit hooks; ledger file</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during / after implement</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to build — native piece: git ext auto-commit hooks</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8DEDB"/>
                    </a:solidFill>
                  </a:tcPr>
                </a:tc>
              </a:tr>
              <a:tr h="310896">
                <a:tc>
                  <a:txBody>
                    <a:bodyPr/>
                    <a:lstStyle/>
                    <a:p>
                      <a:pPr indent="0" marL="0">
                        <a:buNone/>
                      </a:pPr>
                      <a:r>
                        <a:rPr lang="en-US" sz="750" b="1" dirty="0">
                          <a:solidFill>
                            <a:srgbClr val="0B3F2C"/>
                          </a:solidFill>
                          <a:latin typeface="Arial" pitchFamily="34" charset="0"/>
                          <a:ea typeface="Arial" pitchFamily="34" charset="-122"/>
                          <a:cs typeface="Arial" pitchFamily="34" charset="-120"/>
                        </a:rPr>
                        <a:t>Architecture Assessor (A7)</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Reviews the delivered system against the same rulebook and the domain map; emits findings.json (rule ID, evidence, severity, context)</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Outside Spec Kit, between 7 and 1; its output is consumed by the Proposer</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between 7 and 1</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in-house — available</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DDF2E5"/>
                    </a:solidFill>
                  </a:tcPr>
                </a:tc>
              </a:tr>
              <a:tr h="402336">
                <a:tc>
                  <a:txBody>
                    <a:bodyPr/>
                    <a:lstStyle/>
                    <a:p>
                      <a:pPr indent="0" marL="0">
                        <a:buNone/>
                      </a:pPr>
                      <a:r>
                        <a:rPr lang="en-US" sz="750" b="1" dirty="0">
                          <a:solidFill>
                            <a:srgbClr val="0B3F2C"/>
                          </a:solidFill>
                          <a:latin typeface="Arial" pitchFamily="34" charset="0"/>
                          <a:ea typeface="Arial" pitchFamily="34" charset="-122"/>
                          <a:cs typeface="Arial" pitchFamily="34" charset="-120"/>
                        </a:rPr>
                        <a:t>Proposer (A7 → A1)</a:t>
                      </a:r>
                      <a:endParaRPr lang="en-US" sz="75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Turns findings into [PROPOSED] requirement changes (into the requirements repository / ShAIping intake) and domain change requests, each traced to rule + finding; never writes into a spec</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Extension command speckit.arch.propose; workflow: if findings &gt; 0 → propose → gate (lead architect) → Step 1 / Step 0; optional intake via the first-party assess extension</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after each Assessor run</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680" dirty="0">
                          <a:solidFill>
                            <a:srgbClr val="1B2A24"/>
                          </a:solidFill>
                          <a:latin typeface="Arial" pitchFamily="34" charset="0"/>
                          <a:ea typeface="Arial" pitchFamily="34" charset="-122"/>
                          <a:cs typeface="Arial" pitchFamily="34" charset="-120"/>
                        </a:rPr>
                        <a:t>to build — pattern: assess (intake → decide go / kill)</a:t>
                      </a:r>
                      <a:endParaRPr lang="en-US" sz="680" dirty="0">
                        <a:latin typeface="Arial" charset="0"/>
                        <a:ea typeface="Arial" charset="0"/>
                        <a:cs typeface="Arial" charset="0"/>
                      </a:endParaRPr>
                    </a:p>
                  </a:txBody>
                  <a:tcPr marL="63500" marR="63500" marT="25400" marB="254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8DEDB"/>
                    </a:solidFill>
                  </a:tcPr>
                </a:tc>
              </a:tr>
            </a:tbl>
          </a:graphicData>
        </a:graphic>
      </p:graphicFrame>
      <p:sp>
        <p:nvSpPr>
          <p:cNvPr id="5" name="Text 2"/>
          <p:cNvSpPr/>
          <p:nvPr/>
        </p:nvSpPr>
        <p:spPr>
          <a:xfrm>
            <a:off x="457200" y="6089904"/>
            <a:ext cx="11247120" cy="365760"/>
          </a:xfrm>
          <a:prstGeom prst="rect">
            <a:avLst/>
          </a:prstGeom>
          <a:noFill/>
          <a:ln/>
        </p:spPr>
        <p:txBody>
          <a:bodyPr wrap="square" lIns="0" tIns="0" rIns="0" bIns="0" rtlCol="0" anchor="t"/>
          <a:lstStyle/>
          <a:p>
            <a:pPr indent="0" marL="0">
              <a:buNone/>
            </a:pPr>
            <a:r>
              <a:rPr lang="en-US" sz="680" dirty="0">
                <a:solidFill>
                  <a:srgbClr val="5F6B66"/>
                </a:solidFill>
                <a:latin typeface="Arial" pitchFamily="34" charset="0"/>
                <a:ea typeface="Arial" pitchFamily="34" charset="-122"/>
                <a:cs typeface="Arial" pitchFamily="34" charset="-120"/>
              </a:rPr>
              <a:t>Done today: ShAIping (12 scripted checks) · ShAIping ↔ Spec Kit integration · architecture standards as skills · Architecture Assessor · Spec Kit’s native agents. Hook facts: 20 events (before/after × 10 commands), fields optional / priority / enabled / condition; mandatory hooks are executed by the agent via EXECUTE_COMMAND — hence the workflow shell gate and CI as the hard line.</a:t>
            </a:r>
            <a:endParaRPr lang="en-US" sz="680" dirty="0"/>
          </a:p>
        </p:txBody>
      </p:sp>
      <p:sp>
        <p:nvSpPr>
          <p:cNvPr id="6" name="Text 3"/>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Where they hook — the Spec Kit command line 3 → 4</a:t>
            </a:r>
            <a:endParaRPr lang="en-US" sz="2400" dirty="0"/>
          </a:p>
        </p:txBody>
      </p:sp>
      <p:sp>
        <p:nvSpPr>
          <p:cNvPr id="3" name="Text 1"/>
          <p:cNvSpPr/>
          <p:nvPr/>
        </p:nvSpPr>
        <p:spPr>
          <a:xfrm>
            <a:off x="457200" y="804672"/>
            <a:ext cx="11247120" cy="411480"/>
          </a:xfrm>
          <a:prstGeom prst="rect">
            <a:avLst/>
          </a:prstGeom>
          <a:noFill/>
          <a:ln/>
        </p:spPr>
        <p:txBody>
          <a:bodyPr wrap="square" lIns="0" tIns="0" rIns="0" bIns="0" rtlCol="0" anchor="t"/>
          <a:lstStyle/>
          <a:p>
            <a:pPr indent="0" marL="0">
              <a:buNone/>
            </a:pPr>
            <a:r>
              <a:rPr lang="en-US" sz="1100" dirty="0">
                <a:solidFill>
                  <a:srgbClr val="5F6B66"/>
                </a:solidFill>
                <a:latin typeface="Arial" pitchFamily="34" charset="0"/>
                <a:ea typeface="Arial" pitchFamily="34" charset="-122"/>
                <a:cs typeface="Arial" pitchFamily="34" charset="-120"/>
              </a:rPr>
              <a:t>Top lane: what the presets change at install time. Middle: Spec Kit’s own commands. Bottom lanes: extension hooks and scripts at run time, and the workflow / CI line where the same scripts become hard gates.</a:t>
            </a:r>
            <a:endParaRPr lang="en-US" sz="1100" dirty="0"/>
          </a:p>
        </p:txBody>
      </p:sp>
      <p:sp>
        <p:nvSpPr>
          <p:cNvPr id="4" name="Text 2"/>
          <p:cNvSpPr/>
          <p:nvPr/>
        </p:nvSpPr>
        <p:spPr>
          <a:xfrm>
            <a:off x="457200" y="1325880"/>
            <a:ext cx="11247120" cy="201168"/>
          </a:xfrm>
          <a:prstGeom prst="roundRect">
            <a:avLst>
              <a:gd name="adj" fmla="val 22727"/>
            </a:avLst>
          </a:prstGeom>
          <a:solidFill>
            <a:srgbClr val="D28E14"/>
          </a:solidFill>
          <a:ln>
            <a:solidFill>
              <a:srgbClr val="D28E14"/>
            </a:solidFill>
          </a:ln>
        </p:spPr>
        <p:txBody>
          <a:bodyPr wrap="square" lIns="0" tIns="101600" rIns="10160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PRESETS &amp; TEMPLATES — install time (shape what plan / tasks must contain)</a:t>
            </a:r>
            <a:endParaRPr lang="en-US" sz="750" dirty="0"/>
          </a:p>
        </p:txBody>
      </p:sp>
      <p:sp>
        <p:nvSpPr>
          <p:cNvPr id="5" name="Text 3"/>
          <p:cNvSpPr/>
          <p:nvPr/>
        </p:nvSpPr>
        <p:spPr>
          <a:xfrm>
            <a:off x="457200" y="2651760"/>
            <a:ext cx="11247120" cy="201168"/>
          </a:xfrm>
          <a:prstGeom prst="roundRect">
            <a:avLst>
              <a:gd name="adj" fmla="val 22727"/>
            </a:avLst>
          </a:prstGeom>
          <a:solidFill>
            <a:srgbClr val="0E6B45"/>
          </a:solidFill>
          <a:ln>
            <a:solidFill>
              <a:srgbClr val="0E6B45"/>
            </a:solidFill>
          </a:ln>
        </p:spPr>
        <p:txBody>
          <a:bodyPr wrap="square" lIns="0" tIns="101600" rIns="10160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SPEC KIT COMMANDS — steps 3 → 4 (5 orchestrated)</a:t>
            </a:r>
            <a:endParaRPr lang="en-US" sz="750" dirty="0"/>
          </a:p>
        </p:txBody>
      </p:sp>
      <p:sp>
        <p:nvSpPr>
          <p:cNvPr id="6" name="Text 4"/>
          <p:cNvSpPr/>
          <p:nvPr/>
        </p:nvSpPr>
        <p:spPr>
          <a:xfrm>
            <a:off x="457200" y="3584448"/>
            <a:ext cx="11247120" cy="201168"/>
          </a:xfrm>
          <a:prstGeom prst="roundRect">
            <a:avLst>
              <a:gd name="adj" fmla="val 22727"/>
            </a:avLst>
          </a:prstGeom>
          <a:solidFill>
            <a:srgbClr val="0B3F2C"/>
          </a:solidFill>
          <a:ln>
            <a:solidFill>
              <a:srgbClr val="0B3F2C"/>
            </a:solidFill>
          </a:ln>
        </p:spPr>
        <p:txBody>
          <a:bodyPr wrap="square" lIns="0" tIns="101600" rIns="10160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EXTENSION HOOKS &amp; SCRIPTS — run time (agent-dispatched; every script returns a JSON verdict)</a:t>
            </a:r>
            <a:endParaRPr lang="en-US" sz="750" dirty="0"/>
          </a:p>
        </p:txBody>
      </p:sp>
      <p:sp>
        <p:nvSpPr>
          <p:cNvPr id="7" name="Text 5"/>
          <p:cNvSpPr/>
          <p:nvPr/>
        </p:nvSpPr>
        <p:spPr>
          <a:xfrm>
            <a:off x="457200" y="5285232"/>
            <a:ext cx="11247120" cy="201168"/>
          </a:xfrm>
          <a:prstGeom prst="roundRect">
            <a:avLst>
              <a:gd name="adj" fmla="val 22727"/>
            </a:avLst>
          </a:prstGeom>
          <a:solidFill>
            <a:srgbClr val="3E4F48"/>
          </a:solidFill>
          <a:ln>
            <a:solidFill>
              <a:srgbClr val="3E4F48"/>
            </a:solidFill>
          </a:ln>
        </p:spPr>
        <p:txBody>
          <a:bodyPr wrap="square" lIns="0" tIns="101600" rIns="101600" bIns="0" rtlCol="0" anchor="ctr"/>
          <a:lstStyle/>
          <a:p>
            <a:pPr algn="l" indent="0" marL="0">
              <a:buNone/>
            </a:pPr>
            <a:r>
              <a:rPr lang="en-US" sz="750" b="1" dirty="0">
                <a:solidFill>
                  <a:srgbClr val="FFFFFF"/>
                </a:solidFill>
                <a:latin typeface="Arial" pitchFamily="34" charset="0"/>
                <a:ea typeface="Arial" pitchFamily="34" charset="-122"/>
                <a:cs typeface="Arial" pitchFamily="34" charset="-120"/>
              </a:rPr>
              <a:t>WORKFLOW GATES &amp; CI — the hard line (same scripts as shell steps and required status checks; humans decide at the gates)</a:t>
            </a:r>
            <a:endParaRPr lang="en-US" sz="750" dirty="0"/>
          </a:p>
        </p:txBody>
      </p:sp>
      <p:sp>
        <p:nvSpPr>
          <p:cNvPr id="8" name="Shape 6"/>
          <p:cNvSpPr/>
          <p:nvPr/>
        </p:nvSpPr>
        <p:spPr>
          <a:xfrm>
            <a:off x="457200" y="2926080"/>
            <a:ext cx="1115568" cy="512064"/>
          </a:xfrm>
          <a:prstGeom prst="roundRect">
            <a:avLst>
              <a:gd name="adj" fmla="val 10714"/>
            </a:avLst>
          </a:prstGeom>
          <a:solidFill>
            <a:srgbClr val="0E6B45"/>
          </a:solidFill>
          <a:ln w="12700">
            <a:solidFill>
              <a:srgbClr val="0E6B45"/>
            </a:solidFill>
            <a:prstDash val="solid"/>
          </a:ln>
        </p:spPr>
      </p:sp>
      <p:sp>
        <p:nvSpPr>
          <p:cNvPr id="9" name="Text 7"/>
          <p:cNvSpPr/>
          <p:nvPr/>
        </p:nvSpPr>
        <p:spPr>
          <a:xfrm>
            <a:off x="484632" y="2953512"/>
            <a:ext cx="1060704"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constitution</a:t>
            </a:r>
            <a:endParaRPr lang="en-US" sz="750" dirty="0"/>
          </a:p>
        </p:txBody>
      </p:sp>
      <p:sp>
        <p:nvSpPr>
          <p:cNvPr id="10" name="Shape 8"/>
          <p:cNvSpPr/>
          <p:nvPr/>
        </p:nvSpPr>
        <p:spPr>
          <a:xfrm>
            <a:off x="1591056" y="3182112"/>
            <a:ext cx="114300" cy="0"/>
          </a:xfrm>
          <a:prstGeom prst="line">
            <a:avLst/>
          </a:prstGeom>
          <a:noFill/>
          <a:ln w="15875">
            <a:solidFill>
              <a:srgbClr val="0E6B45"/>
            </a:solidFill>
            <a:prstDash val="solid"/>
            <a:tailEnd type="triangle"/>
          </a:ln>
        </p:spPr>
      </p:sp>
      <p:sp>
        <p:nvSpPr>
          <p:cNvPr id="11" name="Shape 9"/>
          <p:cNvSpPr/>
          <p:nvPr/>
        </p:nvSpPr>
        <p:spPr>
          <a:xfrm>
            <a:off x="1723644" y="2926080"/>
            <a:ext cx="1115568" cy="512064"/>
          </a:xfrm>
          <a:prstGeom prst="roundRect">
            <a:avLst>
              <a:gd name="adj" fmla="val 10714"/>
            </a:avLst>
          </a:prstGeom>
          <a:solidFill>
            <a:srgbClr val="0E6B45"/>
          </a:solidFill>
          <a:ln w="12700">
            <a:solidFill>
              <a:srgbClr val="0E6B45"/>
            </a:solidFill>
            <a:prstDash val="solid"/>
          </a:ln>
        </p:spPr>
      </p:sp>
      <p:sp>
        <p:nvSpPr>
          <p:cNvPr id="12" name="Text 10"/>
          <p:cNvSpPr/>
          <p:nvPr/>
        </p:nvSpPr>
        <p:spPr>
          <a:xfrm>
            <a:off x="1751076" y="2953512"/>
            <a:ext cx="1060704"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specify</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(import from ShAIping)</a:t>
            </a:r>
            <a:endParaRPr lang="en-US" sz="750" dirty="0"/>
          </a:p>
        </p:txBody>
      </p:sp>
      <p:sp>
        <p:nvSpPr>
          <p:cNvPr id="13" name="Shape 11"/>
          <p:cNvSpPr/>
          <p:nvPr/>
        </p:nvSpPr>
        <p:spPr>
          <a:xfrm>
            <a:off x="2857500" y="3182112"/>
            <a:ext cx="114300" cy="0"/>
          </a:xfrm>
          <a:prstGeom prst="line">
            <a:avLst/>
          </a:prstGeom>
          <a:noFill/>
          <a:ln w="15875">
            <a:solidFill>
              <a:srgbClr val="0E6B45"/>
            </a:solidFill>
            <a:prstDash val="solid"/>
            <a:tailEnd type="triangle"/>
          </a:ln>
        </p:spPr>
      </p:sp>
      <p:sp>
        <p:nvSpPr>
          <p:cNvPr id="14" name="Shape 12"/>
          <p:cNvSpPr/>
          <p:nvPr/>
        </p:nvSpPr>
        <p:spPr>
          <a:xfrm>
            <a:off x="2990088" y="2926080"/>
            <a:ext cx="1115568" cy="512064"/>
          </a:xfrm>
          <a:prstGeom prst="roundRect">
            <a:avLst>
              <a:gd name="adj" fmla="val 10714"/>
            </a:avLst>
          </a:prstGeom>
          <a:solidFill>
            <a:srgbClr val="0E6B45"/>
          </a:solidFill>
          <a:ln w="12700">
            <a:solidFill>
              <a:srgbClr val="0E6B45"/>
            </a:solidFill>
            <a:prstDash val="solid"/>
          </a:ln>
        </p:spPr>
      </p:sp>
      <p:sp>
        <p:nvSpPr>
          <p:cNvPr id="15" name="Text 13"/>
          <p:cNvSpPr/>
          <p:nvPr/>
        </p:nvSpPr>
        <p:spPr>
          <a:xfrm>
            <a:off x="3017520" y="2953512"/>
            <a:ext cx="1060704"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clarify</a:t>
            </a:r>
            <a:endParaRPr lang="en-US" sz="750" dirty="0"/>
          </a:p>
        </p:txBody>
      </p:sp>
      <p:sp>
        <p:nvSpPr>
          <p:cNvPr id="16" name="Shape 14"/>
          <p:cNvSpPr/>
          <p:nvPr/>
        </p:nvSpPr>
        <p:spPr>
          <a:xfrm>
            <a:off x="4123944" y="3182112"/>
            <a:ext cx="114300" cy="0"/>
          </a:xfrm>
          <a:prstGeom prst="line">
            <a:avLst/>
          </a:prstGeom>
          <a:noFill/>
          <a:ln w="15875">
            <a:solidFill>
              <a:srgbClr val="0E6B45"/>
            </a:solidFill>
            <a:prstDash val="solid"/>
            <a:tailEnd type="triangle"/>
          </a:ln>
        </p:spPr>
      </p:sp>
      <p:sp>
        <p:nvSpPr>
          <p:cNvPr id="17" name="Shape 15"/>
          <p:cNvSpPr/>
          <p:nvPr/>
        </p:nvSpPr>
        <p:spPr>
          <a:xfrm>
            <a:off x="4256532" y="2926080"/>
            <a:ext cx="1115568" cy="512064"/>
          </a:xfrm>
          <a:prstGeom prst="roundRect">
            <a:avLst>
              <a:gd name="adj" fmla="val 10714"/>
            </a:avLst>
          </a:prstGeom>
          <a:solidFill>
            <a:srgbClr val="0E6B45"/>
          </a:solidFill>
          <a:ln w="12700">
            <a:solidFill>
              <a:srgbClr val="0E6B45"/>
            </a:solidFill>
            <a:prstDash val="solid"/>
          </a:ln>
        </p:spPr>
      </p:sp>
      <p:sp>
        <p:nvSpPr>
          <p:cNvPr id="18" name="Text 16"/>
          <p:cNvSpPr/>
          <p:nvPr/>
        </p:nvSpPr>
        <p:spPr>
          <a:xfrm>
            <a:off x="4283964" y="2953512"/>
            <a:ext cx="1060704"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plan</a:t>
            </a:r>
            <a:endParaRPr lang="en-US" sz="750" dirty="0"/>
          </a:p>
        </p:txBody>
      </p:sp>
      <p:sp>
        <p:nvSpPr>
          <p:cNvPr id="19" name="Shape 17"/>
          <p:cNvSpPr/>
          <p:nvPr/>
        </p:nvSpPr>
        <p:spPr>
          <a:xfrm>
            <a:off x="5390388" y="3182112"/>
            <a:ext cx="114300" cy="0"/>
          </a:xfrm>
          <a:prstGeom prst="line">
            <a:avLst/>
          </a:prstGeom>
          <a:noFill/>
          <a:ln w="15875">
            <a:solidFill>
              <a:srgbClr val="0E6B45"/>
            </a:solidFill>
            <a:prstDash val="solid"/>
            <a:tailEnd type="triangle"/>
          </a:ln>
        </p:spPr>
      </p:sp>
      <p:sp>
        <p:nvSpPr>
          <p:cNvPr id="20" name="Shape 18"/>
          <p:cNvSpPr/>
          <p:nvPr/>
        </p:nvSpPr>
        <p:spPr>
          <a:xfrm>
            <a:off x="5522976" y="2926080"/>
            <a:ext cx="1115568" cy="512064"/>
          </a:xfrm>
          <a:prstGeom prst="roundRect">
            <a:avLst>
              <a:gd name="adj" fmla="val 10714"/>
            </a:avLst>
          </a:prstGeom>
          <a:solidFill>
            <a:srgbClr val="0E6B45"/>
          </a:solidFill>
          <a:ln w="12700">
            <a:solidFill>
              <a:srgbClr val="0E6B45"/>
            </a:solidFill>
            <a:prstDash val="solid"/>
          </a:ln>
        </p:spPr>
      </p:sp>
      <p:sp>
        <p:nvSpPr>
          <p:cNvPr id="21" name="Text 19"/>
          <p:cNvSpPr/>
          <p:nvPr/>
        </p:nvSpPr>
        <p:spPr>
          <a:xfrm>
            <a:off x="5550408" y="2953512"/>
            <a:ext cx="1060704"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tasks</a:t>
            </a:r>
            <a:endParaRPr lang="en-US" sz="750" dirty="0"/>
          </a:p>
        </p:txBody>
      </p:sp>
      <p:sp>
        <p:nvSpPr>
          <p:cNvPr id="22" name="Shape 20"/>
          <p:cNvSpPr/>
          <p:nvPr/>
        </p:nvSpPr>
        <p:spPr>
          <a:xfrm>
            <a:off x="6656832" y="3182112"/>
            <a:ext cx="114300" cy="0"/>
          </a:xfrm>
          <a:prstGeom prst="line">
            <a:avLst/>
          </a:prstGeom>
          <a:noFill/>
          <a:ln w="15875">
            <a:solidFill>
              <a:srgbClr val="0E6B45"/>
            </a:solidFill>
            <a:prstDash val="solid"/>
            <a:tailEnd type="triangle"/>
          </a:ln>
        </p:spPr>
      </p:sp>
      <p:sp>
        <p:nvSpPr>
          <p:cNvPr id="23" name="Shape 21"/>
          <p:cNvSpPr/>
          <p:nvPr/>
        </p:nvSpPr>
        <p:spPr>
          <a:xfrm>
            <a:off x="6789420" y="2926080"/>
            <a:ext cx="1115568" cy="512064"/>
          </a:xfrm>
          <a:prstGeom prst="roundRect">
            <a:avLst>
              <a:gd name="adj" fmla="val 10714"/>
            </a:avLst>
          </a:prstGeom>
          <a:solidFill>
            <a:srgbClr val="0E6B45"/>
          </a:solidFill>
          <a:ln w="12700">
            <a:solidFill>
              <a:srgbClr val="0E6B45"/>
            </a:solidFill>
            <a:prstDash val="solid"/>
          </a:ln>
        </p:spPr>
      </p:sp>
      <p:sp>
        <p:nvSpPr>
          <p:cNvPr id="24" name="Text 22"/>
          <p:cNvSpPr/>
          <p:nvPr/>
        </p:nvSpPr>
        <p:spPr>
          <a:xfrm>
            <a:off x="6816852" y="2953512"/>
            <a:ext cx="1060704"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analyze</a:t>
            </a:r>
            <a:endParaRPr lang="en-US" sz="750" dirty="0"/>
          </a:p>
        </p:txBody>
      </p:sp>
      <p:sp>
        <p:nvSpPr>
          <p:cNvPr id="25" name="Shape 23"/>
          <p:cNvSpPr/>
          <p:nvPr/>
        </p:nvSpPr>
        <p:spPr>
          <a:xfrm>
            <a:off x="7923276" y="3182112"/>
            <a:ext cx="114300" cy="0"/>
          </a:xfrm>
          <a:prstGeom prst="line">
            <a:avLst/>
          </a:prstGeom>
          <a:noFill/>
          <a:ln w="15875">
            <a:solidFill>
              <a:srgbClr val="0E6B45"/>
            </a:solidFill>
            <a:prstDash val="solid"/>
            <a:tailEnd type="triangle"/>
          </a:ln>
        </p:spPr>
      </p:sp>
      <p:sp>
        <p:nvSpPr>
          <p:cNvPr id="26" name="Shape 24"/>
          <p:cNvSpPr/>
          <p:nvPr/>
        </p:nvSpPr>
        <p:spPr>
          <a:xfrm>
            <a:off x="8055864" y="2926080"/>
            <a:ext cx="1115568" cy="512064"/>
          </a:xfrm>
          <a:prstGeom prst="roundRect">
            <a:avLst>
              <a:gd name="adj" fmla="val 10714"/>
            </a:avLst>
          </a:prstGeom>
          <a:solidFill>
            <a:srgbClr val="0E6B45"/>
          </a:solidFill>
          <a:ln w="12700">
            <a:solidFill>
              <a:srgbClr val="0E6B45"/>
            </a:solidFill>
            <a:prstDash val="solid"/>
          </a:ln>
        </p:spPr>
      </p:sp>
      <p:sp>
        <p:nvSpPr>
          <p:cNvPr id="27" name="Text 25"/>
          <p:cNvSpPr/>
          <p:nvPr/>
        </p:nvSpPr>
        <p:spPr>
          <a:xfrm>
            <a:off x="8083296" y="2953512"/>
            <a:ext cx="1060704"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implement</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 converge</a:t>
            </a:r>
            <a:endParaRPr lang="en-US" sz="750" dirty="0"/>
          </a:p>
        </p:txBody>
      </p:sp>
      <p:sp>
        <p:nvSpPr>
          <p:cNvPr id="28" name="Shape 26"/>
          <p:cNvSpPr/>
          <p:nvPr/>
        </p:nvSpPr>
        <p:spPr>
          <a:xfrm>
            <a:off x="9189720" y="3182112"/>
            <a:ext cx="114300" cy="0"/>
          </a:xfrm>
          <a:prstGeom prst="line">
            <a:avLst/>
          </a:prstGeom>
          <a:noFill/>
          <a:ln w="15875">
            <a:solidFill>
              <a:srgbClr val="0E6B45"/>
            </a:solidFill>
            <a:prstDash val="solid"/>
            <a:tailEnd type="triangle"/>
          </a:ln>
        </p:spPr>
      </p:sp>
      <p:sp>
        <p:nvSpPr>
          <p:cNvPr id="29" name="Shape 27"/>
          <p:cNvSpPr/>
          <p:nvPr/>
        </p:nvSpPr>
        <p:spPr>
          <a:xfrm>
            <a:off x="9322308" y="2926080"/>
            <a:ext cx="1115568" cy="512064"/>
          </a:xfrm>
          <a:prstGeom prst="roundRect">
            <a:avLst>
              <a:gd name="adj" fmla="val 10714"/>
            </a:avLst>
          </a:prstGeom>
          <a:solidFill>
            <a:srgbClr val="6FBF95"/>
          </a:solidFill>
          <a:ln w="12700">
            <a:solidFill>
              <a:srgbClr val="6FBF95"/>
            </a:solidFill>
            <a:prstDash val="solid"/>
          </a:ln>
        </p:spPr>
      </p:sp>
      <p:sp>
        <p:nvSpPr>
          <p:cNvPr id="30" name="Text 28"/>
          <p:cNvSpPr/>
          <p:nvPr/>
        </p:nvSpPr>
        <p:spPr>
          <a:xfrm>
            <a:off x="9349740" y="2953512"/>
            <a:ext cx="1060704" cy="457200"/>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tests</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(workflow shell)</a:t>
            </a:r>
            <a:endParaRPr lang="en-US" sz="750" dirty="0"/>
          </a:p>
        </p:txBody>
      </p:sp>
      <p:sp>
        <p:nvSpPr>
          <p:cNvPr id="31" name="Shape 29"/>
          <p:cNvSpPr/>
          <p:nvPr/>
        </p:nvSpPr>
        <p:spPr>
          <a:xfrm>
            <a:off x="10456164" y="3182112"/>
            <a:ext cx="114300" cy="0"/>
          </a:xfrm>
          <a:prstGeom prst="line">
            <a:avLst/>
          </a:prstGeom>
          <a:noFill/>
          <a:ln w="15875">
            <a:solidFill>
              <a:srgbClr val="0E6B45"/>
            </a:solidFill>
            <a:prstDash val="solid"/>
            <a:tailEnd type="triangle"/>
          </a:ln>
        </p:spPr>
      </p:sp>
      <p:sp>
        <p:nvSpPr>
          <p:cNvPr id="32" name="Shape 30"/>
          <p:cNvSpPr/>
          <p:nvPr/>
        </p:nvSpPr>
        <p:spPr>
          <a:xfrm>
            <a:off x="10588752" y="2926080"/>
            <a:ext cx="1115568" cy="512064"/>
          </a:xfrm>
          <a:prstGeom prst="roundRect">
            <a:avLst>
              <a:gd name="adj" fmla="val 10714"/>
            </a:avLst>
          </a:prstGeom>
          <a:solidFill>
            <a:srgbClr val="E9ECEA"/>
          </a:solidFill>
          <a:ln w="12700">
            <a:solidFill>
              <a:srgbClr val="E9ECEA"/>
            </a:solidFill>
            <a:prstDash val="solid"/>
          </a:ln>
        </p:spPr>
      </p:sp>
      <p:sp>
        <p:nvSpPr>
          <p:cNvPr id="33" name="Text 31"/>
          <p:cNvSpPr/>
          <p:nvPr/>
        </p:nvSpPr>
        <p:spPr>
          <a:xfrm>
            <a:off x="10616184" y="2953512"/>
            <a:ext cx="1060704" cy="457200"/>
          </a:xfrm>
          <a:prstGeom prst="rect">
            <a:avLst/>
          </a:prstGeom>
          <a:noFill/>
          <a:ln/>
        </p:spPr>
        <p:txBody>
          <a:bodyPr wrap="square" lIns="0" tIns="0" rIns="0" bIns="0" rtlCol="0" anchor="ctr"/>
          <a:lstStyle/>
          <a:p>
            <a:pPr algn="ctr" indent="0" marL="0">
              <a:buNone/>
            </a:pPr>
            <a:r>
              <a:rPr lang="en-US" sz="750" b="1" dirty="0">
                <a:solidFill>
                  <a:srgbClr val="3E4F48"/>
                </a:solidFill>
                <a:latin typeface="Arial" pitchFamily="34" charset="0"/>
                <a:ea typeface="Arial" pitchFamily="34" charset="-122"/>
                <a:cs typeface="Arial" pitchFamily="34" charset="-120"/>
              </a:rPr>
              <a:t>PR · CI</a:t>
            </a:r>
            <a:endParaRPr lang="en-US" sz="750" dirty="0"/>
          </a:p>
        </p:txBody>
      </p:sp>
      <p:sp>
        <p:nvSpPr>
          <p:cNvPr id="34" name="Shape 32"/>
          <p:cNvSpPr/>
          <p:nvPr/>
        </p:nvSpPr>
        <p:spPr>
          <a:xfrm>
            <a:off x="438912" y="1572768"/>
            <a:ext cx="1152144" cy="1005840"/>
          </a:xfrm>
          <a:prstGeom prst="roundRect">
            <a:avLst>
              <a:gd name="adj" fmla="val 4545"/>
            </a:avLst>
          </a:prstGeom>
          <a:solidFill>
            <a:srgbClr val="FBEFD2"/>
          </a:solidFill>
          <a:ln w="9525">
            <a:solidFill>
              <a:srgbClr val="D28E14"/>
            </a:solidFill>
            <a:prstDash val="solid"/>
          </a:ln>
        </p:spPr>
      </p:sp>
      <p:sp>
        <p:nvSpPr>
          <p:cNvPr id="35" name="Text 33"/>
          <p:cNvSpPr/>
          <p:nvPr/>
        </p:nvSpPr>
        <p:spPr>
          <a:xfrm>
            <a:off x="484632" y="1609344"/>
            <a:ext cx="1060704" cy="932688"/>
          </a:xfrm>
          <a:prstGeom prst="rect">
            <a:avLst/>
          </a:prstGeom>
          <a:noFill/>
          <a:ln/>
        </p:spPr>
        <p:txBody>
          <a:bodyPr wrap="square" lIns="0" tIns="0" rIns="0" bIns="0" rtlCol="0" anchor="t"/>
          <a:lstStyle/>
          <a:p>
            <a:pPr indent="0" marL="0">
              <a:buNone/>
            </a:pPr>
            <a:r>
              <a:rPr lang="en-US" sz="700" dirty="0">
                <a:solidFill>
                  <a:srgbClr val="1B2A24"/>
                </a:solidFill>
                <a:latin typeface="Arial" pitchFamily="34" charset="0"/>
                <a:ea typeface="Arial" pitchFamily="34" charset="-122"/>
                <a:cs typeface="Arial" pitchFamily="34" charset="-120"/>
              </a:rPr>
              <a:t>constitution-template append: architecture article — rulebook NON-NEGOTIABLE, “features live in a bounded context of the domain map”</a:t>
            </a:r>
            <a:endParaRPr lang="en-US" sz="700" dirty="0"/>
          </a:p>
        </p:txBody>
      </p:sp>
      <p:sp>
        <p:nvSpPr>
          <p:cNvPr id="36" name="Shape 34"/>
          <p:cNvSpPr/>
          <p:nvPr/>
        </p:nvSpPr>
        <p:spPr>
          <a:xfrm>
            <a:off x="1014984" y="2578608"/>
            <a:ext cx="0" cy="329184"/>
          </a:xfrm>
          <a:prstGeom prst="line">
            <a:avLst/>
          </a:prstGeom>
          <a:noFill/>
          <a:ln w="12700">
            <a:solidFill>
              <a:srgbClr val="D28E14"/>
            </a:solidFill>
            <a:prstDash val="solid"/>
            <a:tailEnd type="triangle"/>
          </a:ln>
        </p:spPr>
      </p:sp>
      <p:sp>
        <p:nvSpPr>
          <p:cNvPr id="37" name="Shape 35"/>
          <p:cNvSpPr/>
          <p:nvPr/>
        </p:nvSpPr>
        <p:spPr>
          <a:xfrm>
            <a:off x="1705356" y="1572768"/>
            <a:ext cx="1152144" cy="1005840"/>
          </a:xfrm>
          <a:prstGeom prst="roundRect">
            <a:avLst>
              <a:gd name="adj" fmla="val 4545"/>
            </a:avLst>
          </a:prstGeom>
          <a:solidFill>
            <a:srgbClr val="FBEFD2"/>
          </a:solidFill>
          <a:ln w="9525">
            <a:solidFill>
              <a:srgbClr val="D28E14"/>
            </a:solidFill>
            <a:prstDash val="solid"/>
          </a:ln>
        </p:spPr>
      </p:sp>
      <p:sp>
        <p:nvSpPr>
          <p:cNvPr id="38" name="Text 36"/>
          <p:cNvSpPr/>
          <p:nvPr/>
        </p:nvSpPr>
        <p:spPr>
          <a:xfrm>
            <a:off x="1751076" y="1609344"/>
            <a:ext cx="1060704" cy="932688"/>
          </a:xfrm>
          <a:prstGeom prst="rect">
            <a:avLst/>
          </a:prstGeom>
          <a:noFill/>
          <a:ln/>
        </p:spPr>
        <p:txBody>
          <a:bodyPr wrap="square" lIns="0" tIns="0" rIns="0" bIns="0" rtlCol="0" anchor="t"/>
          <a:lstStyle/>
          <a:p>
            <a:pPr indent="0" marL="0">
              <a:buNone/>
            </a:pPr>
            <a:r>
              <a:rPr lang="en-US" sz="700" dirty="0">
                <a:solidFill>
                  <a:srgbClr val="1B2A24"/>
                </a:solidFill>
                <a:latin typeface="Arial" pitchFamily="34" charset="0"/>
                <a:ea typeface="Arial" pitchFamily="34" charset="-122"/>
                <a:cs typeface="Arial" pitchFamily="34" charset="-120"/>
              </a:rPr>
              <a:t>speckit.specify wrap: import mode — spec.md written by the built ShAIping ↔ Spec Kit integration; clarify only for flagged gaps</a:t>
            </a:r>
            <a:endParaRPr lang="en-US" sz="700" dirty="0"/>
          </a:p>
        </p:txBody>
      </p:sp>
      <p:sp>
        <p:nvSpPr>
          <p:cNvPr id="39" name="Shape 37"/>
          <p:cNvSpPr/>
          <p:nvPr/>
        </p:nvSpPr>
        <p:spPr>
          <a:xfrm>
            <a:off x="2281428" y="2578608"/>
            <a:ext cx="0" cy="329184"/>
          </a:xfrm>
          <a:prstGeom prst="line">
            <a:avLst/>
          </a:prstGeom>
          <a:noFill/>
          <a:ln w="12700">
            <a:solidFill>
              <a:srgbClr val="D28E14"/>
            </a:solidFill>
            <a:prstDash val="solid"/>
            <a:tailEnd type="triangle"/>
          </a:ln>
        </p:spPr>
      </p:sp>
      <p:sp>
        <p:nvSpPr>
          <p:cNvPr id="40" name="Shape 38"/>
          <p:cNvSpPr/>
          <p:nvPr/>
        </p:nvSpPr>
        <p:spPr>
          <a:xfrm>
            <a:off x="4238244" y="1572768"/>
            <a:ext cx="1152144" cy="1005840"/>
          </a:xfrm>
          <a:prstGeom prst="roundRect">
            <a:avLst>
              <a:gd name="adj" fmla="val 4545"/>
            </a:avLst>
          </a:prstGeom>
          <a:solidFill>
            <a:srgbClr val="FBEFD2"/>
          </a:solidFill>
          <a:ln w="9525">
            <a:solidFill>
              <a:srgbClr val="D28E14"/>
            </a:solidFill>
            <a:prstDash val="solid"/>
          </a:ln>
        </p:spPr>
      </p:sp>
      <p:sp>
        <p:nvSpPr>
          <p:cNvPr id="41" name="Text 39"/>
          <p:cNvSpPr/>
          <p:nvPr/>
        </p:nvSpPr>
        <p:spPr>
          <a:xfrm>
            <a:off x="4283964" y="1609344"/>
            <a:ext cx="1060704" cy="932688"/>
          </a:xfrm>
          <a:prstGeom prst="rect">
            <a:avLst/>
          </a:prstGeom>
          <a:noFill/>
          <a:ln/>
        </p:spPr>
        <p:txBody>
          <a:bodyPr wrap="square" lIns="0" tIns="0" rIns="0" bIns="0" rtlCol="0" anchor="t"/>
          <a:lstStyle/>
          <a:p>
            <a:pPr indent="0" marL="0">
              <a:buNone/>
            </a:pPr>
            <a:r>
              <a:rPr lang="en-US" sz="700" dirty="0">
                <a:solidFill>
                  <a:srgbClr val="1B2A24"/>
                </a:solidFill>
                <a:latin typeface="Arial" pitchFamily="34" charset="0"/>
                <a:ea typeface="Arial" pitchFamily="34" charset="-122"/>
                <a:cs typeface="Arial" pitchFamily="34" charset="-120"/>
              </a:rPr>
              <a:t>A3 · plan-template append + speckit.plan wrap: Architecture Conformance table (ARCH-### from the standards skills → satisfied / waiver / n-a, NFR allocation, boundary crossings, decisions)</a:t>
            </a:r>
            <a:endParaRPr lang="en-US" sz="700" dirty="0"/>
          </a:p>
        </p:txBody>
      </p:sp>
      <p:sp>
        <p:nvSpPr>
          <p:cNvPr id="42" name="Shape 40"/>
          <p:cNvSpPr/>
          <p:nvPr/>
        </p:nvSpPr>
        <p:spPr>
          <a:xfrm>
            <a:off x="4814316" y="2578608"/>
            <a:ext cx="0" cy="329184"/>
          </a:xfrm>
          <a:prstGeom prst="line">
            <a:avLst/>
          </a:prstGeom>
          <a:noFill/>
          <a:ln w="12700">
            <a:solidFill>
              <a:srgbClr val="D28E14"/>
            </a:solidFill>
            <a:prstDash val="solid"/>
            <a:tailEnd type="triangle"/>
          </a:ln>
        </p:spPr>
      </p:sp>
      <p:sp>
        <p:nvSpPr>
          <p:cNvPr id="43" name="Shape 41"/>
          <p:cNvSpPr/>
          <p:nvPr/>
        </p:nvSpPr>
        <p:spPr>
          <a:xfrm>
            <a:off x="5504688" y="1572768"/>
            <a:ext cx="1152144" cy="1005840"/>
          </a:xfrm>
          <a:prstGeom prst="roundRect">
            <a:avLst>
              <a:gd name="adj" fmla="val 4545"/>
            </a:avLst>
          </a:prstGeom>
          <a:solidFill>
            <a:srgbClr val="FBEFD2"/>
          </a:solidFill>
          <a:ln w="9525">
            <a:solidFill>
              <a:srgbClr val="D28E14"/>
            </a:solidFill>
            <a:prstDash val="solid"/>
          </a:ln>
        </p:spPr>
      </p:sp>
      <p:sp>
        <p:nvSpPr>
          <p:cNvPr id="44" name="Text 42"/>
          <p:cNvSpPr/>
          <p:nvPr/>
        </p:nvSpPr>
        <p:spPr>
          <a:xfrm>
            <a:off x="5550408" y="1609344"/>
            <a:ext cx="1060704" cy="932688"/>
          </a:xfrm>
          <a:prstGeom prst="rect">
            <a:avLst/>
          </a:prstGeom>
          <a:noFill/>
          <a:ln/>
        </p:spPr>
        <p:txBody>
          <a:bodyPr wrap="square" lIns="0" tIns="0" rIns="0" bIns="0" rtlCol="0" anchor="t"/>
          <a:lstStyle/>
          <a:p>
            <a:pPr indent="0" marL="0">
              <a:buNone/>
            </a:pPr>
            <a:r>
              <a:rPr lang="en-US" sz="700" dirty="0">
                <a:solidFill>
                  <a:srgbClr val="1B2A24"/>
                </a:solidFill>
                <a:latin typeface="Arial" pitchFamily="34" charset="0"/>
                <a:ea typeface="Arial" pitchFamily="34" charset="-122"/>
                <a:cs typeface="Arial" pitchFamily="34" charset="-120"/>
              </a:rPr>
              <a:t>A3 · tasks-template append + speckit.tasks wrap: “Architecture fitness tests” phase (tests-first) and Carries: requirement / ARCH IDs on every task</a:t>
            </a:r>
            <a:endParaRPr lang="en-US" sz="700" dirty="0"/>
          </a:p>
        </p:txBody>
      </p:sp>
      <p:sp>
        <p:nvSpPr>
          <p:cNvPr id="45" name="Shape 43"/>
          <p:cNvSpPr/>
          <p:nvPr/>
        </p:nvSpPr>
        <p:spPr>
          <a:xfrm>
            <a:off x="6080760" y="2578608"/>
            <a:ext cx="0" cy="329184"/>
          </a:xfrm>
          <a:prstGeom prst="line">
            <a:avLst/>
          </a:prstGeom>
          <a:noFill/>
          <a:ln w="12700">
            <a:solidFill>
              <a:srgbClr val="D28E14"/>
            </a:solidFill>
            <a:prstDash val="solid"/>
            <a:tailEnd type="triangle"/>
          </a:ln>
        </p:spPr>
      </p:sp>
      <p:sp>
        <p:nvSpPr>
          <p:cNvPr id="46" name="Shape 44"/>
          <p:cNvSpPr/>
          <p:nvPr/>
        </p:nvSpPr>
        <p:spPr>
          <a:xfrm>
            <a:off x="1705356" y="3840480"/>
            <a:ext cx="1152144" cy="1298448"/>
          </a:xfrm>
          <a:prstGeom prst="roundRect">
            <a:avLst>
              <a:gd name="adj" fmla="val 3968"/>
            </a:avLst>
          </a:prstGeom>
          <a:solidFill>
            <a:srgbClr val="EAF5EE"/>
          </a:solidFill>
          <a:ln w="9525">
            <a:solidFill>
              <a:srgbClr val="0B3F2C"/>
            </a:solidFill>
            <a:prstDash val="solid"/>
          </a:ln>
        </p:spPr>
      </p:sp>
      <p:sp>
        <p:nvSpPr>
          <p:cNvPr id="47" name="Text 45"/>
          <p:cNvSpPr/>
          <p:nvPr/>
        </p:nvSpPr>
        <p:spPr>
          <a:xfrm>
            <a:off x="1751076" y="3877056"/>
            <a:ext cx="1060704" cy="1225296"/>
          </a:xfrm>
          <a:prstGeom prst="rect">
            <a:avLst/>
          </a:prstGeom>
          <a:noFill/>
          <a:ln/>
        </p:spPr>
        <p:txBody>
          <a:bodyPr wrap="square" lIns="0" tIns="0" rIns="0" bIns="0" rtlCol="0" anchor="t"/>
          <a:lstStyle/>
          <a:p>
            <a:pPr indent="0" marL="0">
              <a:buNone/>
            </a:pPr>
            <a:r>
              <a:rPr lang="en-US" sz="680" dirty="0">
                <a:solidFill>
                  <a:srgbClr val="1B2A24"/>
                </a:solidFill>
                <a:latin typeface="Arial" pitchFamily="34" charset="0"/>
                <a:ea typeface="Arial" pitchFamily="34" charset="-122"/>
                <a:cs typeface="Arial" pitchFamily="34" charset="-120"/>
              </a:rPr>
              <a:t>after_specify: import validator — up-tracing D ← BR ← AC ← SC ← UC, IDs, hash → verdict (integration built; validator to confirm)</a:t>
            </a:r>
            <a:endParaRPr lang="en-US" sz="680" dirty="0"/>
          </a:p>
        </p:txBody>
      </p:sp>
      <p:sp>
        <p:nvSpPr>
          <p:cNvPr id="48" name="Shape 46"/>
          <p:cNvSpPr/>
          <p:nvPr/>
        </p:nvSpPr>
        <p:spPr>
          <a:xfrm>
            <a:off x="2281428" y="3456432"/>
            <a:ext cx="0" cy="365760"/>
          </a:xfrm>
          <a:prstGeom prst="line">
            <a:avLst/>
          </a:prstGeom>
          <a:noFill/>
          <a:ln w="12700">
            <a:solidFill>
              <a:srgbClr val="0B3F2C"/>
            </a:solidFill>
            <a:prstDash val="solid"/>
            <a:tailEnd type="triangle"/>
          </a:ln>
        </p:spPr>
      </p:sp>
      <p:sp>
        <p:nvSpPr>
          <p:cNvPr id="49" name="Shape 47"/>
          <p:cNvSpPr/>
          <p:nvPr/>
        </p:nvSpPr>
        <p:spPr>
          <a:xfrm>
            <a:off x="4238244" y="3840480"/>
            <a:ext cx="1152144" cy="1298448"/>
          </a:xfrm>
          <a:prstGeom prst="roundRect">
            <a:avLst>
              <a:gd name="adj" fmla="val 3968"/>
            </a:avLst>
          </a:prstGeom>
          <a:solidFill>
            <a:srgbClr val="EAF5EE"/>
          </a:solidFill>
          <a:ln w="9525">
            <a:solidFill>
              <a:srgbClr val="0B3F2C"/>
            </a:solidFill>
            <a:prstDash val="solid"/>
          </a:ln>
        </p:spPr>
      </p:sp>
      <p:sp>
        <p:nvSpPr>
          <p:cNvPr id="50" name="Text 48"/>
          <p:cNvSpPr/>
          <p:nvPr/>
        </p:nvSpPr>
        <p:spPr>
          <a:xfrm>
            <a:off x="4283964" y="3877056"/>
            <a:ext cx="1060704" cy="1225296"/>
          </a:xfrm>
          <a:prstGeom prst="rect">
            <a:avLst/>
          </a:prstGeom>
          <a:noFill/>
          <a:ln/>
        </p:spPr>
        <p:txBody>
          <a:bodyPr wrap="square" lIns="0" tIns="0" rIns="0" bIns="0" rtlCol="0" anchor="t"/>
          <a:lstStyle/>
          <a:p>
            <a:pPr indent="0" marL="0">
              <a:buNone/>
            </a:pPr>
            <a:r>
              <a:rPr lang="en-US" sz="680" dirty="0">
                <a:solidFill>
                  <a:srgbClr val="1B2A24"/>
                </a:solidFill>
                <a:latin typeface="Arial" pitchFamily="34" charset="0"/>
                <a:ea typeface="Arial" pitchFamily="34" charset="-122"/>
                <a:cs typeface="Arial" pitchFamily="34" charset="-120"/>
              </a:rPr>
              <a:t>before_plan: A0 domain map guard (version pin, context) · context loader (standards skills, ADRs)</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after_plan: A3 check-plan → verdict + checklists/architecture.md · decide (ADR draft)</a:t>
            </a:r>
            <a:endParaRPr lang="en-US" sz="680" dirty="0"/>
          </a:p>
        </p:txBody>
      </p:sp>
      <p:sp>
        <p:nvSpPr>
          <p:cNvPr id="51" name="Shape 49"/>
          <p:cNvSpPr/>
          <p:nvPr/>
        </p:nvSpPr>
        <p:spPr>
          <a:xfrm>
            <a:off x="4814316" y="3456432"/>
            <a:ext cx="0" cy="365760"/>
          </a:xfrm>
          <a:prstGeom prst="line">
            <a:avLst/>
          </a:prstGeom>
          <a:noFill/>
          <a:ln w="12700">
            <a:solidFill>
              <a:srgbClr val="0B3F2C"/>
            </a:solidFill>
            <a:prstDash val="solid"/>
            <a:tailEnd type="triangle"/>
          </a:ln>
        </p:spPr>
      </p:sp>
      <p:sp>
        <p:nvSpPr>
          <p:cNvPr id="52" name="Shape 50"/>
          <p:cNvSpPr/>
          <p:nvPr/>
        </p:nvSpPr>
        <p:spPr>
          <a:xfrm>
            <a:off x="5504688" y="3840480"/>
            <a:ext cx="1152144" cy="1298448"/>
          </a:xfrm>
          <a:prstGeom prst="roundRect">
            <a:avLst>
              <a:gd name="adj" fmla="val 3968"/>
            </a:avLst>
          </a:prstGeom>
          <a:solidFill>
            <a:srgbClr val="EAF5EE"/>
          </a:solidFill>
          <a:ln w="9525">
            <a:solidFill>
              <a:srgbClr val="0B3F2C"/>
            </a:solidFill>
            <a:prstDash val="solid"/>
          </a:ln>
        </p:spPr>
      </p:sp>
      <p:sp>
        <p:nvSpPr>
          <p:cNvPr id="53" name="Text 51"/>
          <p:cNvSpPr/>
          <p:nvPr/>
        </p:nvSpPr>
        <p:spPr>
          <a:xfrm>
            <a:off x="5550408" y="3877056"/>
            <a:ext cx="1060704" cy="1225296"/>
          </a:xfrm>
          <a:prstGeom prst="rect">
            <a:avLst/>
          </a:prstGeom>
          <a:noFill/>
          <a:ln/>
        </p:spPr>
        <p:txBody>
          <a:bodyPr wrap="square" lIns="0" tIns="0" rIns="0" bIns="0" rtlCol="0" anchor="t"/>
          <a:lstStyle/>
          <a:p>
            <a:pPr indent="0" marL="0">
              <a:buNone/>
            </a:pPr>
            <a:r>
              <a:rPr lang="en-US" sz="680" dirty="0">
                <a:solidFill>
                  <a:srgbClr val="1B2A24"/>
                </a:solidFill>
                <a:latin typeface="Arial" pitchFamily="34" charset="0"/>
                <a:ea typeface="Arial" pitchFamily="34" charset="-122"/>
                <a:cs typeface="Arial" pitchFamily="34" charset="-120"/>
              </a:rPr>
              <a:t>after_tasks: A3 task guard — Carries: IDs, fitness-test tasks present → verdict</a:t>
            </a:r>
            <a:endParaRPr lang="en-US" sz="680" dirty="0"/>
          </a:p>
        </p:txBody>
      </p:sp>
      <p:sp>
        <p:nvSpPr>
          <p:cNvPr id="54" name="Shape 52"/>
          <p:cNvSpPr/>
          <p:nvPr/>
        </p:nvSpPr>
        <p:spPr>
          <a:xfrm>
            <a:off x="6080760" y="3456432"/>
            <a:ext cx="0" cy="365760"/>
          </a:xfrm>
          <a:prstGeom prst="line">
            <a:avLst/>
          </a:prstGeom>
          <a:noFill/>
          <a:ln w="12700">
            <a:solidFill>
              <a:srgbClr val="0B3F2C"/>
            </a:solidFill>
            <a:prstDash val="solid"/>
            <a:tailEnd type="triangle"/>
          </a:ln>
        </p:spPr>
      </p:sp>
      <p:sp>
        <p:nvSpPr>
          <p:cNvPr id="55" name="Shape 53"/>
          <p:cNvSpPr/>
          <p:nvPr/>
        </p:nvSpPr>
        <p:spPr>
          <a:xfrm>
            <a:off x="6771132" y="3840480"/>
            <a:ext cx="1152144" cy="1298448"/>
          </a:xfrm>
          <a:prstGeom prst="roundRect">
            <a:avLst>
              <a:gd name="adj" fmla="val 3968"/>
            </a:avLst>
          </a:prstGeom>
          <a:solidFill>
            <a:srgbClr val="D5EBDD"/>
          </a:solidFill>
          <a:ln w="9525">
            <a:solidFill>
              <a:srgbClr val="0E6B45"/>
            </a:solidFill>
            <a:prstDash val="solid"/>
          </a:ln>
        </p:spPr>
      </p:sp>
      <p:sp>
        <p:nvSpPr>
          <p:cNvPr id="56" name="Text 54"/>
          <p:cNvSpPr/>
          <p:nvPr/>
        </p:nvSpPr>
        <p:spPr>
          <a:xfrm>
            <a:off x="6816852" y="3877056"/>
            <a:ext cx="1060704" cy="1225296"/>
          </a:xfrm>
          <a:prstGeom prst="rect">
            <a:avLst/>
          </a:prstGeom>
          <a:noFill/>
          <a:ln/>
        </p:spPr>
        <p:txBody>
          <a:bodyPr wrap="square" lIns="0" tIns="0" rIns="0" bIns="0" rtlCol="0" anchor="t"/>
          <a:lstStyle/>
          <a:p>
            <a:pPr indent="0" marL="0">
              <a:buNone/>
            </a:pPr>
            <a:r>
              <a:rPr lang="en-US" sz="680" dirty="0">
                <a:solidFill>
                  <a:srgbClr val="1B2A24"/>
                </a:solidFill>
                <a:latin typeface="Arial" pitchFamily="34" charset="0"/>
                <a:ea typeface="Arial" pitchFamily="34" charset="-122"/>
                <a:cs typeface="Arial" pitchFamily="34" charset="-120"/>
              </a:rPr>
              <a:t>native: constitution conflicts and missing mandated sections = CRITICAL → resolve before implement</a:t>
            </a:r>
            <a:endParaRPr lang="en-US" sz="680" dirty="0"/>
          </a:p>
        </p:txBody>
      </p:sp>
      <p:sp>
        <p:nvSpPr>
          <p:cNvPr id="57" name="Shape 55"/>
          <p:cNvSpPr/>
          <p:nvPr/>
        </p:nvSpPr>
        <p:spPr>
          <a:xfrm>
            <a:off x="7347204" y="3456432"/>
            <a:ext cx="0" cy="365760"/>
          </a:xfrm>
          <a:prstGeom prst="line">
            <a:avLst/>
          </a:prstGeom>
          <a:noFill/>
          <a:ln w="12700">
            <a:solidFill>
              <a:srgbClr val="0E6B45"/>
            </a:solidFill>
            <a:prstDash val="solid"/>
            <a:tailEnd type="triangle"/>
          </a:ln>
        </p:spPr>
      </p:sp>
      <p:sp>
        <p:nvSpPr>
          <p:cNvPr id="58" name="Shape 56"/>
          <p:cNvSpPr/>
          <p:nvPr/>
        </p:nvSpPr>
        <p:spPr>
          <a:xfrm>
            <a:off x="8037576" y="3840480"/>
            <a:ext cx="1152144" cy="1298448"/>
          </a:xfrm>
          <a:prstGeom prst="roundRect">
            <a:avLst>
              <a:gd name="adj" fmla="val 3968"/>
            </a:avLst>
          </a:prstGeom>
          <a:solidFill>
            <a:srgbClr val="EAF5EE"/>
          </a:solidFill>
          <a:ln w="9525">
            <a:solidFill>
              <a:srgbClr val="0B3F2C"/>
            </a:solidFill>
            <a:prstDash val="solid"/>
          </a:ln>
        </p:spPr>
      </p:sp>
      <p:sp>
        <p:nvSpPr>
          <p:cNvPr id="59" name="Text 57"/>
          <p:cNvSpPr/>
          <p:nvPr/>
        </p:nvSpPr>
        <p:spPr>
          <a:xfrm>
            <a:off x="8083296" y="3877056"/>
            <a:ext cx="1060704" cy="1225296"/>
          </a:xfrm>
          <a:prstGeom prst="rect">
            <a:avLst/>
          </a:prstGeom>
          <a:noFill/>
          <a:ln/>
        </p:spPr>
        <p:txBody>
          <a:bodyPr wrap="square" lIns="0" tIns="0" rIns="0" bIns="0" rtlCol="0" anchor="t"/>
          <a:lstStyle/>
          <a:p>
            <a:pPr indent="0" marL="0">
              <a:buNone/>
            </a:pPr>
            <a:r>
              <a:rPr lang="en-US" sz="680" dirty="0">
                <a:solidFill>
                  <a:srgbClr val="1B2A24"/>
                </a:solidFill>
                <a:latin typeface="Arial" pitchFamily="34" charset="0"/>
                <a:ea typeface="Arial" pitchFamily="34" charset="-122"/>
                <a:cs typeface="Arial" pitchFamily="34" charset="-120"/>
              </a:rPr>
              <a:t>A4 · start: native checklist STOP-gate reads checklists/architecture.md</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before_implement: A0 pin check · context</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after_implement / after_converge: fitness runner → verdict · audit ledger</a:t>
            </a:r>
            <a:endParaRPr lang="en-US" sz="680" dirty="0"/>
          </a:p>
        </p:txBody>
      </p:sp>
      <p:sp>
        <p:nvSpPr>
          <p:cNvPr id="60" name="Shape 58"/>
          <p:cNvSpPr/>
          <p:nvPr/>
        </p:nvSpPr>
        <p:spPr>
          <a:xfrm>
            <a:off x="8613648" y="3456432"/>
            <a:ext cx="0" cy="365760"/>
          </a:xfrm>
          <a:prstGeom prst="line">
            <a:avLst/>
          </a:prstGeom>
          <a:noFill/>
          <a:ln w="12700">
            <a:solidFill>
              <a:srgbClr val="0B3F2C"/>
            </a:solidFill>
            <a:prstDash val="solid"/>
            <a:tailEnd type="triangle"/>
          </a:ln>
        </p:spPr>
      </p:sp>
      <p:sp>
        <p:nvSpPr>
          <p:cNvPr id="61" name="Shape 59"/>
          <p:cNvSpPr/>
          <p:nvPr/>
        </p:nvSpPr>
        <p:spPr>
          <a:xfrm>
            <a:off x="9304020" y="3840480"/>
            <a:ext cx="1152144" cy="1298448"/>
          </a:xfrm>
          <a:prstGeom prst="roundRect">
            <a:avLst>
              <a:gd name="adj" fmla="val 3968"/>
            </a:avLst>
          </a:prstGeom>
          <a:solidFill>
            <a:srgbClr val="DCE3DF"/>
          </a:solidFill>
          <a:ln w="9525">
            <a:solidFill>
              <a:srgbClr val="3E4F48"/>
            </a:solidFill>
            <a:prstDash val="solid"/>
          </a:ln>
        </p:spPr>
      </p:sp>
      <p:sp>
        <p:nvSpPr>
          <p:cNvPr id="62" name="Text 60"/>
          <p:cNvSpPr/>
          <p:nvPr/>
        </p:nvSpPr>
        <p:spPr>
          <a:xfrm>
            <a:off x="9349740" y="3877056"/>
            <a:ext cx="1060704" cy="1225296"/>
          </a:xfrm>
          <a:prstGeom prst="rect">
            <a:avLst/>
          </a:prstGeom>
          <a:noFill/>
          <a:ln/>
        </p:spPr>
        <p:txBody>
          <a:bodyPr wrap="square" lIns="0" tIns="0" rIns="0" bIns="0" rtlCol="0" anchor="t"/>
          <a:lstStyle/>
          <a:p>
            <a:pPr indent="0" marL="0">
              <a:buNone/>
            </a:pPr>
            <a:r>
              <a:rPr lang="en-US" sz="680" dirty="0">
                <a:solidFill>
                  <a:srgbClr val="1B2A24"/>
                </a:solidFill>
                <a:latin typeface="Arial" pitchFamily="34" charset="0"/>
                <a:ea typeface="Arial" pitchFamily="34" charset="-122"/>
                <a:cs typeface="Arial" pitchFamily="34" charset="-120"/>
              </a:rPr>
              <a:t>A5 · workflow shell: run suite + fitness → do-while back to implement while exit ≠ 0 (max N); NFR tests</a:t>
            </a:r>
            <a:endParaRPr lang="en-US" sz="680" dirty="0"/>
          </a:p>
        </p:txBody>
      </p:sp>
      <p:sp>
        <p:nvSpPr>
          <p:cNvPr id="63" name="Shape 61"/>
          <p:cNvSpPr/>
          <p:nvPr/>
        </p:nvSpPr>
        <p:spPr>
          <a:xfrm>
            <a:off x="9880092" y="3456432"/>
            <a:ext cx="0" cy="365760"/>
          </a:xfrm>
          <a:prstGeom prst="line">
            <a:avLst/>
          </a:prstGeom>
          <a:noFill/>
          <a:ln w="12700">
            <a:solidFill>
              <a:srgbClr val="3E4F48"/>
            </a:solidFill>
            <a:prstDash val="solid"/>
            <a:tailEnd type="triangle"/>
          </a:ln>
        </p:spPr>
      </p:sp>
      <p:sp>
        <p:nvSpPr>
          <p:cNvPr id="64" name="Shape 62"/>
          <p:cNvSpPr/>
          <p:nvPr/>
        </p:nvSpPr>
        <p:spPr>
          <a:xfrm>
            <a:off x="10570464" y="3840480"/>
            <a:ext cx="1152144" cy="1298448"/>
          </a:xfrm>
          <a:prstGeom prst="roundRect">
            <a:avLst>
              <a:gd name="adj" fmla="val 3968"/>
            </a:avLst>
          </a:prstGeom>
          <a:solidFill>
            <a:srgbClr val="DCE3DF"/>
          </a:solidFill>
          <a:ln w="9525">
            <a:solidFill>
              <a:srgbClr val="3E4F48"/>
            </a:solidFill>
            <a:prstDash val="solid"/>
          </a:ln>
        </p:spPr>
      </p:sp>
      <p:sp>
        <p:nvSpPr>
          <p:cNvPr id="65" name="Text 63"/>
          <p:cNvSpPr/>
          <p:nvPr/>
        </p:nvSpPr>
        <p:spPr>
          <a:xfrm>
            <a:off x="10616184" y="3877056"/>
            <a:ext cx="1060704" cy="1225296"/>
          </a:xfrm>
          <a:prstGeom prst="rect">
            <a:avLst/>
          </a:prstGeom>
          <a:noFill/>
          <a:ln/>
        </p:spPr>
        <p:txBody>
          <a:bodyPr wrap="square" lIns="0" tIns="0" rIns="0" bIns="0" rtlCol="0" anchor="t"/>
          <a:lstStyle/>
          <a:p>
            <a:pPr indent="0" marL="0">
              <a:buNone/>
            </a:pPr>
            <a:r>
              <a:rPr lang="en-US" sz="680" dirty="0">
                <a:solidFill>
                  <a:srgbClr val="1B2A24"/>
                </a:solidFill>
                <a:latin typeface="Arial" pitchFamily="34" charset="0"/>
                <a:ea typeface="Arial" pitchFamily="34" charset="-122"/>
                <a:cs typeface="Arial" pitchFamily="34" charset="-120"/>
              </a:rPr>
              <a:t>A6 · required PR status checks: the same scripts (validator, check-plan, check-tasks, fitness) — pipeline unchanged</a:t>
            </a:r>
            <a:endParaRPr lang="en-US" sz="680" dirty="0"/>
          </a:p>
        </p:txBody>
      </p:sp>
      <p:sp>
        <p:nvSpPr>
          <p:cNvPr id="66" name="Shape 64"/>
          <p:cNvSpPr/>
          <p:nvPr/>
        </p:nvSpPr>
        <p:spPr>
          <a:xfrm>
            <a:off x="11146536" y="3456432"/>
            <a:ext cx="0" cy="365760"/>
          </a:xfrm>
          <a:prstGeom prst="line">
            <a:avLst/>
          </a:prstGeom>
          <a:noFill/>
          <a:ln w="12700">
            <a:solidFill>
              <a:srgbClr val="3E4F48"/>
            </a:solidFill>
            <a:prstDash val="solid"/>
            <a:tailEnd type="triangle"/>
          </a:ln>
        </p:spPr>
      </p:sp>
      <p:sp>
        <p:nvSpPr>
          <p:cNvPr id="67" name="Shape 65"/>
          <p:cNvSpPr/>
          <p:nvPr/>
        </p:nvSpPr>
        <p:spPr>
          <a:xfrm>
            <a:off x="1723644" y="5541264"/>
            <a:ext cx="2382012" cy="640080"/>
          </a:xfrm>
          <a:prstGeom prst="roundRect">
            <a:avLst>
              <a:gd name="adj" fmla="val 7143"/>
            </a:avLst>
          </a:prstGeom>
          <a:solidFill>
            <a:srgbClr val="DCE3DF"/>
          </a:solidFill>
          <a:ln w="9525">
            <a:solidFill>
              <a:srgbClr val="3E4F48"/>
            </a:solidFill>
            <a:prstDash val="solid"/>
          </a:ln>
        </p:spPr>
      </p:sp>
      <p:sp>
        <p:nvSpPr>
          <p:cNvPr id="68" name="Text 66"/>
          <p:cNvSpPr/>
          <p:nvPr/>
        </p:nvSpPr>
        <p:spPr>
          <a:xfrm>
            <a:off x="1796796" y="5577840"/>
            <a:ext cx="2235708" cy="566928"/>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 BA gate — specification imported from ShAIping (integration built), validator green</a:t>
            </a:r>
            <a:endParaRPr lang="en-US" sz="750" dirty="0"/>
          </a:p>
        </p:txBody>
      </p:sp>
      <p:sp>
        <p:nvSpPr>
          <p:cNvPr id="69" name="Shape 67"/>
          <p:cNvSpPr/>
          <p:nvPr/>
        </p:nvSpPr>
        <p:spPr>
          <a:xfrm>
            <a:off x="4256532" y="5541264"/>
            <a:ext cx="3648456" cy="640080"/>
          </a:xfrm>
          <a:prstGeom prst="roundRect">
            <a:avLst>
              <a:gd name="adj" fmla="val 7143"/>
            </a:avLst>
          </a:prstGeom>
          <a:solidFill>
            <a:srgbClr val="DCE3DF"/>
          </a:solidFill>
          <a:ln w="9525">
            <a:solidFill>
              <a:srgbClr val="3E4F48"/>
            </a:solidFill>
            <a:prstDash val="solid"/>
          </a:ln>
        </p:spPr>
      </p:sp>
      <p:sp>
        <p:nvSpPr>
          <p:cNvPr id="70" name="Text 68"/>
          <p:cNvSpPr/>
          <p:nvPr/>
        </p:nvSpPr>
        <p:spPr>
          <a:xfrm>
            <a:off x="4329684" y="5577840"/>
            <a:ext cx="3502152" cy="566928"/>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 design authority gate — lead architect signs plan + tasks (A3 conformance verdict, ADRs, analyze CRITICAL = 0)</a:t>
            </a:r>
            <a:endParaRPr lang="en-US" sz="750" dirty="0"/>
          </a:p>
        </p:txBody>
      </p:sp>
      <p:sp>
        <p:nvSpPr>
          <p:cNvPr id="71" name="Shape 69"/>
          <p:cNvSpPr/>
          <p:nvPr/>
        </p:nvSpPr>
        <p:spPr>
          <a:xfrm>
            <a:off x="8055864" y="5541264"/>
            <a:ext cx="3648456" cy="640080"/>
          </a:xfrm>
          <a:prstGeom prst="roundRect">
            <a:avLst>
              <a:gd name="adj" fmla="val 7143"/>
            </a:avLst>
          </a:prstGeom>
          <a:solidFill>
            <a:srgbClr val="DCE3DF"/>
          </a:solidFill>
          <a:ln w="9525">
            <a:solidFill>
              <a:srgbClr val="3E4F48"/>
            </a:solidFill>
            <a:prstDash val="solid"/>
          </a:ln>
        </p:spPr>
      </p:sp>
      <p:sp>
        <p:nvSpPr>
          <p:cNvPr id="72" name="Text 70"/>
          <p:cNvSpPr/>
          <p:nvPr/>
        </p:nvSpPr>
        <p:spPr>
          <a:xfrm>
            <a:off x="8129016" y="5577840"/>
            <a:ext cx="3502152" cy="566928"/>
          </a:xfrm>
          <a:prstGeom prst="rect">
            <a:avLst/>
          </a:prstGeom>
          <a:noFill/>
          <a:ln/>
        </p:spPr>
        <p:txBody>
          <a:bodyPr wrap="square" lIns="0" tIns="0" rIns="0" bIns="0" rtlCol="0" anchor="ctr"/>
          <a:lstStyle/>
          <a:p>
            <a:pPr indent="0" marL="0">
              <a:buNone/>
            </a:pPr>
            <a:r>
              <a:rPr lang="en-US" sz="750" dirty="0">
                <a:solidFill>
                  <a:srgbClr val="1B2A24"/>
                </a:solidFill>
                <a:latin typeface="Arial" pitchFamily="34" charset="0"/>
                <a:ea typeface="Arial" pitchFamily="34" charset="-122"/>
                <a:cs typeface="Arial" pitchFamily="34" charset="-120"/>
              </a:rPr>
              <a:t>◆ tech lead / QA gate — test exit: tests + A4/A5 fitness green, A6 checks green, PR approved → code enters the existing CI/CD</a:t>
            </a:r>
            <a:endParaRPr lang="en-US" sz="750" dirty="0"/>
          </a:p>
        </p:txBody>
      </p:sp>
      <p:sp>
        <p:nvSpPr>
          <p:cNvPr id="73" name="Text 71"/>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7955280" cy="45720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Step 1 · Requirements</a:t>
            </a:r>
            <a:endParaRPr lang="en-US" sz="2400" dirty="0"/>
          </a:p>
        </p:txBody>
      </p:sp>
      <p:sp>
        <p:nvSpPr>
          <p:cNvPr id="3" name="Text 1"/>
          <p:cNvSpPr/>
          <p:nvPr/>
        </p:nvSpPr>
        <p:spPr>
          <a:xfrm>
            <a:off x="457200" y="749808"/>
            <a:ext cx="8412480" cy="502920"/>
          </a:xfrm>
          <a:prstGeom prst="rect">
            <a:avLst/>
          </a:prstGeom>
          <a:noFill/>
          <a:ln/>
        </p:spPr>
        <p:txBody>
          <a:bodyPr wrap="square" lIns="0" tIns="0" rIns="0" bIns="0" rtlCol="0" anchor="t"/>
          <a:lstStyle/>
          <a:p>
            <a:pPr indent="0" marL="0">
              <a:buNone/>
            </a:pPr>
            <a:r>
              <a:rPr lang="en-US" sz="1100" b="1" dirty="0">
                <a:solidFill>
                  <a:srgbClr val="0E6B45"/>
                </a:solidFill>
                <a:latin typeface="Arial" pitchFamily="34" charset="0"/>
                <a:ea typeface="Arial" pitchFamily="34" charset="-122"/>
                <a:cs typeface="Arial" pitchFamily="34" charset="-120"/>
              </a:rPr>
              <a:t>Requirements are owned by the business, assigned to a bounded context and an owner, and baselined by a human — architecture enters here through the domain map, not in a late review.</a:t>
            </a:r>
            <a:endParaRPr lang="en-US" sz="1100" dirty="0"/>
          </a:p>
        </p:txBody>
      </p:sp>
      <p:sp>
        <p:nvSpPr>
          <p:cNvPr id="4" name="Text 2"/>
          <p:cNvSpPr/>
          <p:nvPr/>
        </p:nvSpPr>
        <p:spPr>
          <a:xfrm>
            <a:off x="8549640" y="310896"/>
            <a:ext cx="1024128" cy="210312"/>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native</a:t>
            </a:r>
            <a:endParaRPr lang="en-US" sz="650" dirty="0"/>
          </a:p>
        </p:txBody>
      </p:sp>
      <p:sp>
        <p:nvSpPr>
          <p:cNvPr id="5" name="Text 3"/>
          <p:cNvSpPr/>
          <p:nvPr/>
        </p:nvSpPr>
        <p:spPr>
          <a:xfrm>
            <a:off x="9628632" y="310896"/>
            <a:ext cx="1024128" cy="210312"/>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available</a:t>
            </a:r>
            <a:endParaRPr lang="en-US" sz="650" dirty="0"/>
          </a:p>
        </p:txBody>
      </p:sp>
      <p:sp>
        <p:nvSpPr>
          <p:cNvPr id="6" name="Text 4"/>
          <p:cNvSpPr/>
          <p:nvPr/>
        </p:nvSpPr>
        <p:spPr>
          <a:xfrm>
            <a:off x="10707624" y="310896"/>
            <a:ext cx="1024128" cy="210312"/>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in progress</a:t>
            </a:r>
            <a:endParaRPr lang="en-US" sz="650" dirty="0"/>
          </a:p>
        </p:txBody>
      </p:sp>
      <p:sp>
        <p:nvSpPr>
          <p:cNvPr id="7" name="Text 5"/>
          <p:cNvSpPr/>
          <p:nvPr/>
        </p:nvSpPr>
        <p:spPr>
          <a:xfrm>
            <a:off x="8549640" y="576072"/>
            <a:ext cx="1024128" cy="210312"/>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8" name="Text 6"/>
          <p:cNvSpPr/>
          <p:nvPr/>
        </p:nvSpPr>
        <p:spPr>
          <a:xfrm>
            <a:off x="9628632" y="576072"/>
            <a:ext cx="1024128" cy="210312"/>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9" name="Text 7"/>
          <p:cNvSpPr/>
          <p:nvPr/>
        </p:nvSpPr>
        <p:spPr>
          <a:xfrm>
            <a:off x="457200" y="1298448"/>
            <a:ext cx="1481328" cy="310896"/>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1 · Requirements</a:t>
            </a:r>
            <a:endParaRPr lang="en-US" sz="900" dirty="0"/>
          </a:p>
        </p:txBody>
      </p:sp>
      <p:sp>
        <p:nvSpPr>
          <p:cNvPr id="10" name="Text 8"/>
          <p:cNvSpPr/>
          <p:nvPr/>
        </p:nvSpPr>
        <p:spPr>
          <a:xfrm>
            <a:off x="2048256"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2 · Plan</a:t>
            </a:r>
            <a:endParaRPr lang="en-US" sz="900" dirty="0"/>
          </a:p>
        </p:txBody>
      </p:sp>
      <p:sp>
        <p:nvSpPr>
          <p:cNvPr id="11" name="Text 9"/>
          <p:cNvSpPr/>
          <p:nvPr/>
        </p:nvSpPr>
        <p:spPr>
          <a:xfrm>
            <a:off x="3639312"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3 · Design</a:t>
            </a:r>
            <a:endParaRPr lang="en-US" sz="900" dirty="0"/>
          </a:p>
        </p:txBody>
      </p:sp>
      <p:sp>
        <p:nvSpPr>
          <p:cNvPr id="12" name="Text 10"/>
          <p:cNvSpPr/>
          <p:nvPr/>
        </p:nvSpPr>
        <p:spPr>
          <a:xfrm>
            <a:off x="5230368"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4 · Implement</a:t>
            </a:r>
            <a:endParaRPr lang="en-US" sz="900" dirty="0"/>
          </a:p>
        </p:txBody>
      </p:sp>
      <p:sp>
        <p:nvSpPr>
          <p:cNvPr id="13" name="Text 11"/>
          <p:cNvSpPr/>
          <p:nvPr/>
        </p:nvSpPr>
        <p:spPr>
          <a:xfrm>
            <a:off x="6821424"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5 · Test</a:t>
            </a:r>
            <a:endParaRPr lang="en-US" sz="900" dirty="0"/>
          </a:p>
        </p:txBody>
      </p:sp>
      <p:sp>
        <p:nvSpPr>
          <p:cNvPr id="14" name="Text 12"/>
          <p:cNvSpPr/>
          <p:nvPr/>
        </p:nvSpPr>
        <p:spPr>
          <a:xfrm>
            <a:off x="841248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6 · Deploy</a:t>
            </a:r>
            <a:endParaRPr lang="en-US" sz="900" dirty="0"/>
          </a:p>
        </p:txBody>
      </p:sp>
      <p:sp>
        <p:nvSpPr>
          <p:cNvPr id="15" name="Text 13"/>
          <p:cNvSpPr/>
          <p:nvPr/>
        </p:nvSpPr>
        <p:spPr>
          <a:xfrm>
            <a:off x="10003536"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7 · Operate &amp; assess</a:t>
            </a:r>
            <a:endParaRPr lang="en-US" sz="900" dirty="0"/>
          </a:p>
        </p:txBody>
      </p:sp>
      <p:sp>
        <p:nvSpPr>
          <p:cNvPr id="16" name="Shape 14"/>
          <p:cNvSpPr/>
          <p:nvPr/>
        </p:nvSpPr>
        <p:spPr>
          <a:xfrm>
            <a:off x="457200" y="1783080"/>
            <a:ext cx="7818120" cy="1554480"/>
          </a:xfrm>
          <a:prstGeom prst="roundRect">
            <a:avLst>
              <a:gd name="adj" fmla="val 4706"/>
            </a:avLst>
          </a:prstGeom>
          <a:solidFill>
            <a:srgbClr val="EAF5EE"/>
          </a:solidFill>
          <a:ln w="12700">
            <a:solidFill>
              <a:srgbClr val="EAF5EE"/>
            </a:solidFill>
            <a:prstDash val="solid"/>
          </a:ln>
        </p:spPr>
      </p:sp>
      <p:sp>
        <p:nvSpPr>
          <p:cNvPr id="17" name="Text 15"/>
          <p:cNvSpPr/>
          <p:nvPr/>
        </p:nvSpPr>
        <p:spPr>
          <a:xfrm>
            <a:off x="594360" y="1856232"/>
            <a:ext cx="36576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What happens on this step</a:t>
            </a:r>
            <a:endParaRPr lang="en-US" sz="950" dirty="0"/>
          </a:p>
        </p:txBody>
      </p:sp>
      <p:sp>
        <p:nvSpPr>
          <p:cNvPr id="18" name="Shape 16"/>
          <p:cNvSpPr/>
          <p:nvPr/>
        </p:nvSpPr>
        <p:spPr>
          <a:xfrm>
            <a:off x="594360" y="2194560"/>
            <a:ext cx="1371600" cy="896112"/>
          </a:xfrm>
          <a:prstGeom prst="roundRect">
            <a:avLst>
              <a:gd name="adj" fmla="val 6122"/>
            </a:avLst>
          </a:prstGeom>
          <a:solidFill>
            <a:srgbClr val="FFFFFF"/>
          </a:solidFill>
          <a:ln w="12700">
            <a:solidFill>
              <a:srgbClr val="CFE9DA"/>
            </a:solidFill>
            <a:prstDash val="solid"/>
          </a:ln>
        </p:spPr>
      </p:sp>
      <p:sp>
        <p:nvSpPr>
          <p:cNvPr id="19" name="Text 17"/>
          <p:cNvSpPr/>
          <p:nvPr/>
        </p:nvSpPr>
        <p:spPr>
          <a:xfrm>
            <a:off x="6400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Sources: business · regulation ·</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ops feedback · Assessor findings</a:t>
            </a:r>
            <a:endParaRPr lang="en-US" sz="750" dirty="0"/>
          </a:p>
        </p:txBody>
      </p:sp>
      <p:sp>
        <p:nvSpPr>
          <p:cNvPr id="20" name="Shape 18"/>
          <p:cNvSpPr/>
          <p:nvPr/>
        </p:nvSpPr>
        <p:spPr>
          <a:xfrm>
            <a:off x="1993392" y="2642616"/>
            <a:ext cx="116586" cy="0"/>
          </a:xfrm>
          <a:prstGeom prst="line">
            <a:avLst/>
          </a:prstGeom>
          <a:noFill/>
          <a:ln w="15875">
            <a:solidFill>
              <a:srgbClr val="0E6B45"/>
            </a:solidFill>
            <a:prstDash val="solid"/>
            <a:tailEnd type="triangle"/>
          </a:ln>
        </p:spPr>
      </p:sp>
      <p:sp>
        <p:nvSpPr>
          <p:cNvPr id="21" name="Shape 19"/>
          <p:cNvSpPr/>
          <p:nvPr/>
        </p:nvSpPr>
        <p:spPr>
          <a:xfrm>
            <a:off x="2137410" y="2194560"/>
            <a:ext cx="1371600" cy="896112"/>
          </a:xfrm>
          <a:prstGeom prst="roundRect">
            <a:avLst>
              <a:gd name="adj" fmla="val 6122"/>
            </a:avLst>
          </a:prstGeom>
          <a:solidFill>
            <a:srgbClr val="FFFFFF"/>
          </a:solidFill>
          <a:ln w="12700">
            <a:solidFill>
              <a:srgbClr val="CFE9DA"/>
            </a:solidFill>
            <a:prstDash val="solid"/>
          </a:ln>
        </p:spPr>
      </p:sp>
      <p:sp>
        <p:nvSpPr>
          <p:cNvPr id="22" name="Text 20"/>
          <p:cNvSpPr/>
          <p:nvPr/>
        </p:nvSpPr>
        <p:spPr>
          <a:xfrm>
            <a:off x="21831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Intake</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assess: intake → research →</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define → shape → decide</a:t>
            </a:r>
            <a:endParaRPr lang="en-US" sz="750" dirty="0"/>
          </a:p>
        </p:txBody>
      </p:sp>
      <p:sp>
        <p:nvSpPr>
          <p:cNvPr id="23" name="Shape 21"/>
          <p:cNvSpPr/>
          <p:nvPr/>
        </p:nvSpPr>
        <p:spPr>
          <a:xfrm>
            <a:off x="3536442" y="2642616"/>
            <a:ext cx="116586" cy="0"/>
          </a:xfrm>
          <a:prstGeom prst="line">
            <a:avLst/>
          </a:prstGeom>
          <a:noFill/>
          <a:ln w="15875">
            <a:solidFill>
              <a:srgbClr val="0E6B45"/>
            </a:solidFill>
            <a:prstDash val="solid"/>
            <a:tailEnd type="triangle"/>
          </a:ln>
        </p:spPr>
      </p:sp>
      <p:sp>
        <p:nvSpPr>
          <p:cNvPr id="24" name="Shape 22"/>
          <p:cNvSpPr/>
          <p:nvPr/>
        </p:nvSpPr>
        <p:spPr>
          <a:xfrm>
            <a:off x="3680460" y="2194560"/>
            <a:ext cx="1371600" cy="896112"/>
          </a:xfrm>
          <a:prstGeom prst="roundRect">
            <a:avLst>
              <a:gd name="adj" fmla="val 6122"/>
            </a:avLst>
          </a:prstGeom>
          <a:solidFill>
            <a:srgbClr val="FFFFFF"/>
          </a:solidFill>
          <a:ln w="12700">
            <a:solidFill>
              <a:srgbClr val="CFE9DA"/>
            </a:solidFill>
            <a:prstDash val="solid"/>
          </a:ln>
        </p:spPr>
      </p:sp>
      <p:sp>
        <p:nvSpPr>
          <p:cNvPr id="25" name="Text 23"/>
          <p:cNvSpPr/>
          <p:nvPr/>
        </p:nvSpPr>
        <p:spPr>
          <a:xfrm>
            <a:off x="37261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Assign bounded context</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 owner (domain map)</a:t>
            </a:r>
            <a:endParaRPr lang="en-US" sz="750" dirty="0"/>
          </a:p>
        </p:txBody>
      </p:sp>
      <p:sp>
        <p:nvSpPr>
          <p:cNvPr id="26" name="Shape 24"/>
          <p:cNvSpPr/>
          <p:nvPr/>
        </p:nvSpPr>
        <p:spPr>
          <a:xfrm>
            <a:off x="5079492" y="2642616"/>
            <a:ext cx="116586" cy="0"/>
          </a:xfrm>
          <a:prstGeom prst="line">
            <a:avLst/>
          </a:prstGeom>
          <a:noFill/>
          <a:ln w="15875">
            <a:solidFill>
              <a:srgbClr val="0E6B45"/>
            </a:solidFill>
            <a:prstDash val="solid"/>
            <a:tailEnd type="triangle"/>
          </a:ln>
        </p:spPr>
      </p:sp>
      <p:sp>
        <p:nvSpPr>
          <p:cNvPr id="27" name="Shape 25"/>
          <p:cNvSpPr/>
          <p:nvPr/>
        </p:nvSpPr>
        <p:spPr>
          <a:xfrm>
            <a:off x="5223510" y="2194560"/>
            <a:ext cx="1371600" cy="896112"/>
          </a:xfrm>
          <a:prstGeom prst="roundRect">
            <a:avLst>
              <a:gd name="adj" fmla="val 6122"/>
            </a:avLst>
          </a:prstGeom>
          <a:solidFill>
            <a:srgbClr val="FFFFFF"/>
          </a:solidFill>
          <a:ln w="12700">
            <a:solidFill>
              <a:srgbClr val="CFE9DA"/>
            </a:solidFill>
            <a:prstDash val="solid"/>
          </a:ln>
        </p:spPr>
      </p:sp>
      <p:sp>
        <p:nvSpPr>
          <p:cNvPr id="28" name="Text 26"/>
          <p:cNvSpPr/>
          <p:nvPr/>
        </p:nvSpPr>
        <p:spPr>
          <a:xfrm>
            <a:off x="52692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Business requirements</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durable IDs · traceable to source</a:t>
            </a:r>
            <a:endParaRPr lang="en-US" sz="750" dirty="0"/>
          </a:p>
        </p:txBody>
      </p:sp>
      <p:sp>
        <p:nvSpPr>
          <p:cNvPr id="29" name="Shape 27"/>
          <p:cNvSpPr/>
          <p:nvPr/>
        </p:nvSpPr>
        <p:spPr>
          <a:xfrm>
            <a:off x="6622542" y="2642616"/>
            <a:ext cx="116586" cy="0"/>
          </a:xfrm>
          <a:prstGeom prst="line">
            <a:avLst/>
          </a:prstGeom>
          <a:noFill/>
          <a:ln w="15875">
            <a:solidFill>
              <a:srgbClr val="0E6B45"/>
            </a:solidFill>
            <a:prstDash val="solid"/>
            <a:tailEnd type="triangle"/>
          </a:ln>
        </p:spPr>
      </p:sp>
      <p:sp>
        <p:nvSpPr>
          <p:cNvPr id="30" name="Shape 28"/>
          <p:cNvSpPr/>
          <p:nvPr/>
        </p:nvSpPr>
        <p:spPr>
          <a:xfrm>
            <a:off x="6766560" y="2194560"/>
            <a:ext cx="1371600" cy="896112"/>
          </a:xfrm>
          <a:prstGeom prst="roundRect">
            <a:avLst>
              <a:gd name="adj" fmla="val 6122"/>
            </a:avLst>
          </a:prstGeom>
          <a:solidFill>
            <a:srgbClr val="0E6B45"/>
          </a:solidFill>
          <a:ln w="12700">
            <a:solidFill>
              <a:srgbClr val="0E6B45"/>
            </a:solidFill>
            <a:prstDash val="solid"/>
          </a:ln>
        </p:spPr>
      </p:sp>
      <p:sp>
        <p:nvSpPr>
          <p:cNvPr id="31" name="Text 29"/>
          <p:cNvSpPr/>
          <p:nvPr/>
        </p:nvSpPr>
        <p:spPr>
          <a:xfrm>
            <a:off x="6812280" y="2240280"/>
            <a:ext cx="1280160" cy="80467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Baseline approved</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business owner · architect co-signs</a:t>
            </a:r>
            <a:endParaRPr lang="en-US" sz="750" dirty="0"/>
          </a:p>
        </p:txBody>
      </p:sp>
      <p:sp>
        <p:nvSpPr>
          <p:cNvPr id="32" name="Text 30"/>
          <p:cNvSpPr/>
          <p:nvPr/>
        </p:nvSpPr>
        <p:spPr>
          <a:xfrm>
            <a:off x="457200" y="3483864"/>
            <a:ext cx="45720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Agents &amp; tools on this step</a:t>
            </a:r>
            <a:endParaRPr lang="en-US" sz="950" dirty="0"/>
          </a:p>
        </p:txBody>
      </p:sp>
      <p:sp>
        <p:nvSpPr>
          <p:cNvPr id="33" name="Shape 31"/>
          <p:cNvSpPr/>
          <p:nvPr/>
        </p:nvSpPr>
        <p:spPr>
          <a:xfrm>
            <a:off x="457200" y="3758184"/>
            <a:ext cx="3771900" cy="1225296"/>
          </a:xfrm>
          <a:prstGeom prst="roundRect">
            <a:avLst>
              <a:gd name="adj" fmla="val 4478"/>
            </a:avLst>
          </a:prstGeom>
          <a:solidFill>
            <a:srgbClr val="FFFFFF"/>
          </a:solidFill>
          <a:ln w="9525">
            <a:solidFill>
              <a:srgbClr val="E9ECEA"/>
            </a:solidFill>
            <a:prstDash val="solid"/>
          </a:ln>
        </p:spPr>
      </p:sp>
      <p:sp>
        <p:nvSpPr>
          <p:cNvPr id="34" name="Text 32"/>
          <p:cNvSpPr/>
          <p:nvPr/>
        </p:nvSpPr>
        <p:spPr>
          <a:xfrm>
            <a:off x="2967228" y="3840480"/>
            <a:ext cx="1170432" cy="182880"/>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native</a:t>
            </a:r>
            <a:endParaRPr lang="en-US" sz="650" dirty="0"/>
          </a:p>
        </p:txBody>
      </p:sp>
      <p:sp>
        <p:nvSpPr>
          <p:cNvPr id="35" name="Text 33"/>
          <p:cNvSpPr/>
          <p:nvPr/>
        </p:nvSpPr>
        <p:spPr>
          <a:xfrm>
            <a:off x="566928" y="3831336"/>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assess (first-party ext) · /speckit.constitution</a:t>
            </a:r>
            <a:endParaRPr lang="en-US" sz="900" dirty="0"/>
          </a:p>
        </p:txBody>
      </p:sp>
      <p:sp>
        <p:nvSpPr>
          <p:cNvPr id="36" name="Text 34"/>
          <p:cNvSpPr/>
          <p:nvPr/>
        </p:nvSpPr>
        <p:spPr>
          <a:xfrm>
            <a:off x="56692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Intake → research → define → shape → decide (go / needs-clarification / kill) → hand-off to specify. The constitution carries the non-negotiables — including the clause that every feature is authored inside a bounded context of the domain map.</a:t>
            </a:r>
            <a:endParaRPr lang="en-US" sz="750" dirty="0"/>
          </a:p>
        </p:txBody>
      </p:sp>
      <p:sp>
        <p:nvSpPr>
          <p:cNvPr id="37" name="Shape 35"/>
          <p:cNvSpPr/>
          <p:nvPr/>
        </p:nvSpPr>
        <p:spPr>
          <a:xfrm>
            <a:off x="4503420" y="3758184"/>
            <a:ext cx="3771900" cy="1225296"/>
          </a:xfrm>
          <a:prstGeom prst="roundRect">
            <a:avLst>
              <a:gd name="adj" fmla="val 4478"/>
            </a:avLst>
          </a:prstGeom>
          <a:solidFill>
            <a:srgbClr val="FFFFFF"/>
          </a:solidFill>
          <a:ln w="9525">
            <a:solidFill>
              <a:srgbClr val="E9ECEA"/>
            </a:solidFill>
            <a:prstDash val="solid"/>
          </a:ln>
        </p:spPr>
      </p:sp>
      <p:sp>
        <p:nvSpPr>
          <p:cNvPr id="38" name="Text 36"/>
          <p:cNvSpPr/>
          <p:nvPr/>
        </p:nvSpPr>
        <p:spPr>
          <a:xfrm>
            <a:off x="6858000" y="3840480"/>
            <a:ext cx="1325880" cy="182880"/>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build</a:t>
            </a:r>
            <a:endParaRPr lang="en-US" sz="650" dirty="0"/>
          </a:p>
        </p:txBody>
      </p:sp>
      <p:sp>
        <p:nvSpPr>
          <p:cNvPr id="39" name="Text 37"/>
          <p:cNvSpPr/>
          <p:nvPr/>
        </p:nvSpPr>
        <p:spPr>
          <a:xfrm>
            <a:off x="4613148" y="3831336"/>
            <a:ext cx="217170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Architecture Assessor findings → proposed requirements</a:t>
            </a:r>
            <a:endParaRPr lang="en-US" sz="900" dirty="0"/>
          </a:p>
        </p:txBody>
      </p:sp>
      <p:sp>
        <p:nvSpPr>
          <p:cNvPr id="40" name="Text 38"/>
          <p:cNvSpPr/>
          <p:nvPr/>
        </p:nvSpPr>
        <p:spPr>
          <a:xfrm>
            <a:off x="461314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The Assessor (in-house) runs between 7 and 1 on the delivered system; a Proposer step (to build) turns findings into [PROPOSED] requirement changes with rule ID and evidence, filed in the requirements repository — accepted or rejected here by humans, never written into a spec on their own.</a:t>
            </a:r>
            <a:endParaRPr lang="en-US" sz="750" dirty="0"/>
          </a:p>
        </p:txBody>
      </p:sp>
      <p:sp>
        <p:nvSpPr>
          <p:cNvPr id="41" name="Shape 39"/>
          <p:cNvSpPr/>
          <p:nvPr/>
        </p:nvSpPr>
        <p:spPr>
          <a:xfrm>
            <a:off x="457200" y="5093208"/>
            <a:ext cx="3771900" cy="1225296"/>
          </a:xfrm>
          <a:prstGeom prst="roundRect">
            <a:avLst>
              <a:gd name="adj" fmla="val 4478"/>
            </a:avLst>
          </a:prstGeom>
          <a:solidFill>
            <a:srgbClr val="FFFFFF"/>
          </a:solidFill>
          <a:ln w="9525">
            <a:solidFill>
              <a:srgbClr val="E9ECEA"/>
            </a:solidFill>
            <a:prstDash val="solid"/>
          </a:ln>
        </p:spPr>
      </p:sp>
      <p:sp>
        <p:nvSpPr>
          <p:cNvPr id="42" name="Text 40"/>
          <p:cNvSpPr/>
          <p:nvPr/>
        </p:nvSpPr>
        <p:spPr>
          <a:xfrm>
            <a:off x="2967228" y="5175504"/>
            <a:ext cx="1170432"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43" name="Text 41"/>
          <p:cNvSpPr/>
          <p:nvPr/>
        </p:nvSpPr>
        <p:spPr>
          <a:xfrm>
            <a:off x="56692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roadmap · keel · intake-* presets</a:t>
            </a:r>
            <a:endParaRPr lang="en-US" sz="900" dirty="0"/>
          </a:p>
        </p:txBody>
      </p:sp>
      <p:sp>
        <p:nvSpPr>
          <p:cNvPr id="44" name="Text 42"/>
          <p:cNvSpPr/>
          <p:nvPr/>
        </p:nvSpPr>
        <p:spPr>
          <a:xfrm>
            <a:off x="56692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Durable roadmap captured after the constitution and reviewed before/after implementation; customer evidence upstream of specify; intake authoring / review governance presets.</a:t>
            </a:r>
            <a:endParaRPr lang="en-US" sz="750" dirty="0"/>
          </a:p>
        </p:txBody>
      </p:sp>
      <p:sp>
        <p:nvSpPr>
          <p:cNvPr id="45" name="Shape 43"/>
          <p:cNvSpPr/>
          <p:nvPr/>
        </p:nvSpPr>
        <p:spPr>
          <a:xfrm>
            <a:off x="4503420" y="5093208"/>
            <a:ext cx="3771900" cy="1225296"/>
          </a:xfrm>
          <a:prstGeom prst="roundRect">
            <a:avLst>
              <a:gd name="adj" fmla="val 4478"/>
            </a:avLst>
          </a:prstGeom>
          <a:solidFill>
            <a:srgbClr val="FFFFFF"/>
          </a:solidFill>
          <a:ln w="9525">
            <a:solidFill>
              <a:srgbClr val="E9ECEA"/>
            </a:solidFill>
            <a:prstDash val="solid"/>
          </a:ln>
        </p:spPr>
      </p:sp>
      <p:sp>
        <p:nvSpPr>
          <p:cNvPr id="46" name="Text 44"/>
          <p:cNvSpPr/>
          <p:nvPr/>
        </p:nvSpPr>
        <p:spPr>
          <a:xfrm>
            <a:off x="7013448" y="5175504"/>
            <a:ext cx="1170432"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47" name="Text 45"/>
          <p:cNvSpPr/>
          <p:nvPr/>
        </p:nvSpPr>
        <p:spPr>
          <a:xfrm>
            <a:off x="461314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Requirements repository keyed by context and owner</a:t>
            </a:r>
            <a:endParaRPr lang="en-US" sz="900" dirty="0"/>
          </a:p>
        </p:txBody>
      </p:sp>
      <p:sp>
        <p:nvSpPr>
          <p:cNvPr id="48" name="Text 46"/>
          <p:cNvSpPr/>
          <p:nvPr/>
        </p:nvSpPr>
        <p:spPr>
          <a:xfrm>
            <a:off x="461314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One place where every requirement carries context, owner, source and a durable ID; change control with deprecation and impact diff (the ecosystem’s refine / whatif are advisory only).</a:t>
            </a:r>
            <a:endParaRPr lang="en-US" sz="750" dirty="0"/>
          </a:p>
        </p:txBody>
      </p:sp>
      <p:sp>
        <p:nvSpPr>
          <p:cNvPr id="49" name="Shape 47"/>
          <p:cNvSpPr/>
          <p:nvPr/>
        </p:nvSpPr>
        <p:spPr>
          <a:xfrm>
            <a:off x="8503920" y="1783080"/>
            <a:ext cx="3246120" cy="4617720"/>
          </a:xfrm>
          <a:prstGeom prst="roundRect">
            <a:avLst>
              <a:gd name="adj" fmla="val 2254"/>
            </a:avLst>
          </a:prstGeom>
          <a:solidFill>
            <a:srgbClr val="EAF5EE"/>
          </a:solidFill>
          <a:ln w="12700">
            <a:solidFill>
              <a:srgbClr val="EAF5EE"/>
            </a:solidFill>
            <a:prstDash val="solid"/>
          </a:ln>
        </p:spPr>
      </p:sp>
      <p:sp>
        <p:nvSpPr>
          <p:cNvPr id="50" name="Text 48"/>
          <p:cNvSpPr/>
          <p:nvPr/>
        </p:nvSpPr>
        <p:spPr>
          <a:xfrm>
            <a:off x="8613648" y="1892808"/>
            <a:ext cx="3026664" cy="566928"/>
          </a:xfrm>
          <a:prstGeom prst="roundRect">
            <a:avLst>
              <a:gd name="adj" fmla="val 9677"/>
            </a:avLst>
          </a:prstGeom>
          <a:solidFill>
            <a:srgbClr val="3E4F48"/>
          </a:solidFill>
          <a:ln>
            <a:solidFill>
              <a:srgbClr val="3E4F48"/>
            </a:solidFill>
          </a:ln>
        </p:spPr>
        <p:txBody>
          <a:bodyPr wrap="square" lIns="25400" tIns="76200" rIns="76200" bIns="25400" rtlCol="0" anchor="ctr"/>
          <a:lstStyle/>
          <a:p>
            <a:pPr algn="ctr" indent="0" marL="0">
              <a:buNone/>
            </a:pPr>
            <a:r>
              <a:rPr lang="en-US" sz="750" b="1" dirty="0">
                <a:solidFill>
                  <a:srgbClr val="CFE9DA"/>
                </a:solidFill>
                <a:latin typeface="Arial" pitchFamily="34" charset="0"/>
                <a:ea typeface="Arial" pitchFamily="34" charset="-122"/>
                <a:cs typeface="Arial" pitchFamily="34" charset="-120"/>
              </a:rPr>
              <a:t>HUMAN DECISION AT THE BOUNDARY</a:t>
            </a:r>
            <a:endParaRPr lang="en-US" sz="750" dirty="0"/>
          </a:p>
          <a:p>
            <a:pPr algn="ctr" indent="0" marL="0">
              <a:buNone/>
            </a:pPr>
            <a:r>
              <a:rPr lang="en-US" sz="1050" b="1" dirty="0">
                <a:solidFill>
                  <a:srgbClr val="FFFFFF"/>
                </a:solidFill>
                <a:latin typeface="Arial" pitchFamily="34" charset="0"/>
                <a:ea typeface="Arial" pitchFamily="34" charset="-122"/>
                <a:cs typeface="Arial" pitchFamily="34" charset="-120"/>
              </a:rPr>
              <a:t>Requirements baseline approved</a:t>
            </a:r>
            <a:endParaRPr lang="en-US" sz="750" dirty="0"/>
          </a:p>
        </p:txBody>
      </p:sp>
      <p:sp>
        <p:nvSpPr>
          <p:cNvPr id="51" name="Text 49"/>
          <p:cNvSpPr/>
          <p:nvPr/>
        </p:nvSpPr>
        <p:spPr>
          <a:xfrm>
            <a:off x="8641080" y="2532888"/>
            <a:ext cx="2971800" cy="384048"/>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By: </a:t>
            </a:r>
            <a:pPr indent="0" marL="0">
              <a:buNone/>
            </a:pPr>
            <a:r>
              <a:rPr lang="en-US" sz="800" dirty="0">
                <a:solidFill>
                  <a:srgbClr val="1B2A24"/>
                </a:solidFill>
                <a:latin typeface="Arial" pitchFamily="34" charset="0"/>
                <a:ea typeface="Arial" pitchFamily="34" charset="-122"/>
                <a:cs typeface="Arial" pitchFamily="34" charset="-120"/>
              </a:rPr>
              <a:t>business / product owner; the lead architect co-signs the context assignment</a:t>
            </a:r>
            <a:endParaRPr lang="en-US" sz="800" dirty="0"/>
          </a:p>
        </p:txBody>
      </p:sp>
      <p:sp>
        <p:nvSpPr>
          <p:cNvPr id="52" name="Text 50"/>
          <p:cNvSpPr/>
          <p:nvPr/>
        </p:nvSpPr>
        <p:spPr>
          <a:xfrm>
            <a:off x="8641080" y="2953512"/>
            <a:ext cx="2971800" cy="182880"/>
          </a:xfrm>
          <a:prstGeom prst="rect">
            <a:avLst/>
          </a:prstGeom>
          <a:noFill/>
          <a:ln/>
        </p:spPr>
        <p:txBody>
          <a:bodyPr wrap="square" lIns="0" tIns="0" rIns="0" bIns="0" rtlCol="0" anchor="t"/>
          <a:lstStyle/>
          <a:p>
            <a:pPr indent="0" marL="0">
              <a:buNone/>
            </a:pPr>
            <a:r>
              <a:rPr lang="en-US" sz="850" b="1" dirty="0">
                <a:solidFill>
                  <a:srgbClr val="0B3F2C"/>
                </a:solidFill>
                <a:latin typeface="Arial" pitchFamily="34" charset="0"/>
                <a:ea typeface="Arial" pitchFamily="34" charset="-122"/>
                <a:cs typeface="Arial" pitchFamily="34" charset="-120"/>
              </a:rPr>
              <a:t>Guardrails inside the step (scripted checks)</a:t>
            </a:r>
            <a:endParaRPr lang="en-US" sz="850" dirty="0"/>
          </a:p>
        </p:txBody>
      </p:sp>
      <p:sp>
        <p:nvSpPr>
          <p:cNvPr id="53" name="Text 51"/>
          <p:cNvSpPr/>
          <p:nvPr/>
        </p:nvSpPr>
        <p:spPr>
          <a:xfrm>
            <a:off x="8641080" y="3154680"/>
            <a:ext cx="2971800" cy="1143000"/>
          </a:xfrm>
          <a:prstGeom prst="rect">
            <a:avLst/>
          </a:prstGeom>
          <a:noFill/>
          <a:ln/>
        </p:spPr>
        <p:txBody>
          <a:bodyPr wrap="square" lIns="0" tIns="0" rIns="0" bIns="0" rtlCol="0" anchor="t"/>
          <a:lstStyle/>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every requirement carries a bounded context and an owner</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durable IDs — deprecate, never renumber</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traceable to its source: business, regulation, incident, finding</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no open clarification at baseline</a:t>
            </a:r>
            <a:endParaRPr lang="en-US" sz="800" dirty="0"/>
          </a:p>
        </p:txBody>
      </p:sp>
      <p:sp>
        <p:nvSpPr>
          <p:cNvPr id="54" name="Text 52"/>
          <p:cNvSpPr/>
          <p:nvPr/>
        </p:nvSpPr>
        <p:spPr>
          <a:xfrm>
            <a:off x="8641080" y="4297680"/>
            <a:ext cx="2971800" cy="219456"/>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A1 · architecture intake — to build</a:t>
            </a:r>
            <a:endParaRPr lang="en-US" sz="750" dirty="0"/>
          </a:p>
        </p:txBody>
      </p:sp>
      <p:sp>
        <p:nvSpPr>
          <p:cNvPr id="55" name="Text 53"/>
          <p:cNvSpPr/>
          <p:nvPr/>
        </p:nvSpPr>
        <p:spPr>
          <a:xfrm>
            <a:off x="8613648" y="4599432"/>
            <a:ext cx="3026664" cy="274320"/>
          </a:xfrm>
          <a:prstGeom prst="roundRect">
            <a:avLst>
              <a:gd name="adj" fmla="val 20000"/>
            </a:avLst>
          </a:prstGeom>
          <a:solidFill>
            <a:srgbClr val="B23A32"/>
          </a:solidFill>
          <a:ln>
            <a:solidFill>
              <a:srgbClr val="B23A32"/>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MISSING → to build for the guardrails</a:t>
            </a:r>
            <a:endParaRPr lang="en-US" sz="850" dirty="0"/>
          </a:p>
        </p:txBody>
      </p:sp>
      <p:sp>
        <p:nvSpPr>
          <p:cNvPr id="56" name="Text 54"/>
          <p:cNvSpPr/>
          <p:nvPr/>
        </p:nvSpPr>
        <p:spPr>
          <a:xfrm>
            <a:off x="8641080" y="4946904"/>
            <a:ext cx="2971800" cy="1371600"/>
          </a:xfrm>
          <a:prstGeom prst="rect">
            <a:avLst/>
          </a:prstGeom>
          <a:noFill/>
          <a:ln/>
        </p:spPr>
        <p:txBody>
          <a:bodyPr wrap="square" lIns="0" tIns="0" rIns="0" bIns="0" rtlCol="0" anchor="t"/>
          <a:lstStyle/>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Requirements repository keyed by context / owner with change control and impact diff</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Proposer: Assessor findings → [PROPOSED] requirement changes for human acceptance</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Domain assignment check: no requirement without a context that exists in the domain map</a:t>
            </a:r>
            <a:endParaRPr lang="en-US" sz="800" dirty="0"/>
          </a:p>
        </p:txBody>
      </p:sp>
      <p:sp>
        <p:nvSpPr>
          <p:cNvPr id="57" name="Text 55"/>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7955280" cy="45720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Step 2 · Plan</a:t>
            </a:r>
            <a:endParaRPr lang="en-US" sz="2400" dirty="0"/>
          </a:p>
        </p:txBody>
      </p:sp>
      <p:sp>
        <p:nvSpPr>
          <p:cNvPr id="3" name="Text 1"/>
          <p:cNvSpPr/>
          <p:nvPr/>
        </p:nvSpPr>
        <p:spPr>
          <a:xfrm>
            <a:off x="457200" y="749808"/>
            <a:ext cx="8412480" cy="502920"/>
          </a:xfrm>
          <a:prstGeom prst="rect">
            <a:avLst/>
          </a:prstGeom>
          <a:noFill/>
          <a:ln/>
        </p:spPr>
        <p:txBody>
          <a:bodyPr wrap="square" lIns="0" tIns="0" rIns="0" bIns="0" rtlCol="0" anchor="t"/>
          <a:lstStyle/>
          <a:p>
            <a:pPr indent="0" marL="0">
              <a:buNone/>
            </a:pPr>
            <a:r>
              <a:rPr lang="en-US" sz="1100" b="1" dirty="0">
                <a:solidFill>
                  <a:srgbClr val="0E6B45"/>
                </a:solidFill>
                <a:latin typeface="Arial" pitchFamily="34" charset="0"/>
                <a:ea typeface="Arial" pitchFamily="34" charset="-122"/>
                <a:cs typeface="Arial" pitchFamily="34" charset="-120"/>
              </a:rPr>
              <a:t>The master control point of the big loop: humans decide which requirements, in which contexts, enter the next turn — and which architecture debt travels with them.</a:t>
            </a:r>
            <a:endParaRPr lang="en-US" sz="1100" dirty="0"/>
          </a:p>
        </p:txBody>
      </p:sp>
      <p:sp>
        <p:nvSpPr>
          <p:cNvPr id="4" name="Text 2"/>
          <p:cNvSpPr/>
          <p:nvPr/>
        </p:nvSpPr>
        <p:spPr>
          <a:xfrm>
            <a:off x="8549640" y="310896"/>
            <a:ext cx="1024128" cy="210312"/>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native</a:t>
            </a:r>
            <a:endParaRPr lang="en-US" sz="650" dirty="0"/>
          </a:p>
        </p:txBody>
      </p:sp>
      <p:sp>
        <p:nvSpPr>
          <p:cNvPr id="5" name="Text 3"/>
          <p:cNvSpPr/>
          <p:nvPr/>
        </p:nvSpPr>
        <p:spPr>
          <a:xfrm>
            <a:off x="9628632" y="310896"/>
            <a:ext cx="1024128" cy="210312"/>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available</a:t>
            </a:r>
            <a:endParaRPr lang="en-US" sz="650" dirty="0"/>
          </a:p>
        </p:txBody>
      </p:sp>
      <p:sp>
        <p:nvSpPr>
          <p:cNvPr id="6" name="Text 4"/>
          <p:cNvSpPr/>
          <p:nvPr/>
        </p:nvSpPr>
        <p:spPr>
          <a:xfrm>
            <a:off x="10707624" y="310896"/>
            <a:ext cx="1024128" cy="210312"/>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in progress</a:t>
            </a:r>
            <a:endParaRPr lang="en-US" sz="650" dirty="0"/>
          </a:p>
        </p:txBody>
      </p:sp>
      <p:sp>
        <p:nvSpPr>
          <p:cNvPr id="7" name="Text 5"/>
          <p:cNvSpPr/>
          <p:nvPr/>
        </p:nvSpPr>
        <p:spPr>
          <a:xfrm>
            <a:off x="8549640" y="576072"/>
            <a:ext cx="1024128" cy="210312"/>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8" name="Text 6"/>
          <p:cNvSpPr/>
          <p:nvPr/>
        </p:nvSpPr>
        <p:spPr>
          <a:xfrm>
            <a:off x="9628632" y="576072"/>
            <a:ext cx="1024128" cy="210312"/>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9" name="Text 7"/>
          <p:cNvSpPr/>
          <p:nvPr/>
        </p:nvSpPr>
        <p:spPr>
          <a:xfrm>
            <a:off x="45720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1 · Requirements</a:t>
            </a:r>
            <a:endParaRPr lang="en-US" sz="900" dirty="0"/>
          </a:p>
        </p:txBody>
      </p:sp>
      <p:sp>
        <p:nvSpPr>
          <p:cNvPr id="10" name="Text 8"/>
          <p:cNvSpPr/>
          <p:nvPr/>
        </p:nvSpPr>
        <p:spPr>
          <a:xfrm>
            <a:off x="2048256" y="1298448"/>
            <a:ext cx="1481328" cy="310896"/>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2 · Plan</a:t>
            </a:r>
            <a:endParaRPr lang="en-US" sz="900" dirty="0"/>
          </a:p>
        </p:txBody>
      </p:sp>
      <p:sp>
        <p:nvSpPr>
          <p:cNvPr id="11" name="Text 9"/>
          <p:cNvSpPr/>
          <p:nvPr/>
        </p:nvSpPr>
        <p:spPr>
          <a:xfrm>
            <a:off x="3639312"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3 · Design</a:t>
            </a:r>
            <a:endParaRPr lang="en-US" sz="900" dirty="0"/>
          </a:p>
        </p:txBody>
      </p:sp>
      <p:sp>
        <p:nvSpPr>
          <p:cNvPr id="12" name="Text 10"/>
          <p:cNvSpPr/>
          <p:nvPr/>
        </p:nvSpPr>
        <p:spPr>
          <a:xfrm>
            <a:off x="5230368"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4 · Implement</a:t>
            </a:r>
            <a:endParaRPr lang="en-US" sz="900" dirty="0"/>
          </a:p>
        </p:txBody>
      </p:sp>
      <p:sp>
        <p:nvSpPr>
          <p:cNvPr id="13" name="Text 11"/>
          <p:cNvSpPr/>
          <p:nvPr/>
        </p:nvSpPr>
        <p:spPr>
          <a:xfrm>
            <a:off x="6821424"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5 · Test</a:t>
            </a:r>
            <a:endParaRPr lang="en-US" sz="900" dirty="0"/>
          </a:p>
        </p:txBody>
      </p:sp>
      <p:sp>
        <p:nvSpPr>
          <p:cNvPr id="14" name="Text 12"/>
          <p:cNvSpPr/>
          <p:nvPr/>
        </p:nvSpPr>
        <p:spPr>
          <a:xfrm>
            <a:off x="841248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6 · Deploy</a:t>
            </a:r>
            <a:endParaRPr lang="en-US" sz="900" dirty="0"/>
          </a:p>
        </p:txBody>
      </p:sp>
      <p:sp>
        <p:nvSpPr>
          <p:cNvPr id="15" name="Text 13"/>
          <p:cNvSpPr/>
          <p:nvPr/>
        </p:nvSpPr>
        <p:spPr>
          <a:xfrm>
            <a:off x="10003536"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7 · Operate &amp; assess</a:t>
            </a:r>
            <a:endParaRPr lang="en-US" sz="900" dirty="0"/>
          </a:p>
        </p:txBody>
      </p:sp>
      <p:sp>
        <p:nvSpPr>
          <p:cNvPr id="16" name="Shape 14"/>
          <p:cNvSpPr/>
          <p:nvPr/>
        </p:nvSpPr>
        <p:spPr>
          <a:xfrm>
            <a:off x="457200" y="1783080"/>
            <a:ext cx="7818120" cy="1554480"/>
          </a:xfrm>
          <a:prstGeom prst="roundRect">
            <a:avLst>
              <a:gd name="adj" fmla="val 4706"/>
            </a:avLst>
          </a:prstGeom>
          <a:solidFill>
            <a:srgbClr val="EAF5EE"/>
          </a:solidFill>
          <a:ln w="12700">
            <a:solidFill>
              <a:srgbClr val="EAF5EE"/>
            </a:solidFill>
            <a:prstDash val="solid"/>
          </a:ln>
        </p:spPr>
      </p:sp>
      <p:sp>
        <p:nvSpPr>
          <p:cNvPr id="17" name="Text 15"/>
          <p:cNvSpPr/>
          <p:nvPr/>
        </p:nvSpPr>
        <p:spPr>
          <a:xfrm>
            <a:off x="594360" y="1856232"/>
            <a:ext cx="36576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What happens on this step</a:t>
            </a:r>
            <a:endParaRPr lang="en-US" sz="950" dirty="0"/>
          </a:p>
        </p:txBody>
      </p:sp>
      <p:sp>
        <p:nvSpPr>
          <p:cNvPr id="18" name="Shape 16"/>
          <p:cNvSpPr/>
          <p:nvPr/>
        </p:nvSpPr>
        <p:spPr>
          <a:xfrm>
            <a:off x="594360" y="2194560"/>
            <a:ext cx="1371600" cy="896112"/>
          </a:xfrm>
          <a:prstGeom prst="roundRect">
            <a:avLst>
              <a:gd name="adj" fmla="val 6122"/>
            </a:avLst>
          </a:prstGeom>
          <a:solidFill>
            <a:srgbClr val="FFFFFF"/>
          </a:solidFill>
          <a:ln w="12700">
            <a:solidFill>
              <a:srgbClr val="CFE9DA"/>
            </a:solidFill>
            <a:prstDash val="solid"/>
          </a:ln>
        </p:spPr>
      </p:sp>
      <p:sp>
        <p:nvSpPr>
          <p:cNvPr id="19" name="Text 17"/>
          <p:cNvSpPr/>
          <p:nvPr/>
        </p:nvSpPr>
        <p:spPr>
          <a:xfrm>
            <a:off x="6400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Approved baseline</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(by bounded context)</a:t>
            </a:r>
            <a:endParaRPr lang="en-US" sz="750" dirty="0"/>
          </a:p>
        </p:txBody>
      </p:sp>
      <p:sp>
        <p:nvSpPr>
          <p:cNvPr id="20" name="Shape 18"/>
          <p:cNvSpPr/>
          <p:nvPr/>
        </p:nvSpPr>
        <p:spPr>
          <a:xfrm>
            <a:off x="1993392" y="2642616"/>
            <a:ext cx="116586" cy="0"/>
          </a:xfrm>
          <a:prstGeom prst="line">
            <a:avLst/>
          </a:prstGeom>
          <a:noFill/>
          <a:ln w="15875">
            <a:solidFill>
              <a:srgbClr val="0E6B45"/>
            </a:solidFill>
            <a:prstDash val="solid"/>
            <a:tailEnd type="triangle"/>
          </a:ln>
        </p:spPr>
      </p:sp>
      <p:sp>
        <p:nvSpPr>
          <p:cNvPr id="21" name="Shape 19"/>
          <p:cNvSpPr/>
          <p:nvPr/>
        </p:nvSpPr>
        <p:spPr>
          <a:xfrm>
            <a:off x="2137410" y="2194560"/>
            <a:ext cx="1371600" cy="896112"/>
          </a:xfrm>
          <a:prstGeom prst="roundRect">
            <a:avLst>
              <a:gd name="adj" fmla="val 6122"/>
            </a:avLst>
          </a:prstGeom>
          <a:solidFill>
            <a:srgbClr val="FFFFFF"/>
          </a:solidFill>
          <a:ln w="12700">
            <a:solidFill>
              <a:srgbClr val="CFE9DA"/>
            </a:solidFill>
            <a:prstDash val="solid"/>
          </a:ln>
        </p:spPr>
      </p:sp>
      <p:sp>
        <p:nvSpPr>
          <p:cNvPr id="22" name="Text 20"/>
          <p:cNvSpPr/>
          <p:nvPr/>
        </p:nvSpPr>
        <p:spPr>
          <a:xfrm>
            <a:off x="21831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Capacity · cross-context</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dependencies · risk</a:t>
            </a:r>
            <a:endParaRPr lang="en-US" sz="750" dirty="0"/>
          </a:p>
        </p:txBody>
      </p:sp>
      <p:sp>
        <p:nvSpPr>
          <p:cNvPr id="23" name="Shape 21"/>
          <p:cNvSpPr/>
          <p:nvPr/>
        </p:nvSpPr>
        <p:spPr>
          <a:xfrm>
            <a:off x="3536442" y="2642616"/>
            <a:ext cx="116586" cy="0"/>
          </a:xfrm>
          <a:prstGeom prst="line">
            <a:avLst/>
          </a:prstGeom>
          <a:noFill/>
          <a:ln w="15875">
            <a:solidFill>
              <a:srgbClr val="0E6B45"/>
            </a:solidFill>
            <a:prstDash val="solid"/>
            <a:tailEnd type="triangle"/>
          </a:ln>
        </p:spPr>
      </p:sp>
      <p:sp>
        <p:nvSpPr>
          <p:cNvPr id="24" name="Shape 22"/>
          <p:cNvSpPr/>
          <p:nvPr/>
        </p:nvSpPr>
        <p:spPr>
          <a:xfrm>
            <a:off x="3680460" y="2194560"/>
            <a:ext cx="1371600" cy="896112"/>
          </a:xfrm>
          <a:prstGeom prst="roundRect">
            <a:avLst>
              <a:gd name="adj" fmla="val 6122"/>
            </a:avLst>
          </a:prstGeom>
          <a:solidFill>
            <a:srgbClr val="FFFFFF"/>
          </a:solidFill>
          <a:ln w="12700">
            <a:solidFill>
              <a:srgbClr val="CFE9DA"/>
            </a:solidFill>
            <a:prstDash val="solid"/>
          </a:ln>
        </p:spPr>
      </p:sp>
      <p:sp>
        <p:nvSpPr>
          <p:cNvPr id="25" name="Text 23"/>
          <p:cNvSpPr/>
          <p:nvPr/>
        </p:nvSpPr>
        <p:spPr>
          <a:xfrm>
            <a:off x="37261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Architecture-debt items</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from the Assessor</a:t>
            </a:r>
            <a:endParaRPr lang="en-US" sz="750" dirty="0"/>
          </a:p>
        </p:txBody>
      </p:sp>
      <p:sp>
        <p:nvSpPr>
          <p:cNvPr id="26" name="Shape 24"/>
          <p:cNvSpPr/>
          <p:nvPr/>
        </p:nvSpPr>
        <p:spPr>
          <a:xfrm>
            <a:off x="5079492" y="2642616"/>
            <a:ext cx="116586" cy="0"/>
          </a:xfrm>
          <a:prstGeom prst="line">
            <a:avLst/>
          </a:prstGeom>
          <a:noFill/>
          <a:ln w="15875">
            <a:solidFill>
              <a:srgbClr val="0E6B45"/>
            </a:solidFill>
            <a:prstDash val="solid"/>
            <a:tailEnd type="triangle"/>
          </a:ln>
        </p:spPr>
      </p:sp>
      <p:sp>
        <p:nvSpPr>
          <p:cNvPr id="27" name="Shape 25"/>
          <p:cNvSpPr/>
          <p:nvPr/>
        </p:nvSpPr>
        <p:spPr>
          <a:xfrm>
            <a:off x="5223510" y="2194560"/>
            <a:ext cx="1371600" cy="896112"/>
          </a:xfrm>
          <a:prstGeom prst="roundRect">
            <a:avLst>
              <a:gd name="adj" fmla="val 6122"/>
            </a:avLst>
          </a:prstGeom>
          <a:solidFill>
            <a:srgbClr val="FFFFFF"/>
          </a:solidFill>
          <a:ln w="12700">
            <a:solidFill>
              <a:srgbClr val="CFE9DA"/>
            </a:solidFill>
            <a:prstDash val="solid"/>
          </a:ln>
        </p:spPr>
      </p:sp>
      <p:sp>
        <p:nvSpPr>
          <p:cNvPr id="28" name="Text 26"/>
          <p:cNvSpPr/>
          <p:nvPr/>
        </p:nvSpPr>
        <p:spPr>
          <a:xfrm>
            <a:off x="52692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Iteration charter</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scope · owners · exit criteria</a:t>
            </a:r>
            <a:endParaRPr lang="en-US" sz="750" dirty="0"/>
          </a:p>
        </p:txBody>
      </p:sp>
      <p:sp>
        <p:nvSpPr>
          <p:cNvPr id="29" name="Shape 27"/>
          <p:cNvSpPr/>
          <p:nvPr/>
        </p:nvSpPr>
        <p:spPr>
          <a:xfrm>
            <a:off x="6622542" y="2642616"/>
            <a:ext cx="116586" cy="0"/>
          </a:xfrm>
          <a:prstGeom prst="line">
            <a:avLst/>
          </a:prstGeom>
          <a:noFill/>
          <a:ln w="15875">
            <a:solidFill>
              <a:srgbClr val="0E6B45"/>
            </a:solidFill>
            <a:prstDash val="solid"/>
            <a:tailEnd type="triangle"/>
          </a:ln>
        </p:spPr>
      </p:sp>
      <p:sp>
        <p:nvSpPr>
          <p:cNvPr id="30" name="Shape 28"/>
          <p:cNvSpPr/>
          <p:nvPr/>
        </p:nvSpPr>
        <p:spPr>
          <a:xfrm>
            <a:off x="6766560" y="2194560"/>
            <a:ext cx="1371600" cy="896112"/>
          </a:xfrm>
          <a:prstGeom prst="roundRect">
            <a:avLst>
              <a:gd name="adj" fmla="val 6122"/>
            </a:avLst>
          </a:prstGeom>
          <a:solidFill>
            <a:srgbClr val="0E6B45"/>
          </a:solidFill>
          <a:ln w="12700">
            <a:solidFill>
              <a:srgbClr val="0E6B45"/>
            </a:solidFill>
            <a:prstDash val="solid"/>
          </a:ln>
        </p:spPr>
      </p:sp>
      <p:sp>
        <p:nvSpPr>
          <p:cNvPr id="31" name="Text 29"/>
          <p:cNvSpPr/>
          <p:nvPr/>
        </p:nvSpPr>
        <p:spPr>
          <a:xfrm>
            <a:off x="6812280" y="2240280"/>
            <a:ext cx="1280160" cy="80467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Start iteration</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board + lead architect</a:t>
            </a:r>
            <a:endParaRPr lang="en-US" sz="750" dirty="0"/>
          </a:p>
        </p:txBody>
      </p:sp>
      <p:sp>
        <p:nvSpPr>
          <p:cNvPr id="32" name="Text 30"/>
          <p:cNvSpPr/>
          <p:nvPr/>
        </p:nvSpPr>
        <p:spPr>
          <a:xfrm>
            <a:off x="457200" y="3483864"/>
            <a:ext cx="45720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Agents &amp; tools on this step</a:t>
            </a:r>
            <a:endParaRPr lang="en-US" sz="950" dirty="0"/>
          </a:p>
        </p:txBody>
      </p:sp>
      <p:sp>
        <p:nvSpPr>
          <p:cNvPr id="33" name="Shape 31"/>
          <p:cNvSpPr/>
          <p:nvPr/>
        </p:nvSpPr>
        <p:spPr>
          <a:xfrm>
            <a:off x="457200" y="3758184"/>
            <a:ext cx="3771900" cy="1225296"/>
          </a:xfrm>
          <a:prstGeom prst="roundRect">
            <a:avLst>
              <a:gd name="adj" fmla="val 4478"/>
            </a:avLst>
          </a:prstGeom>
          <a:solidFill>
            <a:srgbClr val="FFFFFF"/>
          </a:solidFill>
          <a:ln w="9525">
            <a:solidFill>
              <a:srgbClr val="E9ECEA"/>
            </a:solidFill>
            <a:prstDash val="solid"/>
          </a:ln>
        </p:spPr>
      </p:sp>
      <p:sp>
        <p:nvSpPr>
          <p:cNvPr id="34" name="Text 32"/>
          <p:cNvSpPr/>
          <p:nvPr/>
        </p:nvSpPr>
        <p:spPr>
          <a:xfrm>
            <a:off x="2967228" y="3840480"/>
            <a:ext cx="1170432" cy="182880"/>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native</a:t>
            </a:r>
            <a:endParaRPr lang="en-US" sz="650" dirty="0"/>
          </a:p>
        </p:txBody>
      </p:sp>
      <p:sp>
        <p:nvSpPr>
          <p:cNvPr id="35" name="Text 33"/>
          <p:cNvSpPr/>
          <p:nvPr/>
        </p:nvSpPr>
        <p:spPr>
          <a:xfrm>
            <a:off x="566928" y="3831336"/>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Workflow inputs + human gates</a:t>
            </a:r>
            <a:endParaRPr lang="en-US" sz="900" dirty="0"/>
          </a:p>
        </p:txBody>
      </p:sp>
      <p:sp>
        <p:nvSpPr>
          <p:cNvPr id="36" name="Text 34"/>
          <p:cNvSpPr/>
          <p:nvPr/>
        </p:nvSpPr>
        <p:spPr>
          <a:xfrm>
            <a:off x="56692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The corporate workflow runs per feature with the charter as input; `gate` steps pause for humans, `shell` steps run scripts, state is persisted per step and resumable (specify workflow resume).</a:t>
            </a:r>
            <a:endParaRPr lang="en-US" sz="750" dirty="0"/>
          </a:p>
        </p:txBody>
      </p:sp>
      <p:sp>
        <p:nvSpPr>
          <p:cNvPr id="37" name="Shape 35"/>
          <p:cNvSpPr/>
          <p:nvPr/>
        </p:nvSpPr>
        <p:spPr>
          <a:xfrm>
            <a:off x="4503420" y="3758184"/>
            <a:ext cx="3771900" cy="1225296"/>
          </a:xfrm>
          <a:prstGeom prst="roundRect">
            <a:avLst>
              <a:gd name="adj" fmla="val 4478"/>
            </a:avLst>
          </a:prstGeom>
          <a:solidFill>
            <a:srgbClr val="FFFFFF"/>
          </a:solidFill>
          <a:ln w="9525">
            <a:solidFill>
              <a:srgbClr val="E9ECEA"/>
            </a:solidFill>
            <a:prstDash val="solid"/>
          </a:ln>
        </p:spPr>
      </p:sp>
      <p:sp>
        <p:nvSpPr>
          <p:cNvPr id="38" name="Text 36"/>
          <p:cNvSpPr/>
          <p:nvPr/>
        </p:nvSpPr>
        <p:spPr>
          <a:xfrm>
            <a:off x="7013448" y="3840480"/>
            <a:ext cx="1170432"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39" name="Text 37"/>
          <p:cNvSpPr/>
          <p:nvPr/>
        </p:nvSpPr>
        <p:spPr>
          <a:xfrm>
            <a:off x="4613148" y="3831336"/>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roadmap · scope · whatif</a:t>
            </a:r>
            <a:endParaRPr lang="en-US" sz="900" dirty="0"/>
          </a:p>
        </p:txBody>
      </p:sp>
      <p:sp>
        <p:nvSpPr>
          <p:cNvPr id="40" name="Text 38"/>
          <p:cNvSpPr/>
          <p:nvPr/>
        </p:nvSpPr>
        <p:spPr>
          <a:xfrm>
            <a:off x="461314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Durable spec roadmap; effort estimation and scope-creep tracking; downstream impact preview (complexity, effort, tasks, risks) of requirement changes before committing.</a:t>
            </a:r>
            <a:endParaRPr lang="en-US" sz="750" dirty="0"/>
          </a:p>
        </p:txBody>
      </p:sp>
      <p:sp>
        <p:nvSpPr>
          <p:cNvPr id="41" name="Shape 39"/>
          <p:cNvSpPr/>
          <p:nvPr/>
        </p:nvSpPr>
        <p:spPr>
          <a:xfrm>
            <a:off x="457200" y="5093208"/>
            <a:ext cx="3771900" cy="1225296"/>
          </a:xfrm>
          <a:prstGeom prst="roundRect">
            <a:avLst>
              <a:gd name="adj" fmla="val 4478"/>
            </a:avLst>
          </a:prstGeom>
          <a:solidFill>
            <a:srgbClr val="FFFFFF"/>
          </a:solidFill>
          <a:ln w="9525">
            <a:solidFill>
              <a:srgbClr val="E9ECEA"/>
            </a:solidFill>
            <a:prstDash val="solid"/>
          </a:ln>
        </p:spPr>
      </p:sp>
      <p:sp>
        <p:nvSpPr>
          <p:cNvPr id="42" name="Text 40"/>
          <p:cNvSpPr/>
          <p:nvPr/>
        </p:nvSpPr>
        <p:spPr>
          <a:xfrm>
            <a:off x="2967228" y="5175504"/>
            <a:ext cx="1170432"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43" name="Text 41"/>
          <p:cNvSpPr/>
          <p:nvPr/>
        </p:nvSpPr>
        <p:spPr>
          <a:xfrm>
            <a:off x="56692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Iteration charter as an artifact</a:t>
            </a:r>
            <a:endParaRPr lang="en-US" sz="900" dirty="0"/>
          </a:p>
        </p:txBody>
      </p:sp>
      <p:sp>
        <p:nvSpPr>
          <p:cNvPr id="44" name="Text 42"/>
          <p:cNvSpPr/>
          <p:nvPr/>
        </p:nvSpPr>
        <p:spPr>
          <a:xfrm>
            <a:off x="56692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Scope by context, owners, architecture-debt items with the Assessor’s evidence, exit criteria — plus a decision record (who, when, on which evidence) that the ledger keeps.</a:t>
            </a:r>
            <a:endParaRPr lang="en-US" sz="750" dirty="0"/>
          </a:p>
        </p:txBody>
      </p:sp>
      <p:sp>
        <p:nvSpPr>
          <p:cNvPr id="45" name="Shape 43"/>
          <p:cNvSpPr/>
          <p:nvPr/>
        </p:nvSpPr>
        <p:spPr>
          <a:xfrm>
            <a:off x="4503420" y="5093208"/>
            <a:ext cx="3771900" cy="1225296"/>
          </a:xfrm>
          <a:prstGeom prst="roundRect">
            <a:avLst>
              <a:gd name="adj" fmla="val 4478"/>
            </a:avLst>
          </a:prstGeom>
          <a:solidFill>
            <a:srgbClr val="FFFFFF"/>
          </a:solidFill>
          <a:ln w="9525">
            <a:solidFill>
              <a:srgbClr val="E9ECEA"/>
            </a:solidFill>
            <a:prstDash val="solid"/>
          </a:ln>
        </p:spPr>
      </p:sp>
      <p:sp>
        <p:nvSpPr>
          <p:cNvPr id="46" name="Text 44"/>
          <p:cNvSpPr/>
          <p:nvPr/>
        </p:nvSpPr>
        <p:spPr>
          <a:xfrm>
            <a:off x="7013448" y="5175504"/>
            <a:ext cx="1170432"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47" name="Text 45"/>
          <p:cNvSpPr/>
          <p:nvPr/>
        </p:nvSpPr>
        <p:spPr>
          <a:xfrm>
            <a:off x="461314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Cross-context dependency check</a:t>
            </a:r>
            <a:endParaRPr lang="en-US" sz="900" dirty="0"/>
          </a:p>
        </p:txBody>
      </p:sp>
      <p:sp>
        <p:nvSpPr>
          <p:cNvPr id="48" name="Text 46"/>
          <p:cNvSpPr/>
          <p:nvPr/>
        </p:nvSpPr>
        <p:spPr>
          <a:xfrm>
            <a:off x="461314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No iteration crosses a bounded-context boundary without an owner on both sides and a relationship in the context map; unresolved dependencies block the start.</a:t>
            </a:r>
            <a:endParaRPr lang="en-US" sz="750" dirty="0"/>
          </a:p>
        </p:txBody>
      </p:sp>
      <p:sp>
        <p:nvSpPr>
          <p:cNvPr id="49" name="Shape 47"/>
          <p:cNvSpPr/>
          <p:nvPr/>
        </p:nvSpPr>
        <p:spPr>
          <a:xfrm>
            <a:off x="8503920" y="1783080"/>
            <a:ext cx="3246120" cy="4617720"/>
          </a:xfrm>
          <a:prstGeom prst="roundRect">
            <a:avLst>
              <a:gd name="adj" fmla="val 2254"/>
            </a:avLst>
          </a:prstGeom>
          <a:solidFill>
            <a:srgbClr val="EAF5EE"/>
          </a:solidFill>
          <a:ln w="12700">
            <a:solidFill>
              <a:srgbClr val="EAF5EE"/>
            </a:solidFill>
            <a:prstDash val="solid"/>
          </a:ln>
        </p:spPr>
      </p:sp>
      <p:sp>
        <p:nvSpPr>
          <p:cNvPr id="50" name="Text 48"/>
          <p:cNvSpPr/>
          <p:nvPr/>
        </p:nvSpPr>
        <p:spPr>
          <a:xfrm>
            <a:off x="8613648" y="1892808"/>
            <a:ext cx="3026664" cy="566928"/>
          </a:xfrm>
          <a:prstGeom prst="roundRect">
            <a:avLst>
              <a:gd name="adj" fmla="val 9677"/>
            </a:avLst>
          </a:prstGeom>
          <a:solidFill>
            <a:srgbClr val="3E4F48"/>
          </a:solidFill>
          <a:ln>
            <a:solidFill>
              <a:srgbClr val="3E4F48"/>
            </a:solidFill>
          </a:ln>
        </p:spPr>
        <p:txBody>
          <a:bodyPr wrap="square" lIns="25400" tIns="76200" rIns="76200" bIns="25400" rtlCol="0" anchor="ctr"/>
          <a:lstStyle/>
          <a:p>
            <a:pPr algn="ctr" indent="0" marL="0">
              <a:buNone/>
            </a:pPr>
            <a:r>
              <a:rPr lang="en-US" sz="750" b="1" dirty="0">
                <a:solidFill>
                  <a:srgbClr val="CFE9DA"/>
                </a:solidFill>
                <a:latin typeface="Arial" pitchFamily="34" charset="0"/>
                <a:ea typeface="Arial" pitchFamily="34" charset="-122"/>
                <a:cs typeface="Arial" pitchFamily="34" charset="-120"/>
              </a:rPr>
              <a:t>HUMAN DECISION AT THE BOUNDARY</a:t>
            </a:r>
            <a:endParaRPr lang="en-US" sz="750" dirty="0"/>
          </a:p>
          <a:p>
            <a:pPr algn="ctr" indent="0" marL="0">
              <a:buNone/>
            </a:pPr>
            <a:r>
              <a:rPr lang="en-US" sz="1050" b="1" dirty="0">
                <a:solidFill>
                  <a:srgbClr val="FFFFFF"/>
                </a:solidFill>
                <a:latin typeface="Arial" pitchFamily="34" charset="0"/>
                <a:ea typeface="Arial" pitchFamily="34" charset="-122"/>
                <a:cs typeface="Arial" pitchFamily="34" charset="-120"/>
              </a:rPr>
              <a:t>Start the next iteration (master gate)</a:t>
            </a:r>
            <a:endParaRPr lang="en-US" sz="750" dirty="0"/>
          </a:p>
        </p:txBody>
      </p:sp>
      <p:sp>
        <p:nvSpPr>
          <p:cNvPr id="51" name="Text 49"/>
          <p:cNvSpPr/>
          <p:nvPr/>
        </p:nvSpPr>
        <p:spPr>
          <a:xfrm>
            <a:off x="8641080" y="2532888"/>
            <a:ext cx="2971800" cy="384048"/>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By: </a:t>
            </a:r>
            <a:pPr indent="0" marL="0">
              <a:buNone/>
            </a:pPr>
            <a:r>
              <a:rPr lang="en-US" sz="800" dirty="0">
                <a:solidFill>
                  <a:srgbClr val="1B2A24"/>
                </a:solidFill>
                <a:latin typeface="Arial" pitchFamily="34" charset="0"/>
                <a:ea typeface="Arial" pitchFamily="34" charset="-122"/>
                <a:cs typeface="Arial" pitchFamily="34" charset="-120"/>
              </a:rPr>
              <a:t>steering / product board together with the lead architect</a:t>
            </a:r>
            <a:endParaRPr lang="en-US" sz="800" dirty="0"/>
          </a:p>
        </p:txBody>
      </p:sp>
      <p:sp>
        <p:nvSpPr>
          <p:cNvPr id="52" name="Text 50"/>
          <p:cNvSpPr/>
          <p:nvPr/>
        </p:nvSpPr>
        <p:spPr>
          <a:xfrm>
            <a:off x="8641080" y="2953512"/>
            <a:ext cx="2971800" cy="182880"/>
          </a:xfrm>
          <a:prstGeom prst="rect">
            <a:avLst/>
          </a:prstGeom>
          <a:noFill/>
          <a:ln/>
        </p:spPr>
        <p:txBody>
          <a:bodyPr wrap="square" lIns="0" tIns="0" rIns="0" bIns="0" rtlCol="0" anchor="t"/>
          <a:lstStyle/>
          <a:p>
            <a:pPr indent="0" marL="0">
              <a:buNone/>
            </a:pPr>
            <a:r>
              <a:rPr lang="en-US" sz="850" b="1" dirty="0">
                <a:solidFill>
                  <a:srgbClr val="0B3F2C"/>
                </a:solidFill>
                <a:latin typeface="Arial" pitchFamily="34" charset="0"/>
                <a:ea typeface="Arial" pitchFamily="34" charset="-122"/>
                <a:cs typeface="Arial" pitchFamily="34" charset="-120"/>
              </a:rPr>
              <a:t>Guardrails inside the step (scripted checks)</a:t>
            </a:r>
            <a:endParaRPr lang="en-US" sz="850" dirty="0"/>
          </a:p>
        </p:txBody>
      </p:sp>
      <p:sp>
        <p:nvSpPr>
          <p:cNvPr id="53" name="Text 51"/>
          <p:cNvSpPr/>
          <p:nvPr/>
        </p:nvSpPr>
        <p:spPr>
          <a:xfrm>
            <a:off x="8641080" y="3154680"/>
            <a:ext cx="2971800" cy="1143000"/>
          </a:xfrm>
          <a:prstGeom prst="rect">
            <a:avLst/>
          </a:prstGeom>
          <a:noFill/>
          <a:ln/>
        </p:spPr>
        <p:txBody>
          <a:bodyPr wrap="square" lIns="0" tIns="0" rIns="0" bIns="0" rtlCol="0" anchor="t"/>
          <a:lstStyle/>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scope only from the approved baseline</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every item has a context and an owner</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architecture-debt items included with evidence</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decision recorded: who, when, evidence</a:t>
            </a:r>
            <a:endParaRPr lang="en-US" sz="800" dirty="0"/>
          </a:p>
        </p:txBody>
      </p:sp>
      <p:sp>
        <p:nvSpPr>
          <p:cNvPr id="54" name="Text 52"/>
          <p:cNvSpPr/>
          <p:nvPr/>
        </p:nvSpPr>
        <p:spPr>
          <a:xfrm>
            <a:off x="8641080" y="4297680"/>
            <a:ext cx="2971800" cy="219456"/>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A2 · architecture in the charter — to build</a:t>
            </a:r>
            <a:endParaRPr lang="en-US" sz="750" dirty="0"/>
          </a:p>
        </p:txBody>
      </p:sp>
      <p:sp>
        <p:nvSpPr>
          <p:cNvPr id="55" name="Text 53"/>
          <p:cNvSpPr/>
          <p:nvPr/>
        </p:nvSpPr>
        <p:spPr>
          <a:xfrm>
            <a:off x="8613648" y="4599432"/>
            <a:ext cx="3026664" cy="274320"/>
          </a:xfrm>
          <a:prstGeom prst="roundRect">
            <a:avLst>
              <a:gd name="adj" fmla="val 20000"/>
            </a:avLst>
          </a:prstGeom>
          <a:solidFill>
            <a:srgbClr val="B23A32"/>
          </a:solidFill>
          <a:ln>
            <a:solidFill>
              <a:srgbClr val="B23A32"/>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MISSING → to build for the guardrails</a:t>
            </a:r>
            <a:endParaRPr lang="en-US" sz="850" dirty="0"/>
          </a:p>
        </p:txBody>
      </p:sp>
      <p:sp>
        <p:nvSpPr>
          <p:cNvPr id="56" name="Text 54"/>
          <p:cNvSpPr/>
          <p:nvPr/>
        </p:nvSpPr>
        <p:spPr>
          <a:xfrm>
            <a:off x="8641080" y="4946904"/>
            <a:ext cx="2971800" cy="1371600"/>
          </a:xfrm>
          <a:prstGeom prst="rect">
            <a:avLst/>
          </a:prstGeom>
          <a:noFill/>
          <a:ln/>
        </p:spPr>
        <p:txBody>
          <a:bodyPr wrap="square" lIns="0" tIns="0" rIns="0" bIns="0" rtlCol="0" anchor="t"/>
          <a:lstStyle/>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Iteration charter artifact + decision record</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Cross-context dependency check against the context map</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Capacity / ownership mapping for large teams (story → squad)</a:t>
            </a:r>
            <a:endParaRPr lang="en-US" sz="800" dirty="0"/>
          </a:p>
        </p:txBody>
      </p:sp>
      <p:sp>
        <p:nvSpPr>
          <p:cNvPr id="57" name="Text 55"/>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7955280" cy="45720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Step 3 · Design</a:t>
            </a:r>
            <a:endParaRPr lang="en-US" sz="2400" dirty="0"/>
          </a:p>
        </p:txBody>
      </p:sp>
      <p:sp>
        <p:nvSpPr>
          <p:cNvPr id="3" name="Text 1"/>
          <p:cNvSpPr/>
          <p:nvPr/>
        </p:nvSpPr>
        <p:spPr>
          <a:xfrm>
            <a:off x="457200" y="749808"/>
            <a:ext cx="8412480" cy="502920"/>
          </a:xfrm>
          <a:prstGeom prst="rect">
            <a:avLst/>
          </a:prstGeom>
          <a:noFill/>
          <a:ln/>
        </p:spPr>
        <p:txBody>
          <a:bodyPr wrap="square" lIns="0" tIns="0" rIns="0" bIns="0" rtlCol="0" anchor="t"/>
          <a:lstStyle/>
          <a:p>
            <a:pPr indent="0" marL="0">
              <a:buNone/>
            </a:pPr>
            <a:r>
              <a:rPr lang="en-US" sz="1100" b="1" dirty="0">
                <a:solidFill>
                  <a:srgbClr val="0E6B45"/>
                </a:solidFill>
                <a:latin typeface="Arial" pitchFamily="34" charset="0"/>
                <a:ea typeface="Arial" pitchFamily="34" charset="-122"/>
                <a:cs typeface="Arial" pitchFamily="34" charset="-120"/>
              </a:rPr>
              <a:t>Spec Kit’s core step — and where most is already done: ShAIping authors, the built ShAIping ↔ Spec Kit integration imports, the architecture standards (skills) feed the plan; A3 makes conformance a scripted verdict and the design authority signs.</a:t>
            </a:r>
            <a:endParaRPr lang="en-US" sz="1100" dirty="0"/>
          </a:p>
        </p:txBody>
      </p:sp>
      <p:sp>
        <p:nvSpPr>
          <p:cNvPr id="4" name="Text 2"/>
          <p:cNvSpPr/>
          <p:nvPr/>
        </p:nvSpPr>
        <p:spPr>
          <a:xfrm>
            <a:off x="8549640" y="310896"/>
            <a:ext cx="1024128" cy="210312"/>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native</a:t>
            </a:r>
            <a:endParaRPr lang="en-US" sz="650" dirty="0"/>
          </a:p>
        </p:txBody>
      </p:sp>
      <p:sp>
        <p:nvSpPr>
          <p:cNvPr id="5" name="Text 3"/>
          <p:cNvSpPr/>
          <p:nvPr/>
        </p:nvSpPr>
        <p:spPr>
          <a:xfrm>
            <a:off x="9628632" y="310896"/>
            <a:ext cx="1024128" cy="210312"/>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available</a:t>
            </a:r>
            <a:endParaRPr lang="en-US" sz="650" dirty="0"/>
          </a:p>
        </p:txBody>
      </p:sp>
      <p:sp>
        <p:nvSpPr>
          <p:cNvPr id="6" name="Text 4"/>
          <p:cNvSpPr/>
          <p:nvPr/>
        </p:nvSpPr>
        <p:spPr>
          <a:xfrm>
            <a:off x="10707624" y="310896"/>
            <a:ext cx="1024128" cy="210312"/>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in progress</a:t>
            </a:r>
            <a:endParaRPr lang="en-US" sz="650" dirty="0"/>
          </a:p>
        </p:txBody>
      </p:sp>
      <p:sp>
        <p:nvSpPr>
          <p:cNvPr id="7" name="Text 5"/>
          <p:cNvSpPr/>
          <p:nvPr/>
        </p:nvSpPr>
        <p:spPr>
          <a:xfrm>
            <a:off x="8549640" y="576072"/>
            <a:ext cx="1024128" cy="210312"/>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8" name="Text 6"/>
          <p:cNvSpPr/>
          <p:nvPr/>
        </p:nvSpPr>
        <p:spPr>
          <a:xfrm>
            <a:off x="9628632" y="576072"/>
            <a:ext cx="1024128" cy="210312"/>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9" name="Text 7"/>
          <p:cNvSpPr/>
          <p:nvPr/>
        </p:nvSpPr>
        <p:spPr>
          <a:xfrm>
            <a:off x="45720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1 · Requirements</a:t>
            </a:r>
            <a:endParaRPr lang="en-US" sz="900" dirty="0"/>
          </a:p>
        </p:txBody>
      </p:sp>
      <p:sp>
        <p:nvSpPr>
          <p:cNvPr id="10" name="Text 8"/>
          <p:cNvSpPr/>
          <p:nvPr/>
        </p:nvSpPr>
        <p:spPr>
          <a:xfrm>
            <a:off x="2048256"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2 · Plan</a:t>
            </a:r>
            <a:endParaRPr lang="en-US" sz="900" dirty="0"/>
          </a:p>
        </p:txBody>
      </p:sp>
      <p:sp>
        <p:nvSpPr>
          <p:cNvPr id="11" name="Text 9"/>
          <p:cNvSpPr/>
          <p:nvPr/>
        </p:nvSpPr>
        <p:spPr>
          <a:xfrm>
            <a:off x="3639312" y="1298448"/>
            <a:ext cx="1481328" cy="310896"/>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3 · Design</a:t>
            </a:r>
            <a:endParaRPr lang="en-US" sz="900" dirty="0"/>
          </a:p>
        </p:txBody>
      </p:sp>
      <p:sp>
        <p:nvSpPr>
          <p:cNvPr id="12" name="Text 10"/>
          <p:cNvSpPr/>
          <p:nvPr/>
        </p:nvSpPr>
        <p:spPr>
          <a:xfrm>
            <a:off x="5230368"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4 · Implement</a:t>
            </a:r>
            <a:endParaRPr lang="en-US" sz="900" dirty="0"/>
          </a:p>
        </p:txBody>
      </p:sp>
      <p:sp>
        <p:nvSpPr>
          <p:cNvPr id="13" name="Text 11"/>
          <p:cNvSpPr/>
          <p:nvPr/>
        </p:nvSpPr>
        <p:spPr>
          <a:xfrm>
            <a:off x="6821424"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5 · Test</a:t>
            </a:r>
            <a:endParaRPr lang="en-US" sz="900" dirty="0"/>
          </a:p>
        </p:txBody>
      </p:sp>
      <p:sp>
        <p:nvSpPr>
          <p:cNvPr id="14" name="Text 12"/>
          <p:cNvSpPr/>
          <p:nvPr/>
        </p:nvSpPr>
        <p:spPr>
          <a:xfrm>
            <a:off x="841248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6 · Deploy</a:t>
            </a:r>
            <a:endParaRPr lang="en-US" sz="900" dirty="0"/>
          </a:p>
        </p:txBody>
      </p:sp>
      <p:sp>
        <p:nvSpPr>
          <p:cNvPr id="15" name="Text 13"/>
          <p:cNvSpPr/>
          <p:nvPr/>
        </p:nvSpPr>
        <p:spPr>
          <a:xfrm>
            <a:off x="10003536"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7 · Operate &amp; assess</a:t>
            </a:r>
            <a:endParaRPr lang="en-US" sz="900" dirty="0"/>
          </a:p>
        </p:txBody>
      </p:sp>
      <p:sp>
        <p:nvSpPr>
          <p:cNvPr id="16" name="Shape 14"/>
          <p:cNvSpPr/>
          <p:nvPr/>
        </p:nvSpPr>
        <p:spPr>
          <a:xfrm>
            <a:off x="457200" y="1783080"/>
            <a:ext cx="7818120" cy="1554480"/>
          </a:xfrm>
          <a:prstGeom prst="roundRect">
            <a:avLst>
              <a:gd name="adj" fmla="val 4706"/>
            </a:avLst>
          </a:prstGeom>
          <a:solidFill>
            <a:srgbClr val="EAF5EE"/>
          </a:solidFill>
          <a:ln w="12700">
            <a:solidFill>
              <a:srgbClr val="EAF5EE"/>
            </a:solidFill>
            <a:prstDash val="solid"/>
          </a:ln>
        </p:spPr>
      </p:sp>
      <p:sp>
        <p:nvSpPr>
          <p:cNvPr id="17" name="Text 15"/>
          <p:cNvSpPr/>
          <p:nvPr/>
        </p:nvSpPr>
        <p:spPr>
          <a:xfrm>
            <a:off x="594360" y="1856232"/>
            <a:ext cx="36576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What happens on this step</a:t>
            </a:r>
            <a:endParaRPr lang="en-US" sz="950" dirty="0"/>
          </a:p>
        </p:txBody>
      </p:sp>
      <p:sp>
        <p:nvSpPr>
          <p:cNvPr id="18" name="Shape 16"/>
          <p:cNvSpPr/>
          <p:nvPr/>
        </p:nvSpPr>
        <p:spPr>
          <a:xfrm>
            <a:off x="594360" y="2194560"/>
            <a:ext cx="1371600" cy="896112"/>
          </a:xfrm>
          <a:prstGeom prst="roundRect">
            <a:avLst>
              <a:gd name="adj" fmla="val 6122"/>
            </a:avLst>
          </a:prstGeom>
          <a:solidFill>
            <a:srgbClr val="FFFFFF"/>
          </a:solidFill>
          <a:ln w="12700">
            <a:solidFill>
              <a:srgbClr val="CFE9DA"/>
            </a:solidFill>
            <a:prstDash val="solid"/>
          </a:ln>
        </p:spPr>
      </p:sp>
      <p:sp>
        <p:nvSpPr>
          <p:cNvPr id="19" name="Text 17"/>
          <p:cNvSpPr/>
          <p:nvPr/>
        </p:nvSpPr>
        <p:spPr>
          <a:xfrm>
            <a:off x="6400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ShAIping — EventStorming</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inside a context · D ← BR ← AC ← SC ← UC</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12 scripted checks ✓</a:t>
            </a:r>
            <a:endParaRPr lang="en-US" sz="750" dirty="0"/>
          </a:p>
        </p:txBody>
      </p:sp>
      <p:sp>
        <p:nvSpPr>
          <p:cNvPr id="20" name="Shape 18"/>
          <p:cNvSpPr/>
          <p:nvPr/>
        </p:nvSpPr>
        <p:spPr>
          <a:xfrm>
            <a:off x="1993392" y="2642616"/>
            <a:ext cx="116586" cy="0"/>
          </a:xfrm>
          <a:prstGeom prst="line">
            <a:avLst/>
          </a:prstGeom>
          <a:noFill/>
          <a:ln w="15875">
            <a:solidFill>
              <a:srgbClr val="0E6B45"/>
            </a:solidFill>
            <a:prstDash val="solid"/>
            <a:tailEnd type="triangle"/>
          </a:ln>
        </p:spPr>
      </p:sp>
      <p:sp>
        <p:nvSpPr>
          <p:cNvPr id="21" name="Shape 19"/>
          <p:cNvSpPr/>
          <p:nvPr/>
        </p:nvSpPr>
        <p:spPr>
          <a:xfrm>
            <a:off x="2137410" y="2194560"/>
            <a:ext cx="1371600" cy="896112"/>
          </a:xfrm>
          <a:prstGeom prst="roundRect">
            <a:avLst>
              <a:gd name="adj" fmla="val 6122"/>
            </a:avLst>
          </a:prstGeom>
          <a:solidFill>
            <a:srgbClr val="FFFFFF"/>
          </a:solidFill>
          <a:ln w="12700">
            <a:solidFill>
              <a:srgbClr val="CFE9DA"/>
            </a:solidFill>
            <a:prstDash val="solid"/>
          </a:ln>
        </p:spPr>
      </p:sp>
      <p:sp>
        <p:nvSpPr>
          <p:cNvPr id="22" name="Text 20"/>
          <p:cNvSpPr/>
          <p:nvPr/>
        </p:nvSpPr>
        <p:spPr>
          <a:xfrm>
            <a:off x="21831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ShAIping ↔ Spec Kit</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integration ✓ imports the spec</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(hardening: contract test)</a:t>
            </a:r>
            <a:endParaRPr lang="en-US" sz="750" dirty="0"/>
          </a:p>
        </p:txBody>
      </p:sp>
      <p:sp>
        <p:nvSpPr>
          <p:cNvPr id="23" name="Shape 21"/>
          <p:cNvSpPr/>
          <p:nvPr/>
        </p:nvSpPr>
        <p:spPr>
          <a:xfrm>
            <a:off x="3536442" y="2642616"/>
            <a:ext cx="116586" cy="0"/>
          </a:xfrm>
          <a:prstGeom prst="line">
            <a:avLst/>
          </a:prstGeom>
          <a:noFill/>
          <a:ln w="15875">
            <a:solidFill>
              <a:srgbClr val="0E6B45"/>
            </a:solidFill>
            <a:prstDash val="solid"/>
            <a:tailEnd type="triangle"/>
          </a:ln>
        </p:spPr>
      </p:sp>
      <p:sp>
        <p:nvSpPr>
          <p:cNvPr id="24" name="Shape 22"/>
          <p:cNvSpPr/>
          <p:nvPr/>
        </p:nvSpPr>
        <p:spPr>
          <a:xfrm>
            <a:off x="3680460" y="2194560"/>
            <a:ext cx="1371600" cy="896112"/>
          </a:xfrm>
          <a:prstGeom prst="roundRect">
            <a:avLst>
              <a:gd name="adj" fmla="val 6122"/>
            </a:avLst>
          </a:prstGeom>
          <a:solidFill>
            <a:srgbClr val="FFFFFF"/>
          </a:solidFill>
          <a:ln w="12700">
            <a:solidFill>
              <a:srgbClr val="CFE9DA"/>
            </a:solidFill>
            <a:prstDash val="solid"/>
          </a:ln>
        </p:spPr>
      </p:sp>
      <p:sp>
        <p:nvSpPr>
          <p:cNvPr id="25" name="Text 23"/>
          <p:cNvSpPr/>
          <p:nvPr/>
        </p:nvSpPr>
        <p:spPr>
          <a:xfrm>
            <a:off x="37261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before_plan: A0 domain check +</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context loader (standards skills)</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/speckit.plan (wrapped)</a:t>
            </a:r>
            <a:endParaRPr lang="en-US" sz="750" dirty="0"/>
          </a:p>
        </p:txBody>
      </p:sp>
      <p:sp>
        <p:nvSpPr>
          <p:cNvPr id="26" name="Shape 24"/>
          <p:cNvSpPr/>
          <p:nvPr/>
        </p:nvSpPr>
        <p:spPr>
          <a:xfrm>
            <a:off x="5079492" y="2642616"/>
            <a:ext cx="116586" cy="0"/>
          </a:xfrm>
          <a:prstGeom prst="line">
            <a:avLst/>
          </a:prstGeom>
          <a:noFill/>
          <a:ln w="15875">
            <a:solidFill>
              <a:srgbClr val="0E6B45"/>
            </a:solidFill>
            <a:prstDash val="solid"/>
            <a:tailEnd type="triangle"/>
          </a:ln>
        </p:spPr>
      </p:sp>
      <p:sp>
        <p:nvSpPr>
          <p:cNvPr id="27" name="Shape 25"/>
          <p:cNvSpPr/>
          <p:nvPr/>
        </p:nvSpPr>
        <p:spPr>
          <a:xfrm>
            <a:off x="5223510" y="2194560"/>
            <a:ext cx="1371600" cy="896112"/>
          </a:xfrm>
          <a:prstGeom prst="roundRect">
            <a:avLst>
              <a:gd name="adj" fmla="val 6122"/>
            </a:avLst>
          </a:prstGeom>
          <a:solidFill>
            <a:srgbClr val="FFFFFF"/>
          </a:solidFill>
          <a:ln w="12700">
            <a:solidFill>
              <a:srgbClr val="CFE9DA"/>
            </a:solidFill>
            <a:prstDash val="solid"/>
          </a:ln>
        </p:spPr>
      </p:sp>
      <p:sp>
        <p:nvSpPr>
          <p:cNvPr id="28" name="Text 26"/>
          <p:cNvSpPr/>
          <p:nvPr/>
        </p:nvSpPr>
        <p:spPr>
          <a:xfrm>
            <a:off x="52692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after_plan: A3 conformance</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script + ADR draft · analyze</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(constitution = CRITICAL)</a:t>
            </a:r>
            <a:endParaRPr lang="en-US" sz="750" dirty="0"/>
          </a:p>
        </p:txBody>
      </p:sp>
      <p:sp>
        <p:nvSpPr>
          <p:cNvPr id="29" name="Shape 27"/>
          <p:cNvSpPr/>
          <p:nvPr/>
        </p:nvSpPr>
        <p:spPr>
          <a:xfrm>
            <a:off x="6622542" y="2642616"/>
            <a:ext cx="116586" cy="0"/>
          </a:xfrm>
          <a:prstGeom prst="line">
            <a:avLst/>
          </a:prstGeom>
          <a:noFill/>
          <a:ln w="15875">
            <a:solidFill>
              <a:srgbClr val="0E6B45"/>
            </a:solidFill>
            <a:prstDash val="solid"/>
            <a:tailEnd type="triangle"/>
          </a:ln>
        </p:spPr>
      </p:sp>
      <p:sp>
        <p:nvSpPr>
          <p:cNvPr id="30" name="Shape 28"/>
          <p:cNvSpPr/>
          <p:nvPr/>
        </p:nvSpPr>
        <p:spPr>
          <a:xfrm>
            <a:off x="6766560" y="2194560"/>
            <a:ext cx="1371600" cy="896112"/>
          </a:xfrm>
          <a:prstGeom prst="roundRect">
            <a:avLst>
              <a:gd name="adj" fmla="val 6122"/>
            </a:avLst>
          </a:prstGeom>
          <a:solidFill>
            <a:srgbClr val="0E6B45"/>
          </a:solidFill>
          <a:ln w="12700">
            <a:solidFill>
              <a:srgbClr val="0E6B45"/>
            </a:solidFill>
            <a:prstDash val="solid"/>
          </a:ln>
        </p:spPr>
      </p:sp>
      <p:sp>
        <p:nvSpPr>
          <p:cNvPr id="31" name="Text 29"/>
          <p:cNvSpPr/>
          <p:nvPr/>
        </p:nvSpPr>
        <p:spPr>
          <a:xfrm>
            <a:off x="6812280" y="2240280"/>
            <a:ext cx="1280160" cy="80467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/speckit.tasks (wrapped) +</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after_tasks task guard</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design authority sign-off</a:t>
            </a:r>
            <a:endParaRPr lang="en-US" sz="750" dirty="0"/>
          </a:p>
        </p:txBody>
      </p:sp>
      <p:sp>
        <p:nvSpPr>
          <p:cNvPr id="32" name="Text 30"/>
          <p:cNvSpPr/>
          <p:nvPr/>
        </p:nvSpPr>
        <p:spPr>
          <a:xfrm>
            <a:off x="457200" y="3483864"/>
            <a:ext cx="45720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Agents &amp; tools on this step</a:t>
            </a:r>
            <a:endParaRPr lang="en-US" sz="950" dirty="0"/>
          </a:p>
        </p:txBody>
      </p:sp>
      <p:sp>
        <p:nvSpPr>
          <p:cNvPr id="33" name="Shape 31"/>
          <p:cNvSpPr/>
          <p:nvPr/>
        </p:nvSpPr>
        <p:spPr>
          <a:xfrm>
            <a:off x="457200" y="3758184"/>
            <a:ext cx="3771900" cy="1225296"/>
          </a:xfrm>
          <a:prstGeom prst="roundRect">
            <a:avLst>
              <a:gd name="adj" fmla="val 4478"/>
            </a:avLst>
          </a:prstGeom>
          <a:solidFill>
            <a:srgbClr val="FFFFFF"/>
          </a:solidFill>
          <a:ln w="9525">
            <a:solidFill>
              <a:srgbClr val="E9ECEA"/>
            </a:solidFill>
            <a:prstDash val="solid"/>
          </a:ln>
        </p:spPr>
      </p:sp>
      <p:sp>
        <p:nvSpPr>
          <p:cNvPr id="34" name="Text 32"/>
          <p:cNvSpPr/>
          <p:nvPr/>
        </p:nvSpPr>
        <p:spPr>
          <a:xfrm>
            <a:off x="2967228" y="3840480"/>
            <a:ext cx="1170432" cy="182880"/>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available</a:t>
            </a:r>
            <a:endParaRPr lang="en-US" sz="650" dirty="0"/>
          </a:p>
        </p:txBody>
      </p:sp>
      <p:sp>
        <p:nvSpPr>
          <p:cNvPr id="35" name="Text 33"/>
          <p:cNvSpPr/>
          <p:nvPr/>
        </p:nvSpPr>
        <p:spPr>
          <a:xfrm>
            <a:off x="566928" y="3831336"/>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ShAIping — specification authoring · ShAIping ↔ Spec Kit integration</a:t>
            </a:r>
            <a:endParaRPr lang="en-US" sz="900" dirty="0"/>
          </a:p>
        </p:txBody>
      </p:sp>
      <p:sp>
        <p:nvSpPr>
          <p:cNvPr id="36" name="Text 34"/>
          <p:cNvSpPr/>
          <p:nvPr/>
        </p:nvSpPr>
        <p:spPr>
          <a:xfrm>
            <a:off x="56692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DDD / EventStorming inside a bounded context; golden rule D ← BR ← AC ← SC ← UC; 12 deterministic authoring checks (FAIL blocks, WARN advises); the integration into Spec Kit is built — ShAIping stays the golden source, spec.md is what gets planned. Hardening to confirm: contract test, handover record, hash check.</a:t>
            </a:r>
            <a:endParaRPr lang="en-US" sz="750" dirty="0"/>
          </a:p>
        </p:txBody>
      </p:sp>
      <p:sp>
        <p:nvSpPr>
          <p:cNvPr id="37" name="Shape 35"/>
          <p:cNvSpPr/>
          <p:nvPr/>
        </p:nvSpPr>
        <p:spPr>
          <a:xfrm>
            <a:off x="4503420" y="3758184"/>
            <a:ext cx="3771900" cy="1225296"/>
          </a:xfrm>
          <a:prstGeom prst="roundRect">
            <a:avLst>
              <a:gd name="adj" fmla="val 4478"/>
            </a:avLst>
          </a:prstGeom>
          <a:solidFill>
            <a:srgbClr val="FFFFFF"/>
          </a:solidFill>
          <a:ln w="9525">
            <a:solidFill>
              <a:srgbClr val="E9ECEA"/>
            </a:solidFill>
            <a:prstDash val="solid"/>
          </a:ln>
        </p:spPr>
      </p:sp>
      <p:sp>
        <p:nvSpPr>
          <p:cNvPr id="38" name="Text 36"/>
          <p:cNvSpPr/>
          <p:nvPr/>
        </p:nvSpPr>
        <p:spPr>
          <a:xfrm>
            <a:off x="7013448" y="3840480"/>
            <a:ext cx="1170432" cy="182880"/>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in progress</a:t>
            </a:r>
            <a:endParaRPr lang="en-US" sz="650" dirty="0"/>
          </a:p>
        </p:txBody>
      </p:sp>
      <p:sp>
        <p:nvSpPr>
          <p:cNvPr id="39" name="Text 37"/>
          <p:cNvSpPr/>
          <p:nvPr/>
        </p:nvSpPr>
        <p:spPr>
          <a:xfrm>
            <a:off x="4613148" y="3831336"/>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Architecture standards as skills → rulebook (A3 input)</a:t>
            </a:r>
            <a:endParaRPr lang="en-US" sz="900" dirty="0"/>
          </a:p>
        </p:txBody>
      </p:sp>
      <p:sp>
        <p:nvSpPr>
          <p:cNvPr id="40" name="Text 38"/>
          <p:cNvSpPr/>
          <p:nvPr/>
        </p:nvSpPr>
        <p:spPr>
          <a:xfrm>
            <a:off x="461314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The corporate architecture standards exist as a skills repository (available); binding them to the A-gates as ARCH-### rules with check bindings — loaded by the context loader before plan, referenced by the plan / tasks presets — is in progress.</a:t>
            </a:r>
            <a:endParaRPr lang="en-US" sz="750" dirty="0"/>
          </a:p>
        </p:txBody>
      </p:sp>
      <p:sp>
        <p:nvSpPr>
          <p:cNvPr id="41" name="Shape 39"/>
          <p:cNvSpPr/>
          <p:nvPr/>
        </p:nvSpPr>
        <p:spPr>
          <a:xfrm>
            <a:off x="457200" y="5093208"/>
            <a:ext cx="3771900" cy="1225296"/>
          </a:xfrm>
          <a:prstGeom prst="roundRect">
            <a:avLst>
              <a:gd name="adj" fmla="val 4478"/>
            </a:avLst>
          </a:prstGeom>
          <a:solidFill>
            <a:srgbClr val="FFFFFF"/>
          </a:solidFill>
          <a:ln w="9525">
            <a:solidFill>
              <a:srgbClr val="E9ECEA"/>
            </a:solidFill>
            <a:prstDash val="solid"/>
          </a:ln>
        </p:spPr>
      </p:sp>
      <p:sp>
        <p:nvSpPr>
          <p:cNvPr id="42" name="Text 40"/>
          <p:cNvSpPr/>
          <p:nvPr/>
        </p:nvSpPr>
        <p:spPr>
          <a:xfrm>
            <a:off x="2967228" y="5175504"/>
            <a:ext cx="1170432" cy="182880"/>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native</a:t>
            </a:r>
            <a:endParaRPr lang="en-US" sz="650" dirty="0"/>
          </a:p>
        </p:txBody>
      </p:sp>
      <p:sp>
        <p:nvSpPr>
          <p:cNvPr id="43" name="Text 41"/>
          <p:cNvSpPr/>
          <p:nvPr/>
        </p:nvSpPr>
        <p:spPr>
          <a:xfrm>
            <a:off x="56692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/speckit.plan · /speckit.tasks · /speckit.analyze — the native levers</a:t>
            </a:r>
            <a:endParaRPr lang="en-US" sz="900" dirty="0"/>
          </a:p>
        </p:txBody>
      </p:sp>
      <p:sp>
        <p:nvSpPr>
          <p:cNvPr id="44" name="Text 42"/>
          <p:cNvSpPr/>
          <p:nvPr/>
        </p:nvSpPr>
        <p:spPr>
          <a:xfrm>
            <a:off x="56692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plan.md carries a Constitution Check ("GATE: must pass before Phase 0 research, re-check after Phase 1 design", gates determined from the constitution); analyze marks constitution conflicts and missing mandated sections CRITICAL; tasks.md by user story with [P] markers — all three read the constitution, so rules placed there are seen natively.</a:t>
            </a:r>
            <a:endParaRPr lang="en-US" sz="750" dirty="0"/>
          </a:p>
        </p:txBody>
      </p:sp>
      <p:sp>
        <p:nvSpPr>
          <p:cNvPr id="45" name="Shape 43"/>
          <p:cNvSpPr/>
          <p:nvPr/>
        </p:nvSpPr>
        <p:spPr>
          <a:xfrm>
            <a:off x="4503420" y="5093208"/>
            <a:ext cx="3771900" cy="1225296"/>
          </a:xfrm>
          <a:prstGeom prst="roundRect">
            <a:avLst>
              <a:gd name="adj" fmla="val 4478"/>
            </a:avLst>
          </a:prstGeom>
          <a:solidFill>
            <a:srgbClr val="FFFFFF"/>
          </a:solidFill>
          <a:ln w="9525">
            <a:solidFill>
              <a:srgbClr val="E9ECEA"/>
            </a:solidFill>
            <a:prstDash val="solid"/>
          </a:ln>
        </p:spPr>
      </p:sp>
      <p:sp>
        <p:nvSpPr>
          <p:cNvPr id="46" name="Text 44"/>
          <p:cNvSpPr/>
          <p:nvPr/>
        </p:nvSpPr>
        <p:spPr>
          <a:xfrm>
            <a:off x="7013448" y="5175504"/>
            <a:ext cx="1170432"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47" name="Text 45"/>
          <p:cNvSpPr/>
          <p:nvPr/>
        </p:nvSpPr>
        <p:spPr>
          <a:xfrm>
            <a:off x="461314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A3 wiring to build: conformance script · decision ledger · task guard</a:t>
            </a:r>
            <a:endParaRPr lang="en-US" sz="900" dirty="0"/>
          </a:p>
        </p:txBody>
      </p:sp>
      <p:sp>
        <p:nvSpPr>
          <p:cNvPr id="48" name="Text 46"/>
          <p:cNvSpPr/>
          <p:nvPr/>
        </p:nvSpPr>
        <p:spPr>
          <a:xfrm>
            <a:off x="461314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preset wraps plan with an Architecture Conformance table; after_plan script verifies it (JSON verdict) and writes checklists/architecture.md; ADR drafted into the ledger; after_tasks script checks Carries: IDs and mandated fitness-test tasks. Patterns: adrkit, architect-preview, arch-governance.</a:t>
            </a:r>
            <a:endParaRPr lang="en-US" sz="750" dirty="0"/>
          </a:p>
        </p:txBody>
      </p:sp>
      <p:sp>
        <p:nvSpPr>
          <p:cNvPr id="49" name="Shape 47"/>
          <p:cNvSpPr/>
          <p:nvPr/>
        </p:nvSpPr>
        <p:spPr>
          <a:xfrm>
            <a:off x="8503920" y="1783080"/>
            <a:ext cx="3246120" cy="4617720"/>
          </a:xfrm>
          <a:prstGeom prst="roundRect">
            <a:avLst>
              <a:gd name="adj" fmla="val 2254"/>
            </a:avLst>
          </a:prstGeom>
          <a:solidFill>
            <a:srgbClr val="EAF5EE"/>
          </a:solidFill>
          <a:ln w="12700">
            <a:solidFill>
              <a:srgbClr val="EAF5EE"/>
            </a:solidFill>
            <a:prstDash val="solid"/>
          </a:ln>
        </p:spPr>
      </p:sp>
      <p:sp>
        <p:nvSpPr>
          <p:cNvPr id="50" name="Text 48"/>
          <p:cNvSpPr/>
          <p:nvPr/>
        </p:nvSpPr>
        <p:spPr>
          <a:xfrm>
            <a:off x="8613648" y="1892808"/>
            <a:ext cx="3026664" cy="566928"/>
          </a:xfrm>
          <a:prstGeom prst="roundRect">
            <a:avLst>
              <a:gd name="adj" fmla="val 9677"/>
            </a:avLst>
          </a:prstGeom>
          <a:solidFill>
            <a:srgbClr val="3E4F48"/>
          </a:solidFill>
          <a:ln>
            <a:solidFill>
              <a:srgbClr val="3E4F48"/>
            </a:solidFill>
          </a:ln>
        </p:spPr>
        <p:txBody>
          <a:bodyPr wrap="square" lIns="25400" tIns="76200" rIns="76200" bIns="25400" rtlCol="0" anchor="ctr"/>
          <a:lstStyle/>
          <a:p>
            <a:pPr algn="ctr" indent="0" marL="0">
              <a:buNone/>
            </a:pPr>
            <a:r>
              <a:rPr lang="en-US" sz="750" b="1" dirty="0">
                <a:solidFill>
                  <a:srgbClr val="CFE9DA"/>
                </a:solidFill>
                <a:latin typeface="Arial" pitchFamily="34" charset="0"/>
                <a:ea typeface="Arial" pitchFamily="34" charset="-122"/>
                <a:cs typeface="Arial" pitchFamily="34" charset="-120"/>
              </a:rPr>
              <a:t>HUMAN DECISION AT THE BOUNDARY</a:t>
            </a:r>
            <a:endParaRPr lang="en-US" sz="750" dirty="0"/>
          </a:p>
          <a:p>
            <a:pPr algn="ctr" indent="0" marL="0">
              <a:buNone/>
            </a:pPr>
            <a:r>
              <a:rPr lang="en-US" sz="1050" b="1" dirty="0">
                <a:solidFill>
                  <a:srgbClr val="FFFFFF"/>
                </a:solidFill>
                <a:latin typeface="Arial" pitchFamily="34" charset="0"/>
                <a:ea typeface="Arial" pitchFamily="34" charset="-122"/>
                <a:cs typeface="Arial" pitchFamily="34" charset="-120"/>
              </a:rPr>
              <a:t>Design authority sign-off</a:t>
            </a:r>
            <a:endParaRPr lang="en-US" sz="750" dirty="0"/>
          </a:p>
        </p:txBody>
      </p:sp>
      <p:sp>
        <p:nvSpPr>
          <p:cNvPr id="51" name="Text 49"/>
          <p:cNvSpPr/>
          <p:nvPr/>
        </p:nvSpPr>
        <p:spPr>
          <a:xfrm>
            <a:off x="8641080" y="2532888"/>
            <a:ext cx="2971800" cy="384048"/>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By: </a:t>
            </a:r>
            <a:pPr indent="0" marL="0">
              <a:buNone/>
            </a:pPr>
            <a:r>
              <a:rPr lang="en-US" sz="800" dirty="0">
                <a:solidFill>
                  <a:srgbClr val="1B2A24"/>
                </a:solidFill>
                <a:latin typeface="Arial" pitchFamily="34" charset="0"/>
                <a:ea typeface="Arial" pitchFamily="34" charset="-122"/>
                <a:cs typeface="Arial" pitchFamily="34" charset="-120"/>
              </a:rPr>
              <a:t>lead architect signs the plan; the BA signs the specification</a:t>
            </a:r>
            <a:endParaRPr lang="en-US" sz="800" dirty="0"/>
          </a:p>
        </p:txBody>
      </p:sp>
      <p:sp>
        <p:nvSpPr>
          <p:cNvPr id="52" name="Text 50"/>
          <p:cNvSpPr/>
          <p:nvPr/>
        </p:nvSpPr>
        <p:spPr>
          <a:xfrm>
            <a:off x="8641080" y="2953512"/>
            <a:ext cx="2971800" cy="182880"/>
          </a:xfrm>
          <a:prstGeom prst="rect">
            <a:avLst/>
          </a:prstGeom>
          <a:noFill/>
          <a:ln/>
        </p:spPr>
        <p:txBody>
          <a:bodyPr wrap="square" lIns="0" tIns="0" rIns="0" bIns="0" rtlCol="0" anchor="t"/>
          <a:lstStyle/>
          <a:p>
            <a:pPr indent="0" marL="0">
              <a:buNone/>
            </a:pPr>
            <a:r>
              <a:rPr lang="en-US" sz="850" b="1" dirty="0">
                <a:solidFill>
                  <a:srgbClr val="0B3F2C"/>
                </a:solidFill>
                <a:latin typeface="Arial" pitchFamily="34" charset="0"/>
                <a:ea typeface="Arial" pitchFamily="34" charset="-122"/>
                <a:cs typeface="Arial" pitchFamily="34" charset="-120"/>
              </a:rPr>
              <a:t>Guardrails inside the step (scripted checks)</a:t>
            </a:r>
            <a:endParaRPr lang="en-US" sz="850" dirty="0"/>
          </a:p>
        </p:txBody>
      </p:sp>
      <p:sp>
        <p:nvSpPr>
          <p:cNvPr id="53" name="Text 51"/>
          <p:cNvSpPr/>
          <p:nvPr/>
        </p:nvSpPr>
        <p:spPr>
          <a:xfrm>
            <a:off x="8641080" y="3154680"/>
            <a:ext cx="2971800" cy="1143000"/>
          </a:xfrm>
          <a:prstGeom prst="rect">
            <a:avLst/>
          </a:prstGeom>
          <a:noFill/>
          <a:ln/>
        </p:spPr>
        <p:txBody>
          <a:bodyPr wrap="square" lIns="0" tIns="0" rIns="0" bIns="0" rtlCol="0" anchor="t"/>
          <a:lstStyle/>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ShAIping’s scripted checks pass before the import ✓</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import complete: every UC / SC / AC / BR / D item with its ID (contract test to confirm)</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A0: domain-map version pinned; one context per feature</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A3: Constitution Check + Architecture Conformance table, verified by script</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analyze CRITICAL = 0; tasks carry IDs; fitness-test tasks present</a:t>
            </a:r>
            <a:endParaRPr lang="en-US" sz="800" dirty="0"/>
          </a:p>
        </p:txBody>
      </p:sp>
      <p:sp>
        <p:nvSpPr>
          <p:cNvPr id="54" name="Text 52"/>
          <p:cNvSpPr/>
          <p:nvPr/>
        </p:nvSpPr>
        <p:spPr>
          <a:xfrm>
            <a:off x="8641080" y="4297680"/>
            <a:ext cx="2971800" cy="219456"/>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A3 · plan conformance — in progress</a:t>
            </a:r>
            <a:endParaRPr lang="en-US" sz="750" dirty="0"/>
          </a:p>
        </p:txBody>
      </p:sp>
      <p:sp>
        <p:nvSpPr>
          <p:cNvPr id="55" name="Text 53"/>
          <p:cNvSpPr/>
          <p:nvPr/>
        </p:nvSpPr>
        <p:spPr>
          <a:xfrm>
            <a:off x="8613648" y="4599432"/>
            <a:ext cx="3026664" cy="274320"/>
          </a:xfrm>
          <a:prstGeom prst="roundRect">
            <a:avLst>
              <a:gd name="adj" fmla="val 20000"/>
            </a:avLst>
          </a:prstGeom>
          <a:solidFill>
            <a:srgbClr val="B23A32"/>
          </a:solidFill>
          <a:ln>
            <a:solidFill>
              <a:srgbClr val="B23A32"/>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MISSING → to build for the guardrails</a:t>
            </a:r>
            <a:endParaRPr lang="en-US" sz="850" dirty="0"/>
          </a:p>
        </p:txBody>
      </p:sp>
      <p:sp>
        <p:nvSpPr>
          <p:cNvPr id="56" name="Text 54"/>
          <p:cNvSpPr/>
          <p:nvPr/>
        </p:nvSpPr>
        <p:spPr>
          <a:xfrm>
            <a:off x="8641080" y="4946904"/>
            <a:ext cx="2971800" cy="1371600"/>
          </a:xfrm>
          <a:prstGeom prst="rect">
            <a:avLst/>
          </a:prstGeom>
          <a:noFill/>
          <a:ln/>
        </p:spPr>
        <p:txBody>
          <a:bodyPr wrap="square" lIns="0" tIns="0" rIns="0" bIns="0" rtlCol="0" anchor="t"/>
          <a:lstStyle/>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Handover hardening if not already in the integration: contract test, handover record, hash check on spec.md</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A3 wiring: context loader (before_plan), Architecture Conformance preset wrap, conformance script (after_plan)</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Decision ledger (ADR per significant decision) and task guard (after_tasks)</a:t>
            </a:r>
            <a:endParaRPr lang="en-US" sz="800" dirty="0"/>
          </a:p>
        </p:txBody>
      </p:sp>
      <p:sp>
        <p:nvSpPr>
          <p:cNvPr id="57" name="Text 55"/>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7955280" cy="45720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Step 4 · Implement</a:t>
            </a:r>
            <a:endParaRPr lang="en-US" sz="2400" dirty="0"/>
          </a:p>
        </p:txBody>
      </p:sp>
      <p:sp>
        <p:nvSpPr>
          <p:cNvPr id="3" name="Text 1"/>
          <p:cNvSpPr/>
          <p:nvPr/>
        </p:nvSpPr>
        <p:spPr>
          <a:xfrm>
            <a:off x="457200" y="749808"/>
            <a:ext cx="8412480" cy="502920"/>
          </a:xfrm>
          <a:prstGeom prst="rect">
            <a:avLst/>
          </a:prstGeom>
          <a:noFill/>
          <a:ln/>
        </p:spPr>
        <p:txBody>
          <a:bodyPr wrap="square" lIns="0" tIns="0" rIns="0" bIns="0" rtlCol="0" anchor="t"/>
          <a:lstStyle/>
          <a:p>
            <a:pPr indent="0" marL="0">
              <a:buNone/>
            </a:pPr>
            <a:r>
              <a:rPr lang="en-US" sz="1100" b="1" dirty="0">
                <a:solidFill>
                  <a:srgbClr val="0E6B45"/>
                </a:solidFill>
                <a:latin typeface="Arial" pitchFamily="34" charset="0"/>
                <a:ea typeface="Arial" pitchFamily="34" charset="-122"/>
                <a:cs typeface="Arial" pitchFamily="34" charset="-120"/>
              </a:rPr>
              <a:t>The native Spec Kit agents are already here: implement ⇄ converge build the spec tests-first, with the checklist STOP-gate at the start; A4 adds the fitness-function runner at the end — the same script runs again in the test loop and on the pull request.</a:t>
            </a:r>
            <a:endParaRPr lang="en-US" sz="1100" dirty="0"/>
          </a:p>
        </p:txBody>
      </p:sp>
      <p:sp>
        <p:nvSpPr>
          <p:cNvPr id="4" name="Text 2"/>
          <p:cNvSpPr/>
          <p:nvPr/>
        </p:nvSpPr>
        <p:spPr>
          <a:xfrm>
            <a:off x="8549640" y="310896"/>
            <a:ext cx="1024128" cy="210312"/>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native</a:t>
            </a:r>
            <a:endParaRPr lang="en-US" sz="650" dirty="0"/>
          </a:p>
        </p:txBody>
      </p:sp>
      <p:sp>
        <p:nvSpPr>
          <p:cNvPr id="5" name="Text 3"/>
          <p:cNvSpPr/>
          <p:nvPr/>
        </p:nvSpPr>
        <p:spPr>
          <a:xfrm>
            <a:off x="9628632" y="310896"/>
            <a:ext cx="1024128" cy="210312"/>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available</a:t>
            </a:r>
            <a:endParaRPr lang="en-US" sz="650" dirty="0"/>
          </a:p>
        </p:txBody>
      </p:sp>
      <p:sp>
        <p:nvSpPr>
          <p:cNvPr id="6" name="Text 4"/>
          <p:cNvSpPr/>
          <p:nvPr/>
        </p:nvSpPr>
        <p:spPr>
          <a:xfrm>
            <a:off x="10707624" y="310896"/>
            <a:ext cx="1024128" cy="210312"/>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in progress</a:t>
            </a:r>
            <a:endParaRPr lang="en-US" sz="650" dirty="0"/>
          </a:p>
        </p:txBody>
      </p:sp>
      <p:sp>
        <p:nvSpPr>
          <p:cNvPr id="7" name="Text 5"/>
          <p:cNvSpPr/>
          <p:nvPr/>
        </p:nvSpPr>
        <p:spPr>
          <a:xfrm>
            <a:off x="8549640" y="576072"/>
            <a:ext cx="1024128" cy="210312"/>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8" name="Text 6"/>
          <p:cNvSpPr/>
          <p:nvPr/>
        </p:nvSpPr>
        <p:spPr>
          <a:xfrm>
            <a:off x="9628632" y="576072"/>
            <a:ext cx="1024128" cy="210312"/>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9" name="Text 7"/>
          <p:cNvSpPr/>
          <p:nvPr/>
        </p:nvSpPr>
        <p:spPr>
          <a:xfrm>
            <a:off x="45720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1 · Requirements</a:t>
            </a:r>
            <a:endParaRPr lang="en-US" sz="900" dirty="0"/>
          </a:p>
        </p:txBody>
      </p:sp>
      <p:sp>
        <p:nvSpPr>
          <p:cNvPr id="10" name="Text 8"/>
          <p:cNvSpPr/>
          <p:nvPr/>
        </p:nvSpPr>
        <p:spPr>
          <a:xfrm>
            <a:off x="2048256"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2 · Plan</a:t>
            </a:r>
            <a:endParaRPr lang="en-US" sz="900" dirty="0"/>
          </a:p>
        </p:txBody>
      </p:sp>
      <p:sp>
        <p:nvSpPr>
          <p:cNvPr id="11" name="Text 9"/>
          <p:cNvSpPr/>
          <p:nvPr/>
        </p:nvSpPr>
        <p:spPr>
          <a:xfrm>
            <a:off x="3639312"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3 · Design</a:t>
            </a:r>
            <a:endParaRPr lang="en-US" sz="900" dirty="0"/>
          </a:p>
        </p:txBody>
      </p:sp>
      <p:sp>
        <p:nvSpPr>
          <p:cNvPr id="12" name="Text 10"/>
          <p:cNvSpPr/>
          <p:nvPr/>
        </p:nvSpPr>
        <p:spPr>
          <a:xfrm>
            <a:off x="5230368" y="1298448"/>
            <a:ext cx="1481328" cy="310896"/>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4 · Implement</a:t>
            </a:r>
            <a:endParaRPr lang="en-US" sz="900" dirty="0"/>
          </a:p>
        </p:txBody>
      </p:sp>
      <p:sp>
        <p:nvSpPr>
          <p:cNvPr id="13" name="Text 11"/>
          <p:cNvSpPr/>
          <p:nvPr/>
        </p:nvSpPr>
        <p:spPr>
          <a:xfrm>
            <a:off x="6821424"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5 · Test</a:t>
            </a:r>
            <a:endParaRPr lang="en-US" sz="900" dirty="0"/>
          </a:p>
        </p:txBody>
      </p:sp>
      <p:sp>
        <p:nvSpPr>
          <p:cNvPr id="14" name="Text 12"/>
          <p:cNvSpPr/>
          <p:nvPr/>
        </p:nvSpPr>
        <p:spPr>
          <a:xfrm>
            <a:off x="841248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6 · Deploy</a:t>
            </a:r>
            <a:endParaRPr lang="en-US" sz="900" dirty="0"/>
          </a:p>
        </p:txBody>
      </p:sp>
      <p:sp>
        <p:nvSpPr>
          <p:cNvPr id="15" name="Text 13"/>
          <p:cNvSpPr/>
          <p:nvPr/>
        </p:nvSpPr>
        <p:spPr>
          <a:xfrm>
            <a:off x="10003536"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7 · Operate &amp; assess</a:t>
            </a:r>
            <a:endParaRPr lang="en-US" sz="900" dirty="0"/>
          </a:p>
        </p:txBody>
      </p:sp>
      <p:sp>
        <p:nvSpPr>
          <p:cNvPr id="16" name="Shape 14"/>
          <p:cNvSpPr/>
          <p:nvPr/>
        </p:nvSpPr>
        <p:spPr>
          <a:xfrm>
            <a:off x="457200" y="1783080"/>
            <a:ext cx="7818120" cy="1554480"/>
          </a:xfrm>
          <a:prstGeom prst="roundRect">
            <a:avLst>
              <a:gd name="adj" fmla="val 4706"/>
            </a:avLst>
          </a:prstGeom>
          <a:solidFill>
            <a:srgbClr val="EAF5EE"/>
          </a:solidFill>
          <a:ln w="12700">
            <a:solidFill>
              <a:srgbClr val="EAF5EE"/>
            </a:solidFill>
            <a:prstDash val="solid"/>
          </a:ln>
        </p:spPr>
      </p:sp>
      <p:sp>
        <p:nvSpPr>
          <p:cNvPr id="17" name="Text 15"/>
          <p:cNvSpPr/>
          <p:nvPr/>
        </p:nvSpPr>
        <p:spPr>
          <a:xfrm>
            <a:off x="594360" y="1856232"/>
            <a:ext cx="36576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What happens on this step</a:t>
            </a:r>
            <a:endParaRPr lang="en-US" sz="950" dirty="0"/>
          </a:p>
        </p:txBody>
      </p:sp>
      <p:sp>
        <p:nvSpPr>
          <p:cNvPr id="18" name="Shape 16"/>
          <p:cNvSpPr/>
          <p:nvPr/>
        </p:nvSpPr>
        <p:spPr>
          <a:xfrm>
            <a:off x="594360" y="2194560"/>
            <a:ext cx="1371600" cy="896112"/>
          </a:xfrm>
          <a:prstGeom prst="roundRect">
            <a:avLst>
              <a:gd name="adj" fmla="val 6122"/>
            </a:avLst>
          </a:prstGeom>
          <a:solidFill>
            <a:srgbClr val="FFFFFF"/>
          </a:solidFill>
          <a:ln w="12700">
            <a:solidFill>
              <a:srgbClr val="CFE9DA"/>
            </a:solidFill>
            <a:prstDash val="solid"/>
          </a:ln>
        </p:spPr>
      </p:sp>
      <p:sp>
        <p:nvSpPr>
          <p:cNvPr id="19" name="Text 17"/>
          <p:cNvSpPr/>
          <p:nvPr/>
        </p:nvSpPr>
        <p:spPr>
          <a:xfrm>
            <a:off x="6400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before_implement: A0 pin check</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 context loader (standards)</a:t>
            </a:r>
            <a:endParaRPr lang="en-US" sz="750" dirty="0"/>
          </a:p>
        </p:txBody>
      </p:sp>
      <p:sp>
        <p:nvSpPr>
          <p:cNvPr id="20" name="Shape 18"/>
          <p:cNvSpPr/>
          <p:nvPr/>
        </p:nvSpPr>
        <p:spPr>
          <a:xfrm>
            <a:off x="1993392" y="2642616"/>
            <a:ext cx="116586" cy="0"/>
          </a:xfrm>
          <a:prstGeom prst="line">
            <a:avLst/>
          </a:prstGeom>
          <a:noFill/>
          <a:ln w="15875">
            <a:solidFill>
              <a:srgbClr val="0E6B45"/>
            </a:solidFill>
            <a:prstDash val="solid"/>
            <a:tailEnd type="triangle"/>
          </a:ln>
        </p:spPr>
      </p:sp>
      <p:sp>
        <p:nvSpPr>
          <p:cNvPr id="21" name="Shape 19"/>
          <p:cNvSpPr/>
          <p:nvPr/>
        </p:nvSpPr>
        <p:spPr>
          <a:xfrm>
            <a:off x="2137410" y="2194560"/>
            <a:ext cx="1371600" cy="896112"/>
          </a:xfrm>
          <a:prstGeom prst="roundRect">
            <a:avLst>
              <a:gd name="adj" fmla="val 6122"/>
            </a:avLst>
          </a:prstGeom>
          <a:solidFill>
            <a:srgbClr val="FFFFFF"/>
          </a:solidFill>
          <a:ln w="12700">
            <a:solidFill>
              <a:srgbClr val="CFE9DA"/>
            </a:solidFill>
            <a:prstDash val="solid"/>
          </a:ln>
        </p:spPr>
      </p:sp>
      <p:sp>
        <p:nvSpPr>
          <p:cNvPr id="22" name="Text 20"/>
          <p:cNvSpPr/>
          <p:nvPr/>
        </p:nvSpPr>
        <p:spPr>
          <a:xfrm>
            <a:off x="21831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/speckit.implement ✓ native</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checklist STOP-gate reads</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checklists/architecture.md</a:t>
            </a:r>
            <a:endParaRPr lang="en-US" sz="750" dirty="0"/>
          </a:p>
        </p:txBody>
      </p:sp>
      <p:sp>
        <p:nvSpPr>
          <p:cNvPr id="23" name="Shape 21"/>
          <p:cNvSpPr/>
          <p:nvPr/>
        </p:nvSpPr>
        <p:spPr>
          <a:xfrm>
            <a:off x="3536442" y="2642616"/>
            <a:ext cx="116586" cy="0"/>
          </a:xfrm>
          <a:prstGeom prst="line">
            <a:avLst/>
          </a:prstGeom>
          <a:noFill/>
          <a:ln w="15875">
            <a:solidFill>
              <a:srgbClr val="0E6B45"/>
            </a:solidFill>
            <a:prstDash val="solid"/>
            <a:tailEnd type="triangle"/>
          </a:ln>
        </p:spPr>
      </p:sp>
      <p:sp>
        <p:nvSpPr>
          <p:cNvPr id="24" name="Shape 22"/>
          <p:cNvSpPr/>
          <p:nvPr/>
        </p:nvSpPr>
        <p:spPr>
          <a:xfrm>
            <a:off x="3680460" y="2194560"/>
            <a:ext cx="1371600" cy="896112"/>
          </a:xfrm>
          <a:prstGeom prst="roundRect">
            <a:avLst>
              <a:gd name="adj" fmla="val 6122"/>
            </a:avLst>
          </a:prstGeom>
          <a:solidFill>
            <a:srgbClr val="FFFFFF"/>
          </a:solidFill>
          <a:ln w="12700">
            <a:solidFill>
              <a:srgbClr val="CFE9DA"/>
            </a:solidFill>
            <a:prstDash val="solid"/>
          </a:ln>
        </p:spPr>
      </p:sp>
      <p:sp>
        <p:nvSpPr>
          <p:cNvPr id="25" name="Text 23"/>
          <p:cNvSpPr/>
          <p:nvPr/>
        </p:nvSpPr>
        <p:spPr>
          <a:xfrm>
            <a:off x="37261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tasks executed tests-first ✓</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incl. architecture fitness</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test tasks</a:t>
            </a:r>
            <a:endParaRPr lang="en-US" sz="750" dirty="0"/>
          </a:p>
        </p:txBody>
      </p:sp>
      <p:sp>
        <p:nvSpPr>
          <p:cNvPr id="26" name="Shape 24"/>
          <p:cNvSpPr/>
          <p:nvPr/>
        </p:nvSpPr>
        <p:spPr>
          <a:xfrm>
            <a:off x="5079492" y="2642616"/>
            <a:ext cx="116586" cy="0"/>
          </a:xfrm>
          <a:prstGeom prst="line">
            <a:avLst/>
          </a:prstGeom>
          <a:noFill/>
          <a:ln w="15875">
            <a:solidFill>
              <a:srgbClr val="0E6B45"/>
            </a:solidFill>
            <a:prstDash val="solid"/>
            <a:tailEnd type="triangle"/>
          </a:ln>
        </p:spPr>
      </p:sp>
      <p:sp>
        <p:nvSpPr>
          <p:cNvPr id="27" name="Shape 25"/>
          <p:cNvSpPr/>
          <p:nvPr/>
        </p:nvSpPr>
        <p:spPr>
          <a:xfrm>
            <a:off x="5223510" y="2194560"/>
            <a:ext cx="1371600" cy="896112"/>
          </a:xfrm>
          <a:prstGeom prst="roundRect">
            <a:avLst>
              <a:gd name="adj" fmla="val 6122"/>
            </a:avLst>
          </a:prstGeom>
          <a:solidFill>
            <a:srgbClr val="FFFFFF"/>
          </a:solidFill>
          <a:ln w="12700">
            <a:solidFill>
              <a:srgbClr val="CFE9DA"/>
            </a:solidFill>
            <a:prstDash val="solid"/>
          </a:ln>
        </p:spPr>
      </p:sp>
      <p:sp>
        <p:nvSpPr>
          <p:cNvPr id="28" name="Text 26"/>
          <p:cNvSpPr/>
          <p:nvPr/>
        </p:nvSpPr>
        <p:spPr>
          <a:xfrm>
            <a:off x="52692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after_implement: A4 fitness</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runner · /speckit.converge ✓</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appends unbuilt work</a:t>
            </a:r>
            <a:endParaRPr lang="en-US" sz="750" dirty="0"/>
          </a:p>
        </p:txBody>
      </p:sp>
      <p:sp>
        <p:nvSpPr>
          <p:cNvPr id="29" name="Shape 27"/>
          <p:cNvSpPr/>
          <p:nvPr/>
        </p:nvSpPr>
        <p:spPr>
          <a:xfrm>
            <a:off x="6622542" y="2642616"/>
            <a:ext cx="116586" cy="0"/>
          </a:xfrm>
          <a:prstGeom prst="line">
            <a:avLst/>
          </a:prstGeom>
          <a:noFill/>
          <a:ln w="15875">
            <a:solidFill>
              <a:srgbClr val="0E6B45"/>
            </a:solidFill>
            <a:prstDash val="solid"/>
            <a:tailEnd type="triangle"/>
          </a:ln>
        </p:spPr>
      </p:sp>
      <p:sp>
        <p:nvSpPr>
          <p:cNvPr id="30" name="Shape 28"/>
          <p:cNvSpPr/>
          <p:nvPr/>
        </p:nvSpPr>
        <p:spPr>
          <a:xfrm>
            <a:off x="6766560" y="2194560"/>
            <a:ext cx="1371600" cy="896112"/>
          </a:xfrm>
          <a:prstGeom prst="roundRect">
            <a:avLst>
              <a:gd name="adj" fmla="val 6122"/>
            </a:avLst>
          </a:prstGeom>
          <a:solidFill>
            <a:srgbClr val="0E6B45"/>
          </a:solidFill>
          <a:ln w="12700">
            <a:solidFill>
              <a:srgbClr val="0E6B45"/>
            </a:solidFill>
            <a:prstDash val="solid"/>
          </a:ln>
        </p:spPr>
      </p:sp>
      <p:sp>
        <p:nvSpPr>
          <p:cNvPr id="31" name="Text 29"/>
          <p:cNvSpPr/>
          <p:nvPr/>
        </p:nvSpPr>
        <p:spPr>
          <a:xfrm>
            <a:off x="6812280" y="2240280"/>
            <a:ext cx="1280160" cy="80467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PR (IDs on commits)</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tech lead approval → 5</a:t>
            </a:r>
            <a:endParaRPr lang="en-US" sz="750" dirty="0"/>
          </a:p>
        </p:txBody>
      </p:sp>
      <p:sp>
        <p:nvSpPr>
          <p:cNvPr id="32" name="Text 30"/>
          <p:cNvSpPr/>
          <p:nvPr/>
        </p:nvSpPr>
        <p:spPr>
          <a:xfrm>
            <a:off x="457200" y="3483864"/>
            <a:ext cx="45720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Agents &amp; tools on this step</a:t>
            </a:r>
            <a:endParaRPr lang="en-US" sz="950" dirty="0"/>
          </a:p>
        </p:txBody>
      </p:sp>
      <p:sp>
        <p:nvSpPr>
          <p:cNvPr id="33" name="Shape 31"/>
          <p:cNvSpPr/>
          <p:nvPr/>
        </p:nvSpPr>
        <p:spPr>
          <a:xfrm>
            <a:off x="457200" y="3758184"/>
            <a:ext cx="3771900" cy="1225296"/>
          </a:xfrm>
          <a:prstGeom prst="roundRect">
            <a:avLst>
              <a:gd name="adj" fmla="val 4478"/>
            </a:avLst>
          </a:prstGeom>
          <a:solidFill>
            <a:srgbClr val="FFFFFF"/>
          </a:solidFill>
          <a:ln w="9525">
            <a:solidFill>
              <a:srgbClr val="E9ECEA"/>
            </a:solidFill>
            <a:prstDash val="solid"/>
          </a:ln>
        </p:spPr>
      </p:sp>
      <p:sp>
        <p:nvSpPr>
          <p:cNvPr id="34" name="Text 32"/>
          <p:cNvSpPr/>
          <p:nvPr/>
        </p:nvSpPr>
        <p:spPr>
          <a:xfrm>
            <a:off x="2811780" y="3840480"/>
            <a:ext cx="1325880" cy="182880"/>
          </a:xfrm>
          <a:prstGeom prst="roundRect">
            <a:avLst>
              <a:gd name="adj" fmla="val 50000"/>
            </a:avLst>
          </a:prstGeom>
          <a:solidFill>
            <a:srgbClr val="6FBF95"/>
          </a:solidFill>
          <a:ln>
            <a:solidFill>
              <a:srgbClr val="6FBF95"/>
            </a:solidFill>
          </a:ln>
        </p:spPr>
        <p:txBody>
          <a:bodyPr wrap="square" lIns="0" tIns="0" rIns="0" bIns="0" rtlCol="0" anchor="ctr"/>
          <a:lstStyle/>
          <a:p>
            <a:pPr algn="ctr" indent="0" marL="0">
              <a:buNone/>
            </a:pPr>
            <a:r>
              <a:rPr lang="en-US" sz="650" b="1" dirty="0">
                <a:solidFill>
                  <a:srgbClr val="0B3F2C"/>
                </a:solidFill>
                <a:latin typeface="Arial" pitchFamily="34" charset="0"/>
                <a:ea typeface="Arial" pitchFamily="34" charset="-122"/>
                <a:cs typeface="Arial" pitchFamily="34" charset="-120"/>
              </a:rPr>
              <a:t>Spec Kit native — available today</a:t>
            </a:r>
            <a:endParaRPr lang="en-US" sz="650" dirty="0"/>
          </a:p>
        </p:txBody>
      </p:sp>
      <p:sp>
        <p:nvSpPr>
          <p:cNvPr id="35" name="Text 33"/>
          <p:cNvSpPr/>
          <p:nvPr/>
        </p:nvSpPr>
        <p:spPr>
          <a:xfrm>
            <a:off x="566928" y="3831336"/>
            <a:ext cx="217170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Native Spec Kit agents — all here today</a:t>
            </a:r>
            <a:endParaRPr lang="en-US" sz="900" dirty="0"/>
          </a:p>
        </p:txBody>
      </p:sp>
      <p:sp>
        <p:nvSpPr>
          <p:cNvPr id="36" name="Text 34"/>
          <p:cNvSpPr/>
          <p:nvPr/>
        </p:nvSpPr>
        <p:spPr>
          <a:xfrm>
            <a:off x="56692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/speckit.tasks: dependency-ordered tasks.md by story ([P] parallel) · /speckit.taskstoissues: GitHub issues · /speckit.analyze: read-only cross-artifact report (constitution conflicts CRITICAL) · /speckit.implement: scans every file in checklists/ and STOPs on unchecked items, runs test tasks first, halts on failure · /speckit.converge: appends unbuilt work · git ext: branch + auto-commit hooks. All verified in the repo — nothing to build.</a:t>
            </a:r>
            <a:endParaRPr lang="en-US" sz="750" dirty="0"/>
          </a:p>
        </p:txBody>
      </p:sp>
      <p:sp>
        <p:nvSpPr>
          <p:cNvPr id="37" name="Shape 35"/>
          <p:cNvSpPr/>
          <p:nvPr/>
        </p:nvSpPr>
        <p:spPr>
          <a:xfrm>
            <a:off x="4503420" y="3758184"/>
            <a:ext cx="3771900" cy="1225296"/>
          </a:xfrm>
          <a:prstGeom prst="roundRect">
            <a:avLst>
              <a:gd name="adj" fmla="val 4478"/>
            </a:avLst>
          </a:prstGeom>
          <a:solidFill>
            <a:srgbClr val="FFFFFF"/>
          </a:solidFill>
          <a:ln w="9525">
            <a:solidFill>
              <a:srgbClr val="E9ECEA"/>
            </a:solidFill>
            <a:prstDash val="solid"/>
          </a:ln>
        </p:spPr>
      </p:sp>
      <p:sp>
        <p:nvSpPr>
          <p:cNvPr id="38" name="Text 36"/>
          <p:cNvSpPr/>
          <p:nvPr/>
        </p:nvSpPr>
        <p:spPr>
          <a:xfrm>
            <a:off x="7013448" y="3840480"/>
            <a:ext cx="1170432"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39" name="Text 37"/>
          <p:cNvSpPr/>
          <p:nvPr/>
        </p:nvSpPr>
        <p:spPr>
          <a:xfrm>
            <a:off x="4613148" y="3831336"/>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verify · verify-tasks · staff-review · worktrees · architecture-guard · blueprint-index</a:t>
            </a:r>
            <a:endParaRPr lang="en-US" sz="900" dirty="0"/>
          </a:p>
        </p:txBody>
      </p:sp>
      <p:sp>
        <p:nvSpPr>
          <p:cNvPr id="40" name="Text 38"/>
          <p:cNvSpPr/>
          <p:nvPr/>
        </p:nvSpPr>
        <p:spPr>
          <a:xfrm>
            <a:off x="461314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Code vs spec artifacts; phantom-completion detection; spec-aware review; worktree isolation for parallel agents; architectural drift detection with refactor tasks; living architecture map with a deterministic CI gate — patterns for A4.</a:t>
            </a:r>
            <a:endParaRPr lang="en-US" sz="750" dirty="0"/>
          </a:p>
        </p:txBody>
      </p:sp>
      <p:sp>
        <p:nvSpPr>
          <p:cNvPr id="41" name="Shape 39"/>
          <p:cNvSpPr/>
          <p:nvPr/>
        </p:nvSpPr>
        <p:spPr>
          <a:xfrm>
            <a:off x="457200" y="5093208"/>
            <a:ext cx="3771900" cy="1225296"/>
          </a:xfrm>
          <a:prstGeom prst="roundRect">
            <a:avLst>
              <a:gd name="adj" fmla="val 4478"/>
            </a:avLst>
          </a:prstGeom>
          <a:solidFill>
            <a:srgbClr val="FFFFFF"/>
          </a:solidFill>
          <a:ln w="9525">
            <a:solidFill>
              <a:srgbClr val="E9ECEA"/>
            </a:solidFill>
            <a:prstDash val="solid"/>
          </a:ln>
        </p:spPr>
      </p:sp>
      <p:sp>
        <p:nvSpPr>
          <p:cNvPr id="42" name="Text 40"/>
          <p:cNvSpPr/>
          <p:nvPr/>
        </p:nvSpPr>
        <p:spPr>
          <a:xfrm>
            <a:off x="2967228" y="5175504"/>
            <a:ext cx="1170432"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43" name="Text 41"/>
          <p:cNvSpPr/>
          <p:nvPr/>
        </p:nvSpPr>
        <p:spPr>
          <a:xfrm>
            <a:off x="56692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A4 · Fitness-function runner + architecture checklist</a:t>
            </a:r>
            <a:endParaRPr lang="en-US" sz="900" dirty="0"/>
          </a:p>
        </p:txBody>
      </p:sp>
      <p:sp>
        <p:nvSpPr>
          <p:cNvPr id="44" name="Text 42"/>
          <p:cNvSpPr/>
          <p:nvPr/>
        </p:nvSpPr>
        <p:spPr>
          <a:xfrm>
            <a:off x="56692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speckit.arch.fitness: dependency direction, forbidden imports, boundary crossings against the context map, layering, coupling thresholds — on the code graph, JSON verdict; runs as after_implement hook, in the 4 ⇄ 5 workflow loop and as a CI check (A5 / A6). checklists/architecture.md is written by the A3 conformance script, so implement’s own native gate stops on unmet design-time items.</a:t>
            </a:r>
            <a:endParaRPr lang="en-US" sz="750" dirty="0"/>
          </a:p>
        </p:txBody>
      </p:sp>
      <p:sp>
        <p:nvSpPr>
          <p:cNvPr id="45" name="Shape 43"/>
          <p:cNvSpPr/>
          <p:nvPr/>
        </p:nvSpPr>
        <p:spPr>
          <a:xfrm>
            <a:off x="4503420" y="5093208"/>
            <a:ext cx="3771900" cy="1225296"/>
          </a:xfrm>
          <a:prstGeom prst="roundRect">
            <a:avLst>
              <a:gd name="adj" fmla="val 4478"/>
            </a:avLst>
          </a:prstGeom>
          <a:solidFill>
            <a:srgbClr val="FFFFFF"/>
          </a:solidFill>
          <a:ln w="9525">
            <a:solidFill>
              <a:srgbClr val="E9ECEA"/>
            </a:solidFill>
            <a:prstDash val="solid"/>
          </a:ln>
        </p:spPr>
      </p:sp>
      <p:sp>
        <p:nvSpPr>
          <p:cNvPr id="46" name="Text 44"/>
          <p:cNvSpPr/>
          <p:nvPr/>
        </p:nvSpPr>
        <p:spPr>
          <a:xfrm>
            <a:off x="7013448" y="5175504"/>
            <a:ext cx="1170432"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47" name="Text 45"/>
          <p:cNvSpPr/>
          <p:nvPr/>
        </p:nvSpPr>
        <p:spPr>
          <a:xfrm>
            <a:off x="461314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Agent audit ledger + permission policy</a:t>
            </a:r>
            <a:endParaRPr lang="en-US" sz="900" dirty="0"/>
          </a:p>
        </p:txBody>
      </p:sp>
      <p:sp>
        <p:nvSpPr>
          <p:cNvPr id="48" name="Text 46"/>
          <p:cNvSpPr/>
          <p:nvPr/>
        </p:nvSpPr>
        <p:spPr>
          <a:xfrm>
            <a:off x="461314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Who (which agent, under which task) changed what; permissions bounded per task; every commit carries task and requirement IDs.</a:t>
            </a:r>
            <a:endParaRPr lang="en-US" sz="750" dirty="0"/>
          </a:p>
        </p:txBody>
      </p:sp>
      <p:sp>
        <p:nvSpPr>
          <p:cNvPr id="49" name="Shape 47"/>
          <p:cNvSpPr/>
          <p:nvPr/>
        </p:nvSpPr>
        <p:spPr>
          <a:xfrm>
            <a:off x="8503920" y="1783080"/>
            <a:ext cx="3246120" cy="4617720"/>
          </a:xfrm>
          <a:prstGeom prst="roundRect">
            <a:avLst>
              <a:gd name="adj" fmla="val 2254"/>
            </a:avLst>
          </a:prstGeom>
          <a:solidFill>
            <a:srgbClr val="EAF5EE"/>
          </a:solidFill>
          <a:ln w="12700">
            <a:solidFill>
              <a:srgbClr val="EAF5EE"/>
            </a:solidFill>
            <a:prstDash val="solid"/>
          </a:ln>
        </p:spPr>
      </p:sp>
      <p:sp>
        <p:nvSpPr>
          <p:cNvPr id="50" name="Text 48"/>
          <p:cNvSpPr/>
          <p:nvPr/>
        </p:nvSpPr>
        <p:spPr>
          <a:xfrm>
            <a:off x="8613648" y="1892808"/>
            <a:ext cx="3026664" cy="566928"/>
          </a:xfrm>
          <a:prstGeom prst="roundRect">
            <a:avLst>
              <a:gd name="adj" fmla="val 9677"/>
            </a:avLst>
          </a:prstGeom>
          <a:solidFill>
            <a:srgbClr val="3E4F48"/>
          </a:solidFill>
          <a:ln>
            <a:solidFill>
              <a:srgbClr val="3E4F48"/>
            </a:solidFill>
          </a:ln>
        </p:spPr>
        <p:txBody>
          <a:bodyPr wrap="square" lIns="25400" tIns="76200" rIns="76200" bIns="25400" rtlCol="0" anchor="ctr"/>
          <a:lstStyle/>
          <a:p>
            <a:pPr algn="ctr" indent="0" marL="0">
              <a:buNone/>
            </a:pPr>
            <a:r>
              <a:rPr lang="en-US" sz="750" b="1" dirty="0">
                <a:solidFill>
                  <a:srgbClr val="CFE9DA"/>
                </a:solidFill>
                <a:latin typeface="Arial" pitchFamily="34" charset="0"/>
                <a:ea typeface="Arial" pitchFamily="34" charset="-122"/>
                <a:cs typeface="Arial" pitchFamily="34" charset="-120"/>
              </a:rPr>
              <a:t>HUMAN DECISION AT THE BOUNDARY</a:t>
            </a:r>
            <a:endParaRPr lang="en-US" sz="750" dirty="0"/>
          </a:p>
          <a:p>
            <a:pPr algn="ctr" indent="0" marL="0">
              <a:buNone/>
            </a:pPr>
            <a:r>
              <a:rPr lang="en-US" sz="1050" b="1" dirty="0">
                <a:solidFill>
                  <a:srgbClr val="FFFFFF"/>
                </a:solidFill>
                <a:latin typeface="Arial" pitchFamily="34" charset="0"/>
                <a:ea typeface="Arial" pitchFamily="34" charset="-122"/>
                <a:cs typeface="Arial" pitchFamily="34" charset="-120"/>
              </a:rPr>
              <a:t>PR approval</a:t>
            </a:r>
            <a:endParaRPr lang="en-US" sz="750" dirty="0"/>
          </a:p>
        </p:txBody>
      </p:sp>
      <p:sp>
        <p:nvSpPr>
          <p:cNvPr id="51" name="Text 49"/>
          <p:cNvSpPr/>
          <p:nvPr/>
        </p:nvSpPr>
        <p:spPr>
          <a:xfrm>
            <a:off x="8641080" y="2532888"/>
            <a:ext cx="2971800" cy="384048"/>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By: </a:t>
            </a:r>
            <a:pPr indent="0" marL="0">
              <a:buNone/>
            </a:pPr>
            <a:r>
              <a:rPr lang="en-US" sz="800" dirty="0">
                <a:solidFill>
                  <a:srgbClr val="1B2A24"/>
                </a:solidFill>
                <a:latin typeface="Arial" pitchFamily="34" charset="0"/>
                <a:ea typeface="Arial" pitchFamily="34" charset="-122"/>
                <a:cs typeface="Arial" pitchFamily="34" charset="-120"/>
              </a:rPr>
              <a:t>tech lead, with fitness results, review and security scan attached</a:t>
            </a:r>
            <a:endParaRPr lang="en-US" sz="800" dirty="0"/>
          </a:p>
        </p:txBody>
      </p:sp>
      <p:sp>
        <p:nvSpPr>
          <p:cNvPr id="52" name="Text 50"/>
          <p:cNvSpPr/>
          <p:nvPr/>
        </p:nvSpPr>
        <p:spPr>
          <a:xfrm>
            <a:off x="8641080" y="2953512"/>
            <a:ext cx="2971800" cy="182880"/>
          </a:xfrm>
          <a:prstGeom prst="rect">
            <a:avLst/>
          </a:prstGeom>
          <a:noFill/>
          <a:ln/>
        </p:spPr>
        <p:txBody>
          <a:bodyPr wrap="square" lIns="0" tIns="0" rIns="0" bIns="0" rtlCol="0" anchor="t"/>
          <a:lstStyle/>
          <a:p>
            <a:pPr indent="0" marL="0">
              <a:buNone/>
            </a:pPr>
            <a:r>
              <a:rPr lang="en-US" sz="850" b="1" dirty="0">
                <a:solidFill>
                  <a:srgbClr val="0B3F2C"/>
                </a:solidFill>
                <a:latin typeface="Arial" pitchFamily="34" charset="0"/>
                <a:ea typeface="Arial" pitchFamily="34" charset="-122"/>
                <a:cs typeface="Arial" pitchFamily="34" charset="-120"/>
              </a:rPr>
              <a:t>Guardrails inside the step (scripted checks)</a:t>
            </a:r>
            <a:endParaRPr lang="en-US" sz="850" dirty="0"/>
          </a:p>
        </p:txBody>
      </p:sp>
      <p:sp>
        <p:nvSpPr>
          <p:cNvPr id="53" name="Text 51"/>
          <p:cNvSpPr/>
          <p:nvPr/>
        </p:nvSpPr>
        <p:spPr>
          <a:xfrm>
            <a:off x="8641080" y="3154680"/>
            <a:ext cx="2971800" cy="1143000"/>
          </a:xfrm>
          <a:prstGeom prst="rect">
            <a:avLst/>
          </a:prstGeom>
          <a:noFill/>
          <a:ln/>
        </p:spPr>
        <p:txBody>
          <a:bodyPr wrap="square" lIns="0" tIns="0" rIns="0" bIns="0" rtlCol="0" anchor="t"/>
          <a:lstStyle/>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native: analyze CRITICAL = 0 · every checklist in checklists/ PASS (STOP-gate)</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native: test tasks and fitness-test tasks executed first; halt on failure</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A4: fitness runner green (rulebook) — after_implement / after_converge</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native converge: no unbuilt work left; no phantom completions; commits carry IDs</a:t>
            </a:r>
            <a:endParaRPr lang="en-US" sz="800" dirty="0"/>
          </a:p>
        </p:txBody>
      </p:sp>
      <p:sp>
        <p:nvSpPr>
          <p:cNvPr id="54" name="Text 52"/>
          <p:cNvSpPr/>
          <p:nvPr/>
        </p:nvSpPr>
        <p:spPr>
          <a:xfrm>
            <a:off x="8641080" y="4297680"/>
            <a:ext cx="2971800" cy="219456"/>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A4 · fitness functions — in progress</a:t>
            </a:r>
            <a:endParaRPr lang="en-US" sz="750" dirty="0"/>
          </a:p>
        </p:txBody>
      </p:sp>
      <p:sp>
        <p:nvSpPr>
          <p:cNvPr id="55" name="Text 53"/>
          <p:cNvSpPr/>
          <p:nvPr/>
        </p:nvSpPr>
        <p:spPr>
          <a:xfrm>
            <a:off x="8613648" y="4599432"/>
            <a:ext cx="3026664" cy="274320"/>
          </a:xfrm>
          <a:prstGeom prst="roundRect">
            <a:avLst>
              <a:gd name="adj" fmla="val 20000"/>
            </a:avLst>
          </a:prstGeom>
          <a:solidFill>
            <a:srgbClr val="B23A32"/>
          </a:solidFill>
          <a:ln>
            <a:solidFill>
              <a:srgbClr val="B23A32"/>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MISSING → to build for the guardrails</a:t>
            </a:r>
            <a:endParaRPr lang="en-US" sz="850" dirty="0"/>
          </a:p>
        </p:txBody>
      </p:sp>
      <p:sp>
        <p:nvSpPr>
          <p:cNvPr id="56" name="Text 54"/>
          <p:cNvSpPr/>
          <p:nvPr/>
        </p:nvSpPr>
        <p:spPr>
          <a:xfrm>
            <a:off x="8641080" y="4946904"/>
            <a:ext cx="2971800" cy="1371600"/>
          </a:xfrm>
          <a:prstGeom prst="rect">
            <a:avLst/>
          </a:prstGeom>
          <a:noFill/>
          <a:ln/>
        </p:spPr>
        <p:txBody>
          <a:bodyPr wrap="square" lIns="0" tIns="0" rIns="0" bIns="0" rtlCol="0" anchor="t"/>
          <a:lstStyle/>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A4 fitness-function runner on the code graph — hook, workflow loop, CI</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Code-graph provider behind the seam (large / brownfield repos)</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Agent audit ledger + permission policy</a:t>
            </a:r>
            <a:endParaRPr lang="en-US" sz="800" dirty="0"/>
          </a:p>
        </p:txBody>
      </p:sp>
      <p:sp>
        <p:nvSpPr>
          <p:cNvPr id="57" name="Text 55"/>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7955280" cy="45720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Step 5 · Test</a:t>
            </a:r>
            <a:endParaRPr lang="en-US" sz="2400" dirty="0"/>
          </a:p>
        </p:txBody>
      </p:sp>
      <p:sp>
        <p:nvSpPr>
          <p:cNvPr id="3" name="Text 1"/>
          <p:cNvSpPr/>
          <p:nvPr/>
        </p:nvSpPr>
        <p:spPr>
          <a:xfrm>
            <a:off x="457200" y="749808"/>
            <a:ext cx="8412480" cy="502920"/>
          </a:xfrm>
          <a:prstGeom prst="rect">
            <a:avLst/>
          </a:prstGeom>
          <a:noFill/>
          <a:ln/>
        </p:spPr>
        <p:txBody>
          <a:bodyPr wrap="square" lIns="0" tIns="0" rIns="0" bIns="0" rtlCol="0" anchor="t"/>
          <a:lstStyle/>
          <a:p>
            <a:pPr indent="0" marL="0">
              <a:buNone/>
            </a:pPr>
            <a:r>
              <a:rPr lang="en-US" sz="1100" b="1" dirty="0">
                <a:solidFill>
                  <a:srgbClr val="0E6B45"/>
                </a:solidFill>
                <a:latin typeface="Arial" pitchFamily="34" charset="0"/>
                <a:ea typeface="Arial" pitchFamily="34" charset="-122"/>
                <a:cs typeface="Arial" pitchFamily="34" charset="-120"/>
              </a:rPr>
              <a:t>Not a Spec Kit step: the suite runs deterministically — unit, acceptance and architecture fitness tests — and a red verdict sends the work back to implement. Spec Kit only orchestrates the loop; the runner and CI are yours.</a:t>
            </a:r>
            <a:endParaRPr lang="en-US" sz="1100" dirty="0"/>
          </a:p>
        </p:txBody>
      </p:sp>
      <p:sp>
        <p:nvSpPr>
          <p:cNvPr id="4" name="Text 2"/>
          <p:cNvSpPr/>
          <p:nvPr/>
        </p:nvSpPr>
        <p:spPr>
          <a:xfrm>
            <a:off x="8549640" y="310896"/>
            <a:ext cx="1024128" cy="210312"/>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native</a:t>
            </a:r>
            <a:endParaRPr lang="en-US" sz="650" dirty="0"/>
          </a:p>
        </p:txBody>
      </p:sp>
      <p:sp>
        <p:nvSpPr>
          <p:cNvPr id="5" name="Text 3"/>
          <p:cNvSpPr/>
          <p:nvPr/>
        </p:nvSpPr>
        <p:spPr>
          <a:xfrm>
            <a:off x="9628632" y="310896"/>
            <a:ext cx="1024128" cy="210312"/>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available</a:t>
            </a:r>
            <a:endParaRPr lang="en-US" sz="650" dirty="0"/>
          </a:p>
        </p:txBody>
      </p:sp>
      <p:sp>
        <p:nvSpPr>
          <p:cNvPr id="6" name="Text 4"/>
          <p:cNvSpPr/>
          <p:nvPr/>
        </p:nvSpPr>
        <p:spPr>
          <a:xfrm>
            <a:off x="10707624" y="310896"/>
            <a:ext cx="1024128" cy="210312"/>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in progress</a:t>
            </a:r>
            <a:endParaRPr lang="en-US" sz="650" dirty="0"/>
          </a:p>
        </p:txBody>
      </p:sp>
      <p:sp>
        <p:nvSpPr>
          <p:cNvPr id="7" name="Text 5"/>
          <p:cNvSpPr/>
          <p:nvPr/>
        </p:nvSpPr>
        <p:spPr>
          <a:xfrm>
            <a:off x="8549640" y="576072"/>
            <a:ext cx="1024128" cy="210312"/>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8" name="Text 6"/>
          <p:cNvSpPr/>
          <p:nvPr/>
        </p:nvSpPr>
        <p:spPr>
          <a:xfrm>
            <a:off x="9628632" y="576072"/>
            <a:ext cx="1024128" cy="210312"/>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9" name="Text 7"/>
          <p:cNvSpPr/>
          <p:nvPr/>
        </p:nvSpPr>
        <p:spPr>
          <a:xfrm>
            <a:off x="45720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1 · Requirements</a:t>
            </a:r>
            <a:endParaRPr lang="en-US" sz="900" dirty="0"/>
          </a:p>
        </p:txBody>
      </p:sp>
      <p:sp>
        <p:nvSpPr>
          <p:cNvPr id="10" name="Text 8"/>
          <p:cNvSpPr/>
          <p:nvPr/>
        </p:nvSpPr>
        <p:spPr>
          <a:xfrm>
            <a:off x="2048256"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2 · Plan</a:t>
            </a:r>
            <a:endParaRPr lang="en-US" sz="900" dirty="0"/>
          </a:p>
        </p:txBody>
      </p:sp>
      <p:sp>
        <p:nvSpPr>
          <p:cNvPr id="11" name="Text 9"/>
          <p:cNvSpPr/>
          <p:nvPr/>
        </p:nvSpPr>
        <p:spPr>
          <a:xfrm>
            <a:off x="3639312"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3 · Design</a:t>
            </a:r>
            <a:endParaRPr lang="en-US" sz="900" dirty="0"/>
          </a:p>
        </p:txBody>
      </p:sp>
      <p:sp>
        <p:nvSpPr>
          <p:cNvPr id="12" name="Text 10"/>
          <p:cNvSpPr/>
          <p:nvPr/>
        </p:nvSpPr>
        <p:spPr>
          <a:xfrm>
            <a:off x="5230368"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4 · Implement</a:t>
            </a:r>
            <a:endParaRPr lang="en-US" sz="900" dirty="0"/>
          </a:p>
        </p:txBody>
      </p:sp>
      <p:sp>
        <p:nvSpPr>
          <p:cNvPr id="13" name="Text 11"/>
          <p:cNvSpPr/>
          <p:nvPr/>
        </p:nvSpPr>
        <p:spPr>
          <a:xfrm>
            <a:off x="6821424" y="1298448"/>
            <a:ext cx="1481328" cy="310896"/>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5 · Test</a:t>
            </a:r>
            <a:endParaRPr lang="en-US" sz="900" dirty="0"/>
          </a:p>
        </p:txBody>
      </p:sp>
      <p:sp>
        <p:nvSpPr>
          <p:cNvPr id="14" name="Text 12"/>
          <p:cNvSpPr/>
          <p:nvPr/>
        </p:nvSpPr>
        <p:spPr>
          <a:xfrm>
            <a:off x="841248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6 · Deploy</a:t>
            </a:r>
            <a:endParaRPr lang="en-US" sz="900" dirty="0"/>
          </a:p>
        </p:txBody>
      </p:sp>
      <p:sp>
        <p:nvSpPr>
          <p:cNvPr id="15" name="Text 13"/>
          <p:cNvSpPr/>
          <p:nvPr/>
        </p:nvSpPr>
        <p:spPr>
          <a:xfrm>
            <a:off x="10003536"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7 · Operate &amp; assess</a:t>
            </a:r>
            <a:endParaRPr lang="en-US" sz="900" dirty="0"/>
          </a:p>
        </p:txBody>
      </p:sp>
      <p:sp>
        <p:nvSpPr>
          <p:cNvPr id="16" name="Shape 14"/>
          <p:cNvSpPr/>
          <p:nvPr/>
        </p:nvSpPr>
        <p:spPr>
          <a:xfrm>
            <a:off x="457200" y="1783080"/>
            <a:ext cx="7818120" cy="1554480"/>
          </a:xfrm>
          <a:prstGeom prst="roundRect">
            <a:avLst>
              <a:gd name="adj" fmla="val 4706"/>
            </a:avLst>
          </a:prstGeom>
          <a:solidFill>
            <a:srgbClr val="EAF5EE"/>
          </a:solidFill>
          <a:ln w="12700">
            <a:solidFill>
              <a:srgbClr val="EAF5EE"/>
            </a:solidFill>
            <a:prstDash val="solid"/>
          </a:ln>
        </p:spPr>
      </p:sp>
      <p:sp>
        <p:nvSpPr>
          <p:cNvPr id="17" name="Text 15"/>
          <p:cNvSpPr/>
          <p:nvPr/>
        </p:nvSpPr>
        <p:spPr>
          <a:xfrm>
            <a:off x="594360" y="1856232"/>
            <a:ext cx="36576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What happens on this step</a:t>
            </a:r>
            <a:endParaRPr lang="en-US" sz="950" dirty="0"/>
          </a:p>
        </p:txBody>
      </p:sp>
      <p:sp>
        <p:nvSpPr>
          <p:cNvPr id="18" name="Shape 16"/>
          <p:cNvSpPr/>
          <p:nvPr/>
        </p:nvSpPr>
        <p:spPr>
          <a:xfrm>
            <a:off x="594360" y="2194560"/>
            <a:ext cx="1371600" cy="896112"/>
          </a:xfrm>
          <a:prstGeom prst="roundRect">
            <a:avLst>
              <a:gd name="adj" fmla="val 6122"/>
            </a:avLst>
          </a:prstGeom>
          <a:solidFill>
            <a:srgbClr val="FFFFFF"/>
          </a:solidFill>
          <a:ln w="12700">
            <a:solidFill>
              <a:srgbClr val="CFE9DA"/>
            </a:solidFill>
            <a:prstDash val="solid"/>
          </a:ln>
        </p:spPr>
      </p:sp>
      <p:sp>
        <p:nvSpPr>
          <p:cNvPr id="19" name="Text 17"/>
          <p:cNvSpPr/>
          <p:nvPr/>
        </p:nvSpPr>
        <p:spPr>
          <a:xfrm>
            <a:off x="6400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Tests exist as tasks</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(tests-first, incl. fitness</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test tasks from the preset)</a:t>
            </a:r>
            <a:endParaRPr lang="en-US" sz="750" dirty="0"/>
          </a:p>
        </p:txBody>
      </p:sp>
      <p:sp>
        <p:nvSpPr>
          <p:cNvPr id="20" name="Shape 18"/>
          <p:cNvSpPr/>
          <p:nvPr/>
        </p:nvSpPr>
        <p:spPr>
          <a:xfrm>
            <a:off x="1993392" y="2642616"/>
            <a:ext cx="116586" cy="0"/>
          </a:xfrm>
          <a:prstGeom prst="line">
            <a:avLst/>
          </a:prstGeom>
          <a:noFill/>
          <a:ln w="15875">
            <a:solidFill>
              <a:srgbClr val="0E6B45"/>
            </a:solidFill>
            <a:prstDash val="solid"/>
            <a:tailEnd type="triangle"/>
          </a:ln>
        </p:spPr>
      </p:sp>
      <p:sp>
        <p:nvSpPr>
          <p:cNvPr id="21" name="Shape 19"/>
          <p:cNvSpPr/>
          <p:nvPr/>
        </p:nvSpPr>
        <p:spPr>
          <a:xfrm>
            <a:off x="2137410" y="2194560"/>
            <a:ext cx="1371600" cy="896112"/>
          </a:xfrm>
          <a:prstGeom prst="roundRect">
            <a:avLst>
              <a:gd name="adj" fmla="val 6122"/>
            </a:avLst>
          </a:prstGeom>
          <a:solidFill>
            <a:srgbClr val="FFFFFF"/>
          </a:solidFill>
          <a:ln w="12700">
            <a:solidFill>
              <a:srgbClr val="CFE9DA"/>
            </a:solidFill>
            <a:prstDash val="solid"/>
          </a:ln>
        </p:spPr>
      </p:sp>
      <p:sp>
        <p:nvSpPr>
          <p:cNvPr id="22" name="Text 20"/>
          <p:cNvSpPr/>
          <p:nvPr/>
        </p:nvSpPr>
        <p:spPr>
          <a:xfrm>
            <a:off x="21831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Deterministic run</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unit · acceptance · fitness</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(runner / CI job)</a:t>
            </a:r>
            <a:endParaRPr lang="en-US" sz="750" dirty="0"/>
          </a:p>
        </p:txBody>
      </p:sp>
      <p:sp>
        <p:nvSpPr>
          <p:cNvPr id="23" name="Shape 21"/>
          <p:cNvSpPr/>
          <p:nvPr/>
        </p:nvSpPr>
        <p:spPr>
          <a:xfrm>
            <a:off x="3536442" y="2642616"/>
            <a:ext cx="116586" cy="0"/>
          </a:xfrm>
          <a:prstGeom prst="line">
            <a:avLst/>
          </a:prstGeom>
          <a:noFill/>
          <a:ln w="15875">
            <a:solidFill>
              <a:srgbClr val="0E6B45"/>
            </a:solidFill>
            <a:prstDash val="solid"/>
            <a:tailEnd type="triangle"/>
          </a:ln>
        </p:spPr>
      </p:sp>
      <p:sp>
        <p:nvSpPr>
          <p:cNvPr id="24" name="Shape 22"/>
          <p:cNvSpPr/>
          <p:nvPr/>
        </p:nvSpPr>
        <p:spPr>
          <a:xfrm>
            <a:off x="3680460" y="2194560"/>
            <a:ext cx="1371600" cy="896112"/>
          </a:xfrm>
          <a:prstGeom prst="roundRect">
            <a:avLst>
              <a:gd name="adj" fmla="val 6122"/>
            </a:avLst>
          </a:prstGeom>
          <a:solidFill>
            <a:srgbClr val="FFFFFF"/>
          </a:solidFill>
          <a:ln w="12700">
            <a:solidFill>
              <a:srgbClr val="CFE9DA"/>
            </a:solidFill>
            <a:prstDash val="solid"/>
          </a:ln>
        </p:spPr>
      </p:sp>
      <p:sp>
        <p:nvSpPr>
          <p:cNvPr id="25" name="Text 23"/>
          <p:cNvSpPr/>
          <p:nvPr/>
        </p:nvSpPr>
        <p:spPr>
          <a:xfrm>
            <a:off x="37261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Verdict = exit code</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 requirement → test matrix</a:t>
            </a:r>
            <a:endParaRPr lang="en-US" sz="750" dirty="0"/>
          </a:p>
        </p:txBody>
      </p:sp>
      <p:sp>
        <p:nvSpPr>
          <p:cNvPr id="26" name="Shape 24"/>
          <p:cNvSpPr/>
          <p:nvPr/>
        </p:nvSpPr>
        <p:spPr>
          <a:xfrm>
            <a:off x="5079492" y="2642616"/>
            <a:ext cx="116586" cy="0"/>
          </a:xfrm>
          <a:prstGeom prst="line">
            <a:avLst/>
          </a:prstGeom>
          <a:noFill/>
          <a:ln w="15875">
            <a:solidFill>
              <a:srgbClr val="0E6B45"/>
            </a:solidFill>
            <a:prstDash val="solid"/>
            <a:tailEnd type="triangle"/>
          </a:ln>
        </p:spPr>
      </p:sp>
      <p:sp>
        <p:nvSpPr>
          <p:cNvPr id="27" name="Shape 25"/>
          <p:cNvSpPr/>
          <p:nvPr/>
        </p:nvSpPr>
        <p:spPr>
          <a:xfrm>
            <a:off x="5223510" y="2194560"/>
            <a:ext cx="1371600" cy="896112"/>
          </a:xfrm>
          <a:prstGeom prst="roundRect">
            <a:avLst>
              <a:gd name="adj" fmla="val 6122"/>
            </a:avLst>
          </a:prstGeom>
          <a:solidFill>
            <a:srgbClr val="FFFFFF"/>
          </a:solidFill>
          <a:ln w="12700">
            <a:solidFill>
              <a:srgbClr val="CFE9DA"/>
            </a:solidFill>
            <a:prstDash val="solid"/>
          </a:ln>
        </p:spPr>
      </p:sp>
      <p:sp>
        <p:nvSpPr>
          <p:cNvPr id="28" name="Text 26"/>
          <p:cNvSpPr/>
          <p:nvPr/>
        </p:nvSpPr>
        <p:spPr>
          <a:xfrm>
            <a:off x="52692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red → back to</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/speckit.implement</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(workflow do-while, max N)</a:t>
            </a:r>
            <a:endParaRPr lang="en-US" sz="750" dirty="0"/>
          </a:p>
        </p:txBody>
      </p:sp>
      <p:sp>
        <p:nvSpPr>
          <p:cNvPr id="29" name="Shape 27"/>
          <p:cNvSpPr/>
          <p:nvPr/>
        </p:nvSpPr>
        <p:spPr>
          <a:xfrm>
            <a:off x="6622542" y="2642616"/>
            <a:ext cx="116586" cy="0"/>
          </a:xfrm>
          <a:prstGeom prst="line">
            <a:avLst/>
          </a:prstGeom>
          <a:noFill/>
          <a:ln w="15875">
            <a:solidFill>
              <a:srgbClr val="0E6B45"/>
            </a:solidFill>
            <a:prstDash val="solid"/>
            <a:tailEnd type="triangle"/>
          </a:ln>
        </p:spPr>
      </p:sp>
      <p:sp>
        <p:nvSpPr>
          <p:cNvPr id="30" name="Shape 28"/>
          <p:cNvSpPr/>
          <p:nvPr/>
        </p:nvSpPr>
        <p:spPr>
          <a:xfrm>
            <a:off x="6766560" y="2194560"/>
            <a:ext cx="1371600" cy="896112"/>
          </a:xfrm>
          <a:prstGeom prst="roundRect">
            <a:avLst>
              <a:gd name="adj" fmla="val 6122"/>
            </a:avLst>
          </a:prstGeom>
          <a:solidFill>
            <a:srgbClr val="0E6B45"/>
          </a:solidFill>
          <a:ln w="12700">
            <a:solidFill>
              <a:srgbClr val="0E6B45"/>
            </a:solidFill>
            <a:prstDash val="solid"/>
          </a:ln>
        </p:spPr>
      </p:sp>
      <p:sp>
        <p:nvSpPr>
          <p:cNvPr id="31" name="Text 29"/>
          <p:cNvSpPr/>
          <p:nvPr/>
        </p:nvSpPr>
        <p:spPr>
          <a:xfrm>
            <a:off x="6812280" y="2240280"/>
            <a:ext cx="1280160" cy="80467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green → test exit</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code enters CI (6)</a:t>
            </a:r>
            <a:endParaRPr lang="en-US" sz="750" dirty="0"/>
          </a:p>
        </p:txBody>
      </p:sp>
      <p:sp>
        <p:nvSpPr>
          <p:cNvPr id="32" name="Text 30"/>
          <p:cNvSpPr/>
          <p:nvPr/>
        </p:nvSpPr>
        <p:spPr>
          <a:xfrm>
            <a:off x="457200" y="3483864"/>
            <a:ext cx="45720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Agents &amp; tools on this step</a:t>
            </a:r>
            <a:endParaRPr lang="en-US" sz="950" dirty="0"/>
          </a:p>
        </p:txBody>
      </p:sp>
      <p:sp>
        <p:nvSpPr>
          <p:cNvPr id="33" name="Shape 31"/>
          <p:cNvSpPr/>
          <p:nvPr/>
        </p:nvSpPr>
        <p:spPr>
          <a:xfrm>
            <a:off x="457200" y="3758184"/>
            <a:ext cx="3771900" cy="1225296"/>
          </a:xfrm>
          <a:prstGeom prst="roundRect">
            <a:avLst>
              <a:gd name="adj" fmla="val 4478"/>
            </a:avLst>
          </a:prstGeom>
          <a:solidFill>
            <a:srgbClr val="FFFFFF"/>
          </a:solidFill>
          <a:ln w="9525">
            <a:solidFill>
              <a:srgbClr val="E9ECEA"/>
            </a:solidFill>
            <a:prstDash val="solid"/>
          </a:ln>
        </p:spPr>
      </p:sp>
      <p:sp>
        <p:nvSpPr>
          <p:cNvPr id="34" name="Text 32"/>
          <p:cNvSpPr/>
          <p:nvPr/>
        </p:nvSpPr>
        <p:spPr>
          <a:xfrm>
            <a:off x="2811780" y="3840480"/>
            <a:ext cx="1325880" cy="182880"/>
          </a:xfrm>
          <a:prstGeom prst="roundRect">
            <a:avLst>
              <a:gd name="adj" fmla="val 50000"/>
            </a:avLst>
          </a:prstGeom>
          <a:solidFill>
            <a:srgbClr val="6FBF95"/>
          </a:solidFill>
          <a:ln>
            <a:solidFill>
              <a:srgbClr val="6FBF95"/>
            </a:solidFill>
          </a:ln>
        </p:spPr>
        <p:txBody>
          <a:bodyPr wrap="square" lIns="0" tIns="0" rIns="0" bIns="0" rtlCol="0" anchor="ctr"/>
          <a:lstStyle/>
          <a:p>
            <a:pPr algn="ctr" indent="0" marL="0">
              <a:buNone/>
            </a:pPr>
            <a:r>
              <a:rPr lang="en-US" sz="650" b="1" dirty="0">
                <a:solidFill>
                  <a:srgbClr val="0B3F2C"/>
                </a:solidFill>
                <a:latin typeface="Arial" pitchFamily="34" charset="0"/>
                <a:ea typeface="Arial" pitchFamily="34" charset="-122"/>
                <a:cs typeface="Arial" pitchFamily="34" charset="-120"/>
              </a:rPr>
              <a:t>Spec Kit — orchestration only</a:t>
            </a:r>
            <a:endParaRPr lang="en-US" sz="650" dirty="0"/>
          </a:p>
        </p:txBody>
      </p:sp>
      <p:sp>
        <p:nvSpPr>
          <p:cNvPr id="35" name="Text 33"/>
          <p:cNvSpPr/>
          <p:nvPr/>
        </p:nvSpPr>
        <p:spPr>
          <a:xfrm>
            <a:off x="566928" y="3831336"/>
            <a:ext cx="217170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Workflow shell + do-while loop</a:t>
            </a:r>
            <a:endParaRPr lang="en-US" sz="900" dirty="0"/>
          </a:p>
        </p:txBody>
      </p:sp>
      <p:sp>
        <p:nvSpPr>
          <p:cNvPr id="36" name="Text 34"/>
          <p:cNvSpPr/>
          <p:nvPr/>
        </p:nvSpPr>
        <p:spPr>
          <a:xfrm>
            <a:off x="56692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The workflow engine runs the suite as a shell step and loops back to speckit.implement while the exit code is non-zero (do-while, max_iterations) — the shape verified in the sandbox; tasks-template test phases are OPTIONAL, our preset makes fitness-test tasks mandatory; implement executes test tasks first.</a:t>
            </a:r>
            <a:endParaRPr lang="en-US" sz="750" dirty="0"/>
          </a:p>
        </p:txBody>
      </p:sp>
      <p:sp>
        <p:nvSpPr>
          <p:cNvPr id="37" name="Shape 35"/>
          <p:cNvSpPr/>
          <p:nvPr/>
        </p:nvSpPr>
        <p:spPr>
          <a:xfrm>
            <a:off x="4503420" y="3758184"/>
            <a:ext cx="3771900" cy="1225296"/>
          </a:xfrm>
          <a:prstGeom prst="roundRect">
            <a:avLst>
              <a:gd name="adj" fmla="val 4478"/>
            </a:avLst>
          </a:prstGeom>
          <a:solidFill>
            <a:srgbClr val="FFFFFF"/>
          </a:solidFill>
          <a:ln w="9525">
            <a:solidFill>
              <a:srgbClr val="E9ECEA"/>
            </a:solidFill>
            <a:prstDash val="solid"/>
          </a:ln>
        </p:spPr>
      </p:sp>
      <p:sp>
        <p:nvSpPr>
          <p:cNvPr id="38" name="Text 36"/>
          <p:cNvSpPr/>
          <p:nvPr/>
        </p:nvSpPr>
        <p:spPr>
          <a:xfrm>
            <a:off x="7013448" y="3840480"/>
            <a:ext cx="1170432"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39" name="Text 37"/>
          <p:cNvSpPr/>
          <p:nvPr/>
        </p:nvSpPr>
        <p:spPr>
          <a:xfrm>
            <a:off x="4613148" y="3831336"/>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bdd · tdd · spectest</a:t>
            </a:r>
            <a:endParaRPr lang="en-US" sz="900" dirty="0"/>
          </a:p>
        </p:txBody>
      </p:sp>
      <p:sp>
        <p:nvSpPr>
          <p:cNvPr id="40" name="Text 38"/>
          <p:cNvSpPr/>
          <p:nvPr/>
        </p:nvSpPr>
        <p:spPr>
          <a:xfrm>
            <a:off x="461314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Specs → Gherkin scenarios, step definitions and acceptance coverage; red-green-refactor with recorded evidence and mutation-checked strength; test scaffolds from spec criteria.</a:t>
            </a:r>
            <a:endParaRPr lang="en-US" sz="750" dirty="0"/>
          </a:p>
        </p:txBody>
      </p:sp>
      <p:sp>
        <p:nvSpPr>
          <p:cNvPr id="41" name="Shape 39"/>
          <p:cNvSpPr/>
          <p:nvPr/>
        </p:nvSpPr>
        <p:spPr>
          <a:xfrm>
            <a:off x="457200" y="5093208"/>
            <a:ext cx="3771900" cy="1225296"/>
          </a:xfrm>
          <a:prstGeom prst="roundRect">
            <a:avLst>
              <a:gd name="adj" fmla="val 4478"/>
            </a:avLst>
          </a:prstGeom>
          <a:solidFill>
            <a:srgbClr val="FFFFFF"/>
          </a:solidFill>
          <a:ln w="9525">
            <a:solidFill>
              <a:srgbClr val="E9ECEA"/>
            </a:solidFill>
            <a:prstDash val="solid"/>
          </a:ln>
        </p:spPr>
      </p:sp>
      <p:sp>
        <p:nvSpPr>
          <p:cNvPr id="42" name="Text 40"/>
          <p:cNvSpPr/>
          <p:nvPr/>
        </p:nvSpPr>
        <p:spPr>
          <a:xfrm>
            <a:off x="2967228" y="5175504"/>
            <a:ext cx="1170432"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43" name="Text 41"/>
          <p:cNvSpPr/>
          <p:nvPr/>
        </p:nvSpPr>
        <p:spPr>
          <a:xfrm>
            <a:off x="56692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trace · v-model · golden-demo · qa</a:t>
            </a:r>
            <a:endParaRPr lang="en-US" sz="900" dirty="0"/>
          </a:p>
        </p:txBody>
      </p:sp>
      <p:sp>
        <p:nvSpPr>
          <p:cNvPr id="44" name="Text 42"/>
          <p:cNvSpPr/>
          <p:nvPr/>
        </p:nvSpPr>
        <p:spPr>
          <a:xfrm>
            <a:off x="56692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Requirement → test traceability matrix (untested requirements, orphan tests); paired dev/test specs; behavioural drift oracle as CI gatekeeper; browser / CLI validation of acceptance criteria.</a:t>
            </a:r>
            <a:endParaRPr lang="en-US" sz="750" dirty="0"/>
          </a:p>
        </p:txBody>
      </p:sp>
      <p:sp>
        <p:nvSpPr>
          <p:cNvPr id="45" name="Shape 43"/>
          <p:cNvSpPr/>
          <p:nvPr/>
        </p:nvSpPr>
        <p:spPr>
          <a:xfrm>
            <a:off x="4503420" y="5093208"/>
            <a:ext cx="3771900" cy="1225296"/>
          </a:xfrm>
          <a:prstGeom prst="roundRect">
            <a:avLst>
              <a:gd name="adj" fmla="val 4478"/>
            </a:avLst>
          </a:prstGeom>
          <a:solidFill>
            <a:srgbClr val="FFFFFF"/>
          </a:solidFill>
          <a:ln w="9525">
            <a:solidFill>
              <a:srgbClr val="E9ECEA"/>
            </a:solidFill>
            <a:prstDash val="solid"/>
          </a:ln>
        </p:spPr>
      </p:sp>
      <p:sp>
        <p:nvSpPr>
          <p:cNvPr id="46" name="Text 44"/>
          <p:cNvSpPr/>
          <p:nvPr/>
        </p:nvSpPr>
        <p:spPr>
          <a:xfrm>
            <a:off x="7013448" y="5175504"/>
            <a:ext cx="1170432"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47" name="Text 45"/>
          <p:cNvSpPr/>
          <p:nvPr/>
        </p:nvSpPr>
        <p:spPr>
          <a:xfrm>
            <a:off x="461314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A5 · Evidence gate + NFR tests</a:t>
            </a:r>
            <a:endParaRPr lang="en-US" sz="900" dirty="0"/>
          </a:p>
        </p:txBody>
      </p:sp>
      <p:sp>
        <p:nvSpPr>
          <p:cNvPr id="48" name="Text 46"/>
          <p:cNvSpPr/>
          <p:nvPr/>
        </p:nvSpPr>
        <p:spPr>
          <a:xfrm>
            <a:off x="461314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Results + requirement → test manifest → one JSON verdict consumed by the workflow loop and by CI; NFR tests generated from Success Criteria (performance, security, availability) — where the architecture’s promises are proven; the A4 fitness verdict re-run here and attached to the PR.</a:t>
            </a:r>
            <a:endParaRPr lang="en-US" sz="750" dirty="0"/>
          </a:p>
        </p:txBody>
      </p:sp>
      <p:sp>
        <p:nvSpPr>
          <p:cNvPr id="49" name="Shape 47"/>
          <p:cNvSpPr/>
          <p:nvPr/>
        </p:nvSpPr>
        <p:spPr>
          <a:xfrm>
            <a:off x="8503920" y="1783080"/>
            <a:ext cx="3246120" cy="4617720"/>
          </a:xfrm>
          <a:prstGeom prst="roundRect">
            <a:avLst>
              <a:gd name="adj" fmla="val 2254"/>
            </a:avLst>
          </a:prstGeom>
          <a:solidFill>
            <a:srgbClr val="EAF5EE"/>
          </a:solidFill>
          <a:ln w="12700">
            <a:solidFill>
              <a:srgbClr val="EAF5EE"/>
            </a:solidFill>
            <a:prstDash val="solid"/>
          </a:ln>
        </p:spPr>
      </p:sp>
      <p:sp>
        <p:nvSpPr>
          <p:cNvPr id="50" name="Text 48"/>
          <p:cNvSpPr/>
          <p:nvPr/>
        </p:nvSpPr>
        <p:spPr>
          <a:xfrm>
            <a:off x="8613648" y="1892808"/>
            <a:ext cx="3026664" cy="566928"/>
          </a:xfrm>
          <a:prstGeom prst="roundRect">
            <a:avLst>
              <a:gd name="adj" fmla="val 9677"/>
            </a:avLst>
          </a:prstGeom>
          <a:solidFill>
            <a:srgbClr val="3E4F48"/>
          </a:solidFill>
          <a:ln>
            <a:solidFill>
              <a:srgbClr val="3E4F48"/>
            </a:solidFill>
          </a:ln>
        </p:spPr>
        <p:txBody>
          <a:bodyPr wrap="square" lIns="25400" tIns="76200" rIns="76200" bIns="25400" rtlCol="0" anchor="ctr"/>
          <a:lstStyle/>
          <a:p>
            <a:pPr algn="ctr" indent="0" marL="0">
              <a:buNone/>
            </a:pPr>
            <a:r>
              <a:rPr lang="en-US" sz="750" b="1" dirty="0">
                <a:solidFill>
                  <a:srgbClr val="CFE9DA"/>
                </a:solidFill>
                <a:latin typeface="Arial" pitchFamily="34" charset="0"/>
                <a:ea typeface="Arial" pitchFamily="34" charset="-122"/>
                <a:cs typeface="Arial" pitchFamily="34" charset="-120"/>
              </a:rPr>
              <a:t>HUMAN DECISION AT THE BOUNDARY</a:t>
            </a:r>
            <a:endParaRPr lang="en-US" sz="750" dirty="0"/>
          </a:p>
          <a:p>
            <a:pPr algn="ctr" indent="0" marL="0">
              <a:buNone/>
            </a:pPr>
            <a:r>
              <a:rPr lang="en-US" sz="1050" b="1" dirty="0">
                <a:solidFill>
                  <a:srgbClr val="FFFFFF"/>
                </a:solidFill>
                <a:latin typeface="Arial" pitchFamily="34" charset="0"/>
                <a:ea typeface="Arial" pitchFamily="34" charset="-122"/>
                <a:cs typeface="Arial" pitchFamily="34" charset="-120"/>
              </a:rPr>
              <a:t>Test exit → code enters CI</a:t>
            </a:r>
            <a:endParaRPr lang="en-US" sz="750" dirty="0"/>
          </a:p>
        </p:txBody>
      </p:sp>
      <p:sp>
        <p:nvSpPr>
          <p:cNvPr id="51" name="Text 49"/>
          <p:cNvSpPr/>
          <p:nvPr/>
        </p:nvSpPr>
        <p:spPr>
          <a:xfrm>
            <a:off x="8641080" y="2532888"/>
            <a:ext cx="2971800" cy="384048"/>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By: </a:t>
            </a:r>
            <a:pPr indent="0" marL="0">
              <a:buNone/>
            </a:pPr>
            <a:r>
              <a:rPr lang="en-US" sz="800" dirty="0">
                <a:solidFill>
                  <a:srgbClr val="1B2A24"/>
                </a:solidFill>
                <a:latin typeface="Arial" pitchFamily="34" charset="0"/>
                <a:ea typeface="Arial" pitchFamily="34" charset="-122"/>
                <a:cs typeface="Arial" pitchFamily="34" charset="-120"/>
              </a:rPr>
              <a:t>QA lead with the tech lead, on the deterministic verdict, the requirement → test matrix and the fitness result</a:t>
            </a:r>
            <a:endParaRPr lang="en-US" sz="800" dirty="0"/>
          </a:p>
        </p:txBody>
      </p:sp>
      <p:sp>
        <p:nvSpPr>
          <p:cNvPr id="52" name="Text 50"/>
          <p:cNvSpPr/>
          <p:nvPr/>
        </p:nvSpPr>
        <p:spPr>
          <a:xfrm>
            <a:off x="8641080" y="2953512"/>
            <a:ext cx="2971800" cy="182880"/>
          </a:xfrm>
          <a:prstGeom prst="rect">
            <a:avLst/>
          </a:prstGeom>
          <a:noFill/>
          <a:ln/>
        </p:spPr>
        <p:txBody>
          <a:bodyPr wrap="square" lIns="0" tIns="0" rIns="0" bIns="0" rtlCol="0" anchor="t"/>
          <a:lstStyle/>
          <a:p>
            <a:pPr indent="0" marL="0">
              <a:buNone/>
            </a:pPr>
            <a:r>
              <a:rPr lang="en-US" sz="850" b="1" dirty="0">
                <a:solidFill>
                  <a:srgbClr val="0B3F2C"/>
                </a:solidFill>
                <a:latin typeface="Arial" pitchFamily="34" charset="0"/>
                <a:ea typeface="Arial" pitchFamily="34" charset="-122"/>
                <a:cs typeface="Arial" pitchFamily="34" charset="-120"/>
              </a:rPr>
              <a:t>Guardrails inside the step (scripted checks)</a:t>
            </a:r>
            <a:endParaRPr lang="en-US" sz="850" dirty="0"/>
          </a:p>
        </p:txBody>
      </p:sp>
      <p:sp>
        <p:nvSpPr>
          <p:cNvPr id="53" name="Text 51"/>
          <p:cNvSpPr/>
          <p:nvPr/>
        </p:nvSpPr>
        <p:spPr>
          <a:xfrm>
            <a:off x="8641080" y="3154680"/>
            <a:ext cx="2971800" cy="1143000"/>
          </a:xfrm>
          <a:prstGeom prst="rect">
            <a:avLst/>
          </a:prstGeom>
          <a:noFill/>
          <a:ln/>
        </p:spPr>
        <p:txBody>
          <a:bodyPr wrap="square" lIns="0" tIns="0" rIns="0" bIns="0" rtlCol="0" anchor="t"/>
          <a:lstStyle/>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every test task executed; verdict is an exit code, not an opinion</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every Must requirement has ≥ 1 passing test; no orphan tests</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A5: architecture fitness re-run green; NFR tests for measurable Success Criteria</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red → back to implement (workflow do-while), never a manual bypass</a:t>
            </a:r>
            <a:endParaRPr lang="en-US" sz="800" dirty="0"/>
          </a:p>
        </p:txBody>
      </p:sp>
      <p:sp>
        <p:nvSpPr>
          <p:cNvPr id="54" name="Text 52"/>
          <p:cNvSpPr/>
          <p:nvPr/>
        </p:nvSpPr>
        <p:spPr>
          <a:xfrm>
            <a:off x="8641080" y="4297680"/>
            <a:ext cx="2971800" cy="219456"/>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A5 · evidence at test exit — to build</a:t>
            </a:r>
            <a:endParaRPr lang="en-US" sz="750" dirty="0"/>
          </a:p>
        </p:txBody>
      </p:sp>
      <p:sp>
        <p:nvSpPr>
          <p:cNvPr id="55" name="Text 53"/>
          <p:cNvSpPr/>
          <p:nvPr/>
        </p:nvSpPr>
        <p:spPr>
          <a:xfrm>
            <a:off x="8613648" y="4599432"/>
            <a:ext cx="3026664" cy="274320"/>
          </a:xfrm>
          <a:prstGeom prst="roundRect">
            <a:avLst>
              <a:gd name="adj" fmla="val 20000"/>
            </a:avLst>
          </a:prstGeom>
          <a:solidFill>
            <a:srgbClr val="B23A32"/>
          </a:solidFill>
          <a:ln>
            <a:solidFill>
              <a:srgbClr val="B23A32"/>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MISSING → to build for the guardrails</a:t>
            </a:r>
            <a:endParaRPr lang="en-US" sz="850" dirty="0"/>
          </a:p>
        </p:txBody>
      </p:sp>
      <p:sp>
        <p:nvSpPr>
          <p:cNvPr id="56" name="Text 54"/>
          <p:cNvSpPr/>
          <p:nvPr/>
        </p:nvSpPr>
        <p:spPr>
          <a:xfrm>
            <a:off x="8641080" y="4946904"/>
            <a:ext cx="2971800" cy="1371600"/>
          </a:xfrm>
          <a:prstGeom prst="rect">
            <a:avLst/>
          </a:prstGeom>
          <a:noFill/>
          <a:ln/>
        </p:spPr>
        <p:txBody>
          <a:bodyPr wrap="square" lIns="0" tIns="0" rIns="0" bIns="0" rtlCol="0" anchor="t"/>
          <a:lstStyle/>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A5 evidence gate: results + manifest + fitness → JSON verdict for the loop and CI</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NFR tests from Success Criteria</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Requirement → test manifest owner — optional, ecosystem trace / v-model as start</a:t>
            </a:r>
            <a:endParaRPr lang="en-US" sz="800" dirty="0"/>
          </a:p>
        </p:txBody>
      </p:sp>
      <p:sp>
        <p:nvSpPr>
          <p:cNvPr id="57" name="Text 55"/>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7955280" cy="457200"/>
          </a:xfrm>
          <a:prstGeom prst="rect">
            <a:avLst/>
          </a:prstGeom>
          <a:noFill/>
          <a:ln/>
        </p:spPr>
        <p:txBody>
          <a:bodyPr wrap="square" lIns="0" tIns="0" rIns="0" bIns="0" rtlCol="0" anchor="t"/>
          <a:lstStyle/>
          <a:p>
            <a:pPr indent="0" marL="0">
              <a:buNone/>
            </a:pPr>
            <a:r>
              <a:rPr lang="en-US" sz="1900" b="1" dirty="0">
                <a:solidFill>
                  <a:srgbClr val="0B3F2C"/>
                </a:solidFill>
                <a:latin typeface="Arial" pitchFamily="34" charset="0"/>
                <a:ea typeface="Arial" pitchFamily="34" charset="-122"/>
                <a:cs typeface="Arial" pitchFamily="34" charset="-120"/>
              </a:rPr>
              <a:t>Steps 6–7 · Existing CI/CD and operations · Assessor runs 7 → 1</a:t>
            </a:r>
            <a:endParaRPr lang="en-US" sz="1900" dirty="0"/>
          </a:p>
        </p:txBody>
      </p:sp>
      <p:sp>
        <p:nvSpPr>
          <p:cNvPr id="3" name="Text 1"/>
          <p:cNvSpPr/>
          <p:nvPr/>
        </p:nvSpPr>
        <p:spPr>
          <a:xfrm>
            <a:off x="457200" y="749808"/>
            <a:ext cx="8412480" cy="502920"/>
          </a:xfrm>
          <a:prstGeom prst="rect">
            <a:avLst/>
          </a:prstGeom>
          <a:noFill/>
          <a:ln/>
        </p:spPr>
        <p:txBody>
          <a:bodyPr wrap="square" lIns="0" tIns="0" rIns="0" bIns="0" rtlCol="0" anchor="t"/>
          <a:lstStyle/>
          <a:p>
            <a:pPr indent="0" marL="0">
              <a:buNone/>
            </a:pPr>
            <a:r>
              <a:rPr lang="en-US" sz="1100" b="1" dirty="0">
                <a:solidFill>
                  <a:srgbClr val="0E6B45"/>
                </a:solidFill>
                <a:latin typeface="Arial" pitchFamily="34" charset="0"/>
                <a:ea typeface="Arial" pitchFamily="34" charset="-122"/>
                <a:cs typeface="Arial" pitchFamily="34" charset="-120"/>
              </a:rPr>
              <a:t>Operations stay as they are. Between 7 and 1 the Architecture Assessor (in-house) measures the delivered system against the rulebook and the domain map; its findings become proposed requirement or domain-map changes — suggested by an agent, accepted by humans.</a:t>
            </a:r>
            <a:endParaRPr lang="en-US" sz="1100" dirty="0"/>
          </a:p>
        </p:txBody>
      </p:sp>
      <p:sp>
        <p:nvSpPr>
          <p:cNvPr id="4" name="Text 2"/>
          <p:cNvSpPr/>
          <p:nvPr/>
        </p:nvSpPr>
        <p:spPr>
          <a:xfrm>
            <a:off x="8549640" y="310896"/>
            <a:ext cx="1024128" cy="210312"/>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Spec Kit native</a:t>
            </a:r>
            <a:endParaRPr lang="en-US" sz="650" dirty="0"/>
          </a:p>
        </p:txBody>
      </p:sp>
      <p:sp>
        <p:nvSpPr>
          <p:cNvPr id="5" name="Text 3"/>
          <p:cNvSpPr/>
          <p:nvPr/>
        </p:nvSpPr>
        <p:spPr>
          <a:xfrm>
            <a:off x="9628632" y="310896"/>
            <a:ext cx="1024128" cy="210312"/>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available</a:t>
            </a:r>
            <a:endParaRPr lang="en-US" sz="650" dirty="0"/>
          </a:p>
        </p:txBody>
      </p:sp>
      <p:sp>
        <p:nvSpPr>
          <p:cNvPr id="6" name="Text 4"/>
          <p:cNvSpPr/>
          <p:nvPr/>
        </p:nvSpPr>
        <p:spPr>
          <a:xfrm>
            <a:off x="10707624" y="310896"/>
            <a:ext cx="1024128" cy="210312"/>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in progress</a:t>
            </a:r>
            <a:endParaRPr lang="en-US" sz="650" dirty="0"/>
          </a:p>
        </p:txBody>
      </p:sp>
      <p:sp>
        <p:nvSpPr>
          <p:cNvPr id="7" name="Text 5"/>
          <p:cNvSpPr/>
          <p:nvPr/>
        </p:nvSpPr>
        <p:spPr>
          <a:xfrm>
            <a:off x="8549640" y="576072"/>
            <a:ext cx="1024128" cy="210312"/>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8" name="Text 6"/>
          <p:cNvSpPr/>
          <p:nvPr/>
        </p:nvSpPr>
        <p:spPr>
          <a:xfrm>
            <a:off x="9628632" y="576072"/>
            <a:ext cx="1024128" cy="210312"/>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9" name="Text 7"/>
          <p:cNvSpPr/>
          <p:nvPr/>
        </p:nvSpPr>
        <p:spPr>
          <a:xfrm>
            <a:off x="45720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1 · Requirements</a:t>
            </a:r>
            <a:endParaRPr lang="en-US" sz="900" dirty="0"/>
          </a:p>
        </p:txBody>
      </p:sp>
      <p:sp>
        <p:nvSpPr>
          <p:cNvPr id="10" name="Text 8"/>
          <p:cNvSpPr/>
          <p:nvPr/>
        </p:nvSpPr>
        <p:spPr>
          <a:xfrm>
            <a:off x="2048256"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2 · Plan</a:t>
            </a:r>
            <a:endParaRPr lang="en-US" sz="900" dirty="0"/>
          </a:p>
        </p:txBody>
      </p:sp>
      <p:sp>
        <p:nvSpPr>
          <p:cNvPr id="11" name="Text 9"/>
          <p:cNvSpPr/>
          <p:nvPr/>
        </p:nvSpPr>
        <p:spPr>
          <a:xfrm>
            <a:off x="3639312"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3 · Design</a:t>
            </a:r>
            <a:endParaRPr lang="en-US" sz="900" dirty="0"/>
          </a:p>
        </p:txBody>
      </p:sp>
      <p:sp>
        <p:nvSpPr>
          <p:cNvPr id="12" name="Text 10"/>
          <p:cNvSpPr/>
          <p:nvPr/>
        </p:nvSpPr>
        <p:spPr>
          <a:xfrm>
            <a:off x="5230368"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4 · Implement</a:t>
            </a:r>
            <a:endParaRPr lang="en-US" sz="900" dirty="0"/>
          </a:p>
        </p:txBody>
      </p:sp>
      <p:sp>
        <p:nvSpPr>
          <p:cNvPr id="13" name="Text 11"/>
          <p:cNvSpPr/>
          <p:nvPr/>
        </p:nvSpPr>
        <p:spPr>
          <a:xfrm>
            <a:off x="6821424"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5 · Test</a:t>
            </a:r>
            <a:endParaRPr lang="en-US" sz="900" dirty="0"/>
          </a:p>
        </p:txBody>
      </p:sp>
      <p:sp>
        <p:nvSpPr>
          <p:cNvPr id="14" name="Text 12"/>
          <p:cNvSpPr/>
          <p:nvPr/>
        </p:nvSpPr>
        <p:spPr>
          <a:xfrm>
            <a:off x="8412480" y="1298448"/>
            <a:ext cx="1481328" cy="310896"/>
          </a:xfrm>
          <a:prstGeom prst="roundRect">
            <a:avLst>
              <a:gd name="adj" fmla="val 50000"/>
            </a:avLst>
          </a:prstGeom>
          <a:solidFill>
            <a:srgbClr val="E9ECEA"/>
          </a:solidFill>
          <a:ln>
            <a:solidFill>
              <a:srgbClr val="E9ECEA"/>
            </a:solidFill>
          </a:ln>
        </p:spPr>
        <p:txBody>
          <a:bodyPr wrap="square" lIns="0" tIns="0" rIns="0" bIns="0" rtlCol="0" anchor="ctr"/>
          <a:lstStyle/>
          <a:p>
            <a:pPr algn="ctr" indent="0" marL="0">
              <a:buNone/>
            </a:pPr>
            <a:r>
              <a:rPr lang="en-US" sz="900" dirty="0">
                <a:solidFill>
                  <a:srgbClr val="5F6B66"/>
                </a:solidFill>
                <a:latin typeface="Arial" pitchFamily="34" charset="0"/>
                <a:ea typeface="Arial" pitchFamily="34" charset="-122"/>
                <a:cs typeface="Arial" pitchFamily="34" charset="-120"/>
              </a:rPr>
              <a:t>6 · Deploy</a:t>
            </a:r>
            <a:endParaRPr lang="en-US" sz="900" dirty="0"/>
          </a:p>
        </p:txBody>
      </p:sp>
      <p:sp>
        <p:nvSpPr>
          <p:cNvPr id="15" name="Text 13"/>
          <p:cNvSpPr/>
          <p:nvPr/>
        </p:nvSpPr>
        <p:spPr>
          <a:xfrm>
            <a:off x="10003536" y="1298448"/>
            <a:ext cx="1481328" cy="310896"/>
          </a:xfrm>
          <a:prstGeom prst="roundRect">
            <a:avLst>
              <a:gd name="adj" fmla="val 50000"/>
            </a:avLst>
          </a:prstGeom>
          <a:solidFill>
            <a:srgbClr val="0E6B45"/>
          </a:solidFill>
          <a:ln>
            <a:solidFill>
              <a:srgbClr val="0E6B45"/>
            </a:solid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7 · Operate &amp; assess</a:t>
            </a:r>
            <a:endParaRPr lang="en-US" sz="900" dirty="0"/>
          </a:p>
        </p:txBody>
      </p:sp>
      <p:sp>
        <p:nvSpPr>
          <p:cNvPr id="16" name="Shape 14"/>
          <p:cNvSpPr/>
          <p:nvPr/>
        </p:nvSpPr>
        <p:spPr>
          <a:xfrm>
            <a:off x="457200" y="1783080"/>
            <a:ext cx="7818120" cy="1554480"/>
          </a:xfrm>
          <a:prstGeom prst="roundRect">
            <a:avLst>
              <a:gd name="adj" fmla="val 4706"/>
            </a:avLst>
          </a:prstGeom>
          <a:solidFill>
            <a:srgbClr val="EAF5EE"/>
          </a:solidFill>
          <a:ln w="12700">
            <a:solidFill>
              <a:srgbClr val="EAF5EE"/>
            </a:solidFill>
            <a:prstDash val="solid"/>
          </a:ln>
        </p:spPr>
      </p:sp>
      <p:sp>
        <p:nvSpPr>
          <p:cNvPr id="17" name="Text 15"/>
          <p:cNvSpPr/>
          <p:nvPr/>
        </p:nvSpPr>
        <p:spPr>
          <a:xfrm>
            <a:off x="594360" y="1856232"/>
            <a:ext cx="36576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What happens on this step</a:t>
            </a:r>
            <a:endParaRPr lang="en-US" sz="950" dirty="0"/>
          </a:p>
        </p:txBody>
      </p:sp>
      <p:sp>
        <p:nvSpPr>
          <p:cNvPr id="18" name="Shape 16"/>
          <p:cNvSpPr/>
          <p:nvPr/>
        </p:nvSpPr>
        <p:spPr>
          <a:xfrm>
            <a:off x="594360" y="2194560"/>
            <a:ext cx="1371600" cy="896112"/>
          </a:xfrm>
          <a:prstGeom prst="roundRect">
            <a:avLst>
              <a:gd name="adj" fmla="val 6122"/>
            </a:avLst>
          </a:prstGeom>
          <a:solidFill>
            <a:srgbClr val="FFFFFF"/>
          </a:solidFill>
          <a:ln w="12700">
            <a:solidFill>
              <a:srgbClr val="CFE9DA"/>
            </a:solidFill>
            <a:prstDash val="solid"/>
          </a:ln>
        </p:spPr>
      </p:sp>
      <p:sp>
        <p:nvSpPr>
          <p:cNvPr id="19" name="Text 17"/>
          <p:cNvSpPr/>
          <p:nvPr/>
        </p:nvSpPr>
        <p:spPr>
          <a:xfrm>
            <a:off x="6400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Existing operations</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(unchanged)</a:t>
            </a:r>
            <a:endParaRPr lang="en-US" sz="750" dirty="0"/>
          </a:p>
        </p:txBody>
      </p:sp>
      <p:sp>
        <p:nvSpPr>
          <p:cNvPr id="20" name="Shape 18"/>
          <p:cNvSpPr/>
          <p:nvPr/>
        </p:nvSpPr>
        <p:spPr>
          <a:xfrm>
            <a:off x="1993392" y="2642616"/>
            <a:ext cx="116586" cy="0"/>
          </a:xfrm>
          <a:prstGeom prst="line">
            <a:avLst/>
          </a:prstGeom>
          <a:noFill/>
          <a:ln w="15875">
            <a:solidFill>
              <a:srgbClr val="0E6B45"/>
            </a:solidFill>
            <a:prstDash val="solid"/>
            <a:tailEnd type="triangle"/>
          </a:ln>
        </p:spPr>
      </p:sp>
      <p:sp>
        <p:nvSpPr>
          <p:cNvPr id="21" name="Shape 19"/>
          <p:cNvSpPr/>
          <p:nvPr/>
        </p:nvSpPr>
        <p:spPr>
          <a:xfrm>
            <a:off x="2137410" y="2194560"/>
            <a:ext cx="1371600" cy="896112"/>
          </a:xfrm>
          <a:prstGeom prst="roundRect">
            <a:avLst>
              <a:gd name="adj" fmla="val 6122"/>
            </a:avLst>
          </a:prstGeom>
          <a:solidFill>
            <a:srgbClr val="FFFFFF"/>
          </a:solidFill>
          <a:ln w="12700">
            <a:solidFill>
              <a:srgbClr val="CFE9DA"/>
            </a:solidFill>
            <a:prstDash val="solid"/>
          </a:ln>
        </p:spPr>
      </p:sp>
      <p:sp>
        <p:nvSpPr>
          <p:cNvPr id="22" name="Text 20"/>
          <p:cNvSpPr/>
          <p:nvPr/>
        </p:nvSpPr>
        <p:spPr>
          <a:xfrm>
            <a:off x="21831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Architecture Assessor</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delivered system vs rulebook</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 domain map</a:t>
            </a:r>
            <a:endParaRPr lang="en-US" sz="750" dirty="0"/>
          </a:p>
        </p:txBody>
      </p:sp>
      <p:sp>
        <p:nvSpPr>
          <p:cNvPr id="23" name="Shape 21"/>
          <p:cNvSpPr/>
          <p:nvPr/>
        </p:nvSpPr>
        <p:spPr>
          <a:xfrm>
            <a:off x="3536442" y="2642616"/>
            <a:ext cx="116586" cy="0"/>
          </a:xfrm>
          <a:prstGeom prst="line">
            <a:avLst/>
          </a:prstGeom>
          <a:noFill/>
          <a:ln w="15875">
            <a:solidFill>
              <a:srgbClr val="0E6B45"/>
            </a:solidFill>
            <a:prstDash val="solid"/>
            <a:tailEnd type="triangle"/>
          </a:ln>
        </p:spPr>
      </p:sp>
      <p:sp>
        <p:nvSpPr>
          <p:cNvPr id="24" name="Shape 22"/>
          <p:cNvSpPr/>
          <p:nvPr/>
        </p:nvSpPr>
        <p:spPr>
          <a:xfrm>
            <a:off x="3680460" y="2194560"/>
            <a:ext cx="1371600" cy="896112"/>
          </a:xfrm>
          <a:prstGeom prst="roundRect">
            <a:avLst>
              <a:gd name="adj" fmla="val 6122"/>
            </a:avLst>
          </a:prstGeom>
          <a:solidFill>
            <a:srgbClr val="FFFFFF"/>
          </a:solidFill>
          <a:ln w="12700">
            <a:solidFill>
              <a:srgbClr val="CFE9DA"/>
            </a:solidFill>
            <a:prstDash val="solid"/>
          </a:ln>
        </p:spPr>
      </p:sp>
      <p:sp>
        <p:nvSpPr>
          <p:cNvPr id="25" name="Text 23"/>
          <p:cNvSpPr/>
          <p:nvPr/>
        </p:nvSpPr>
        <p:spPr>
          <a:xfrm>
            <a:off x="372618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findings.json</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rule ID · evidence · severity</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 context</a:t>
            </a:r>
            <a:endParaRPr lang="en-US" sz="750" dirty="0"/>
          </a:p>
        </p:txBody>
      </p:sp>
      <p:sp>
        <p:nvSpPr>
          <p:cNvPr id="26" name="Shape 24"/>
          <p:cNvSpPr/>
          <p:nvPr/>
        </p:nvSpPr>
        <p:spPr>
          <a:xfrm>
            <a:off x="5079492" y="2642616"/>
            <a:ext cx="116586" cy="0"/>
          </a:xfrm>
          <a:prstGeom prst="line">
            <a:avLst/>
          </a:prstGeom>
          <a:noFill/>
          <a:ln w="15875">
            <a:solidFill>
              <a:srgbClr val="0E6B45"/>
            </a:solidFill>
            <a:prstDash val="solid"/>
            <a:tailEnd type="triangle"/>
          </a:ln>
        </p:spPr>
      </p:sp>
      <p:sp>
        <p:nvSpPr>
          <p:cNvPr id="27" name="Shape 25"/>
          <p:cNvSpPr/>
          <p:nvPr/>
        </p:nvSpPr>
        <p:spPr>
          <a:xfrm>
            <a:off x="5223510" y="2194560"/>
            <a:ext cx="1371600" cy="896112"/>
          </a:xfrm>
          <a:prstGeom prst="roundRect">
            <a:avLst>
              <a:gd name="adj" fmla="val 6122"/>
            </a:avLst>
          </a:prstGeom>
          <a:solidFill>
            <a:srgbClr val="FFFFFF"/>
          </a:solidFill>
          <a:ln w="12700">
            <a:solidFill>
              <a:srgbClr val="CFE9DA"/>
            </a:solidFill>
            <a:prstDash val="solid"/>
          </a:ln>
        </p:spPr>
      </p:sp>
      <p:sp>
        <p:nvSpPr>
          <p:cNvPr id="28" name="Text 26"/>
          <p:cNvSpPr/>
          <p:nvPr/>
        </p:nvSpPr>
        <p:spPr>
          <a:xfrm>
            <a:off x="5269230" y="2240280"/>
            <a:ext cx="1280160" cy="804672"/>
          </a:xfrm>
          <a:prstGeom prst="rect">
            <a:avLst/>
          </a:prstGeom>
          <a:noFill/>
          <a:ln/>
        </p:spPr>
        <p:txBody>
          <a:bodyPr wrap="square" lIns="0" tIns="0" rIns="0" bIns="0" rtlCol="0" anchor="ctr"/>
          <a:lstStyle/>
          <a:p>
            <a:pPr algn="ctr" indent="0" marL="0">
              <a:buNone/>
            </a:pPr>
            <a:r>
              <a:rPr lang="en-US" sz="750" dirty="0">
                <a:solidFill>
                  <a:srgbClr val="1B2A24"/>
                </a:solidFill>
                <a:latin typeface="Arial" pitchFamily="34" charset="0"/>
                <a:ea typeface="Arial" pitchFamily="34" charset="-122"/>
                <a:cs typeface="Arial" pitchFamily="34" charset="-120"/>
              </a:rPr>
              <a:t>Proposer</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[PROPOSED] requirement /</a:t>
            </a:r>
            <a:endParaRPr lang="en-US" sz="750" dirty="0"/>
          </a:p>
          <a:p>
            <a:pPr algn="ctr" indent="0" marL="0">
              <a:buNone/>
            </a:pPr>
            <a:r>
              <a:rPr lang="en-US" sz="750" dirty="0">
                <a:solidFill>
                  <a:srgbClr val="1B2A24"/>
                </a:solidFill>
                <a:latin typeface="Arial" pitchFamily="34" charset="0"/>
                <a:ea typeface="Arial" pitchFamily="34" charset="-122"/>
                <a:cs typeface="Arial" pitchFamily="34" charset="-120"/>
              </a:rPr>
              <a:t>domain-map changes</a:t>
            </a:r>
            <a:endParaRPr lang="en-US" sz="750" dirty="0"/>
          </a:p>
        </p:txBody>
      </p:sp>
      <p:sp>
        <p:nvSpPr>
          <p:cNvPr id="29" name="Shape 27"/>
          <p:cNvSpPr/>
          <p:nvPr/>
        </p:nvSpPr>
        <p:spPr>
          <a:xfrm>
            <a:off x="6622542" y="2642616"/>
            <a:ext cx="116586" cy="0"/>
          </a:xfrm>
          <a:prstGeom prst="line">
            <a:avLst/>
          </a:prstGeom>
          <a:noFill/>
          <a:ln w="15875">
            <a:solidFill>
              <a:srgbClr val="0E6B45"/>
            </a:solidFill>
            <a:prstDash val="solid"/>
            <a:tailEnd type="triangle"/>
          </a:ln>
        </p:spPr>
      </p:sp>
      <p:sp>
        <p:nvSpPr>
          <p:cNvPr id="30" name="Shape 28"/>
          <p:cNvSpPr/>
          <p:nvPr/>
        </p:nvSpPr>
        <p:spPr>
          <a:xfrm>
            <a:off x="6766560" y="2194560"/>
            <a:ext cx="1371600" cy="896112"/>
          </a:xfrm>
          <a:prstGeom prst="roundRect">
            <a:avLst>
              <a:gd name="adj" fmla="val 6122"/>
            </a:avLst>
          </a:prstGeom>
          <a:solidFill>
            <a:srgbClr val="0E6B45"/>
          </a:solidFill>
          <a:ln w="12700">
            <a:solidFill>
              <a:srgbClr val="0E6B45"/>
            </a:solidFill>
            <a:prstDash val="solid"/>
          </a:ln>
        </p:spPr>
      </p:sp>
      <p:sp>
        <p:nvSpPr>
          <p:cNvPr id="31" name="Text 29"/>
          <p:cNvSpPr/>
          <p:nvPr/>
        </p:nvSpPr>
        <p:spPr>
          <a:xfrm>
            <a:off x="6812280" y="2240280"/>
            <a:ext cx="1280160" cy="804672"/>
          </a:xfrm>
          <a:prstGeom prst="rect">
            <a:avLst/>
          </a:prstGeom>
          <a:no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Findings accepted</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lead architect + owner</a:t>
            </a:r>
            <a:endParaRPr lang="en-US" sz="750" dirty="0"/>
          </a:p>
          <a:p>
            <a:pPr algn="ctr" indent="0" marL="0">
              <a:buNone/>
            </a:pPr>
            <a:r>
              <a:rPr lang="en-US" sz="750" b="1" dirty="0">
                <a:solidFill>
                  <a:srgbClr val="FFFFFF"/>
                </a:solidFill>
                <a:latin typeface="Arial" pitchFamily="34" charset="0"/>
                <a:ea typeface="Arial" pitchFamily="34" charset="-122"/>
                <a:cs typeface="Arial" pitchFamily="34" charset="-120"/>
              </a:rPr>
              <a:t>→ Step 1 / Step 0</a:t>
            </a:r>
            <a:endParaRPr lang="en-US" sz="750" dirty="0"/>
          </a:p>
        </p:txBody>
      </p:sp>
      <p:sp>
        <p:nvSpPr>
          <p:cNvPr id="32" name="Text 30"/>
          <p:cNvSpPr/>
          <p:nvPr/>
        </p:nvSpPr>
        <p:spPr>
          <a:xfrm>
            <a:off x="457200" y="3483864"/>
            <a:ext cx="45720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Agents &amp; tools on this step</a:t>
            </a:r>
            <a:endParaRPr lang="en-US" sz="950" dirty="0"/>
          </a:p>
        </p:txBody>
      </p:sp>
      <p:sp>
        <p:nvSpPr>
          <p:cNvPr id="33" name="Shape 31"/>
          <p:cNvSpPr/>
          <p:nvPr/>
        </p:nvSpPr>
        <p:spPr>
          <a:xfrm>
            <a:off x="457200" y="3758184"/>
            <a:ext cx="3771900" cy="1225296"/>
          </a:xfrm>
          <a:prstGeom prst="roundRect">
            <a:avLst>
              <a:gd name="adj" fmla="val 4478"/>
            </a:avLst>
          </a:prstGeom>
          <a:solidFill>
            <a:srgbClr val="FFFFFF"/>
          </a:solidFill>
          <a:ln w="9525">
            <a:solidFill>
              <a:srgbClr val="E9ECEA"/>
            </a:solidFill>
            <a:prstDash val="solid"/>
          </a:ln>
        </p:spPr>
      </p:sp>
      <p:sp>
        <p:nvSpPr>
          <p:cNvPr id="34" name="Text 32"/>
          <p:cNvSpPr/>
          <p:nvPr/>
        </p:nvSpPr>
        <p:spPr>
          <a:xfrm>
            <a:off x="2811780" y="3840480"/>
            <a:ext cx="1325880" cy="182880"/>
          </a:xfrm>
          <a:prstGeom prst="roundRect">
            <a:avLst>
              <a:gd name="adj" fmla="val 50000"/>
            </a:avLst>
          </a:prstGeom>
          <a:solidFill>
            <a:srgbClr val="6FBF95"/>
          </a:solidFill>
          <a:ln>
            <a:solidFill>
              <a:srgbClr val="6FBF95"/>
            </a:solidFill>
          </a:ln>
        </p:spPr>
        <p:txBody>
          <a:bodyPr wrap="square" lIns="0" tIns="0" rIns="0" bIns="0" rtlCol="0" anchor="ctr"/>
          <a:lstStyle/>
          <a:p>
            <a:pPr algn="ctr" indent="0" marL="0">
              <a:buNone/>
            </a:pPr>
            <a:r>
              <a:rPr lang="en-US" sz="650" b="1" dirty="0">
                <a:solidFill>
                  <a:srgbClr val="0B3F2C"/>
                </a:solidFill>
                <a:latin typeface="Arial" pitchFamily="34" charset="0"/>
                <a:ea typeface="Arial" pitchFamily="34" charset="-122"/>
                <a:cs typeface="Arial" pitchFamily="34" charset="-120"/>
              </a:rPr>
              <a:t>Spec Kit — nothing native here</a:t>
            </a:r>
            <a:endParaRPr lang="en-US" sz="650" dirty="0"/>
          </a:p>
        </p:txBody>
      </p:sp>
      <p:sp>
        <p:nvSpPr>
          <p:cNvPr id="35" name="Text 33"/>
          <p:cNvSpPr/>
          <p:nvPr/>
        </p:nvSpPr>
        <p:spPr>
          <a:xfrm>
            <a:off x="566928" y="3831336"/>
            <a:ext cx="217170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Spec Kit stops at implement</a:t>
            </a:r>
            <a:endParaRPr lang="en-US" sz="900" dirty="0"/>
          </a:p>
        </p:txBody>
      </p:sp>
      <p:sp>
        <p:nvSpPr>
          <p:cNvPr id="36" name="Text 34"/>
          <p:cNvSpPr/>
          <p:nvPr/>
        </p:nvSpPr>
        <p:spPr>
          <a:xfrm>
            <a:off x="56692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converge belongs to the implement loop (it appends unbuilt work for implement to finish); the first-party bug extension (assess → fix → test) reuses the same repo-side machinery. Neither touches operations — nothing here is Spec Kit coverage.</a:t>
            </a:r>
            <a:endParaRPr lang="en-US" sz="750" dirty="0"/>
          </a:p>
        </p:txBody>
      </p:sp>
      <p:sp>
        <p:nvSpPr>
          <p:cNvPr id="37" name="Shape 35"/>
          <p:cNvSpPr/>
          <p:nvPr/>
        </p:nvSpPr>
        <p:spPr>
          <a:xfrm>
            <a:off x="4503420" y="3758184"/>
            <a:ext cx="3771900" cy="1225296"/>
          </a:xfrm>
          <a:prstGeom prst="roundRect">
            <a:avLst>
              <a:gd name="adj" fmla="val 4478"/>
            </a:avLst>
          </a:prstGeom>
          <a:solidFill>
            <a:srgbClr val="FFFFFF"/>
          </a:solidFill>
          <a:ln w="9525">
            <a:solidFill>
              <a:srgbClr val="E9ECEA"/>
            </a:solidFill>
            <a:prstDash val="solid"/>
          </a:ln>
        </p:spPr>
      </p:sp>
      <p:sp>
        <p:nvSpPr>
          <p:cNvPr id="38" name="Text 36"/>
          <p:cNvSpPr/>
          <p:nvPr/>
        </p:nvSpPr>
        <p:spPr>
          <a:xfrm>
            <a:off x="7013448" y="3840480"/>
            <a:ext cx="1170432" cy="182880"/>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In-house — available</a:t>
            </a:r>
            <a:endParaRPr lang="en-US" sz="650" dirty="0"/>
          </a:p>
        </p:txBody>
      </p:sp>
      <p:sp>
        <p:nvSpPr>
          <p:cNvPr id="39" name="Text 37"/>
          <p:cNvSpPr/>
          <p:nvPr/>
        </p:nvSpPr>
        <p:spPr>
          <a:xfrm>
            <a:off x="4613148" y="3831336"/>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A7 · Architecture Assessor — available</a:t>
            </a:r>
            <a:endParaRPr lang="en-US" sz="900" dirty="0"/>
          </a:p>
        </p:txBody>
      </p:sp>
      <p:sp>
        <p:nvSpPr>
          <p:cNvPr id="40" name="Text 38"/>
          <p:cNvSpPr/>
          <p:nvPr/>
        </p:nvSpPr>
        <p:spPr>
          <a:xfrm>
            <a:off x="4613148" y="4215384"/>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Existing agent, promoted between 7 and 1: reviews the delivered system against the architecture standards (the same skills repository behind A3 / A4) plus the domain map, and emits findings with rule ID, evidence, severity and context — the input for the Proposer.</a:t>
            </a:r>
            <a:endParaRPr lang="en-US" sz="750" dirty="0"/>
          </a:p>
        </p:txBody>
      </p:sp>
      <p:sp>
        <p:nvSpPr>
          <p:cNvPr id="41" name="Shape 39"/>
          <p:cNvSpPr/>
          <p:nvPr/>
        </p:nvSpPr>
        <p:spPr>
          <a:xfrm>
            <a:off x="457200" y="5093208"/>
            <a:ext cx="3771900" cy="1225296"/>
          </a:xfrm>
          <a:prstGeom prst="roundRect">
            <a:avLst>
              <a:gd name="adj" fmla="val 4478"/>
            </a:avLst>
          </a:prstGeom>
          <a:solidFill>
            <a:srgbClr val="FFFFFF"/>
          </a:solidFill>
          <a:ln w="9525">
            <a:solidFill>
              <a:srgbClr val="E9ECEA"/>
            </a:solidFill>
            <a:prstDash val="solid"/>
          </a:ln>
        </p:spPr>
      </p:sp>
      <p:sp>
        <p:nvSpPr>
          <p:cNvPr id="42" name="Text 40"/>
          <p:cNvSpPr/>
          <p:nvPr/>
        </p:nvSpPr>
        <p:spPr>
          <a:xfrm>
            <a:off x="2967228" y="5175504"/>
            <a:ext cx="1170432" cy="182880"/>
          </a:xfrm>
          <a:prstGeom prst="roundRect">
            <a:avLst>
              <a:gd name="adj" fmla="val 50000"/>
            </a:avLst>
          </a:prstGeom>
          <a:solidFill>
            <a:srgbClr val="3E4F48"/>
          </a:solidFill>
          <a:ln>
            <a:solidFill>
              <a:srgbClr val="3E4F48"/>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Ecosystem pattern</a:t>
            </a:r>
            <a:endParaRPr lang="en-US" sz="650" dirty="0"/>
          </a:p>
        </p:txBody>
      </p:sp>
      <p:sp>
        <p:nvSpPr>
          <p:cNvPr id="43" name="Text 41"/>
          <p:cNvSpPr/>
          <p:nvPr/>
        </p:nvSpPr>
        <p:spPr>
          <a:xfrm>
            <a:off x="56692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architecture-guard · retrospective · sync / reconcile</a:t>
            </a:r>
            <a:endParaRPr lang="en-US" sz="900" dirty="0"/>
          </a:p>
        </p:txBody>
      </p:sp>
      <p:sp>
        <p:nvSpPr>
          <p:cNvPr id="44" name="Text 42"/>
          <p:cNvSpPr/>
          <p:nvPr/>
        </p:nvSpPr>
        <p:spPr>
          <a:xfrm>
            <a:off x="56692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Architectural drift detection with refactor tasks; spec adherence scoring with human-gated spec updates; spec ↔ code drift resolution — patterns for what the Assessor and the Proposer do, none of them the Assessor itself.</a:t>
            </a:r>
            <a:endParaRPr lang="en-US" sz="750" dirty="0"/>
          </a:p>
        </p:txBody>
      </p:sp>
      <p:sp>
        <p:nvSpPr>
          <p:cNvPr id="45" name="Shape 43"/>
          <p:cNvSpPr/>
          <p:nvPr/>
        </p:nvSpPr>
        <p:spPr>
          <a:xfrm>
            <a:off x="4503420" y="5093208"/>
            <a:ext cx="3771900" cy="1225296"/>
          </a:xfrm>
          <a:prstGeom prst="roundRect">
            <a:avLst>
              <a:gd name="adj" fmla="val 4478"/>
            </a:avLst>
          </a:prstGeom>
          <a:solidFill>
            <a:srgbClr val="FFFFFF"/>
          </a:solidFill>
          <a:ln w="9525">
            <a:solidFill>
              <a:srgbClr val="E9ECEA"/>
            </a:solidFill>
            <a:prstDash val="solid"/>
          </a:ln>
        </p:spPr>
      </p:sp>
      <p:sp>
        <p:nvSpPr>
          <p:cNvPr id="46" name="Text 44"/>
          <p:cNvSpPr/>
          <p:nvPr/>
        </p:nvSpPr>
        <p:spPr>
          <a:xfrm>
            <a:off x="7013448" y="5175504"/>
            <a:ext cx="1170432"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Missing → to build</a:t>
            </a:r>
            <a:endParaRPr lang="en-US" sz="650" dirty="0"/>
          </a:p>
        </p:txBody>
      </p:sp>
      <p:sp>
        <p:nvSpPr>
          <p:cNvPr id="47" name="Text 45"/>
          <p:cNvSpPr/>
          <p:nvPr/>
        </p:nvSpPr>
        <p:spPr>
          <a:xfrm>
            <a:off x="4613148" y="5166360"/>
            <a:ext cx="2354580" cy="384048"/>
          </a:xfrm>
          <a:prstGeom prst="rect">
            <a:avLst/>
          </a:prstGeom>
          <a:noFill/>
          <a:ln/>
        </p:spPr>
        <p:txBody>
          <a:bodyPr wrap="square" lIns="0" tIns="0" rIns="0" bIns="0" rtlCol="0" anchor="t"/>
          <a:lstStyle/>
          <a:p>
            <a:pPr indent="0" marL="0">
              <a:buNone/>
            </a:pPr>
            <a:r>
              <a:rPr lang="en-US" sz="900" b="1" dirty="0">
                <a:solidFill>
                  <a:srgbClr val="0B3F2C"/>
                </a:solidFill>
                <a:latin typeface="Arial" pitchFamily="34" charset="0"/>
                <a:ea typeface="Arial" pitchFamily="34" charset="-122"/>
                <a:cs typeface="Arial" pitchFamily="34" charset="-120"/>
              </a:rPr>
              <a:t>Proposer + re-entry workflow + waiver ledger (A7 → A1)</a:t>
            </a:r>
            <a:endParaRPr lang="en-US" sz="900" dirty="0"/>
          </a:p>
        </p:txBody>
      </p:sp>
      <p:sp>
        <p:nvSpPr>
          <p:cNvPr id="48" name="Text 46"/>
          <p:cNvSpPr/>
          <p:nvPr/>
        </p:nvSpPr>
        <p:spPr>
          <a:xfrm>
            <a:off x="4613148" y="5550408"/>
            <a:ext cx="3552444" cy="722376"/>
          </a:xfrm>
          <a:prstGeom prst="rect">
            <a:avLst/>
          </a:prstGeom>
          <a:noFill/>
          <a:ln/>
        </p:spPr>
        <p:txBody>
          <a:bodyPr wrap="square" lIns="0" tIns="0" rIns="0" bIns="0" rtlCol="0" anchor="t"/>
          <a:lstStyle/>
          <a:p>
            <a:pPr indent="0" marL="0">
              <a:buNone/>
            </a:pPr>
            <a:r>
              <a:rPr lang="en-US" sz="750" dirty="0">
                <a:solidFill>
                  <a:srgbClr val="1B2A24"/>
                </a:solidFill>
                <a:latin typeface="Arial" pitchFamily="34" charset="0"/>
                <a:ea typeface="Arial" pitchFamily="34" charset="-122"/>
                <a:cs typeface="Arial" pitchFamily="34" charset="-120"/>
              </a:rPr>
              <a:t>speckit.arch.propose: findings → [PROPOSED] changes with trace to rule and evidence, filed in the requirements repository or as a domain change request; workflow: if findings &gt; 0 → propose → human gate → Step 1 (A1) / Step 0 (A0); waivers with owner and expiry, expired waivers reopen findings.</a:t>
            </a:r>
            <a:endParaRPr lang="en-US" sz="750" dirty="0"/>
          </a:p>
        </p:txBody>
      </p:sp>
      <p:sp>
        <p:nvSpPr>
          <p:cNvPr id="49" name="Shape 47"/>
          <p:cNvSpPr/>
          <p:nvPr/>
        </p:nvSpPr>
        <p:spPr>
          <a:xfrm>
            <a:off x="8503920" y="1783080"/>
            <a:ext cx="3246120" cy="4617720"/>
          </a:xfrm>
          <a:prstGeom prst="roundRect">
            <a:avLst>
              <a:gd name="adj" fmla="val 2254"/>
            </a:avLst>
          </a:prstGeom>
          <a:solidFill>
            <a:srgbClr val="EAF5EE"/>
          </a:solidFill>
          <a:ln w="12700">
            <a:solidFill>
              <a:srgbClr val="EAF5EE"/>
            </a:solidFill>
            <a:prstDash val="solid"/>
          </a:ln>
        </p:spPr>
      </p:sp>
      <p:sp>
        <p:nvSpPr>
          <p:cNvPr id="50" name="Text 48"/>
          <p:cNvSpPr/>
          <p:nvPr/>
        </p:nvSpPr>
        <p:spPr>
          <a:xfrm>
            <a:off x="8613648" y="1892808"/>
            <a:ext cx="3026664" cy="566928"/>
          </a:xfrm>
          <a:prstGeom prst="roundRect">
            <a:avLst>
              <a:gd name="adj" fmla="val 9677"/>
            </a:avLst>
          </a:prstGeom>
          <a:solidFill>
            <a:srgbClr val="3E4F48"/>
          </a:solidFill>
          <a:ln>
            <a:solidFill>
              <a:srgbClr val="3E4F48"/>
            </a:solidFill>
          </a:ln>
        </p:spPr>
        <p:txBody>
          <a:bodyPr wrap="square" lIns="25400" tIns="76200" rIns="76200" bIns="25400" rtlCol="0" anchor="ctr"/>
          <a:lstStyle/>
          <a:p>
            <a:pPr algn="ctr" indent="0" marL="0">
              <a:buNone/>
            </a:pPr>
            <a:r>
              <a:rPr lang="en-US" sz="750" b="1" dirty="0">
                <a:solidFill>
                  <a:srgbClr val="CFE9DA"/>
                </a:solidFill>
                <a:latin typeface="Arial" pitchFamily="34" charset="0"/>
                <a:ea typeface="Arial" pitchFamily="34" charset="-122"/>
                <a:cs typeface="Arial" pitchFamily="34" charset="-120"/>
              </a:rPr>
              <a:t>HUMAN DECISION AT THE BOUNDARY</a:t>
            </a:r>
            <a:endParaRPr lang="en-US" sz="750" dirty="0"/>
          </a:p>
          <a:p>
            <a:pPr algn="ctr" indent="0" marL="0">
              <a:buNone/>
            </a:pPr>
            <a:r>
              <a:rPr lang="en-US" sz="1050" b="1" dirty="0">
                <a:solidFill>
                  <a:srgbClr val="FFFFFF"/>
                </a:solidFill>
                <a:latin typeface="Arial" pitchFamily="34" charset="0"/>
                <a:ea typeface="Arial" pitchFamily="34" charset="-122"/>
                <a:cs typeface="Arial" pitchFamily="34" charset="-120"/>
              </a:rPr>
              <a:t>Findings accepted into Requirements / domain change</a:t>
            </a:r>
            <a:endParaRPr lang="en-US" sz="750" dirty="0"/>
          </a:p>
        </p:txBody>
      </p:sp>
      <p:sp>
        <p:nvSpPr>
          <p:cNvPr id="51" name="Text 49"/>
          <p:cNvSpPr/>
          <p:nvPr/>
        </p:nvSpPr>
        <p:spPr>
          <a:xfrm>
            <a:off x="8641080" y="2532888"/>
            <a:ext cx="2971800" cy="384048"/>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By: </a:t>
            </a:r>
            <a:pPr indent="0" marL="0">
              <a:buNone/>
            </a:pPr>
            <a:r>
              <a:rPr lang="en-US" sz="800" dirty="0">
                <a:solidFill>
                  <a:srgbClr val="1B2A24"/>
                </a:solidFill>
                <a:latin typeface="Arial" pitchFamily="34" charset="0"/>
                <a:ea typeface="Arial" pitchFamily="34" charset="-122"/>
                <a:cs typeface="Arial" pitchFamily="34" charset="-120"/>
              </a:rPr>
              <a:t>lead architect together with the business owner of the context</a:t>
            </a:r>
            <a:endParaRPr lang="en-US" sz="800" dirty="0"/>
          </a:p>
        </p:txBody>
      </p:sp>
      <p:sp>
        <p:nvSpPr>
          <p:cNvPr id="52" name="Text 50"/>
          <p:cNvSpPr/>
          <p:nvPr/>
        </p:nvSpPr>
        <p:spPr>
          <a:xfrm>
            <a:off x="8641080" y="2953512"/>
            <a:ext cx="2971800" cy="182880"/>
          </a:xfrm>
          <a:prstGeom prst="rect">
            <a:avLst/>
          </a:prstGeom>
          <a:noFill/>
          <a:ln/>
        </p:spPr>
        <p:txBody>
          <a:bodyPr wrap="square" lIns="0" tIns="0" rIns="0" bIns="0" rtlCol="0" anchor="t"/>
          <a:lstStyle/>
          <a:p>
            <a:pPr indent="0" marL="0">
              <a:buNone/>
            </a:pPr>
            <a:r>
              <a:rPr lang="en-US" sz="850" b="1" dirty="0">
                <a:solidFill>
                  <a:srgbClr val="0B3F2C"/>
                </a:solidFill>
                <a:latin typeface="Arial" pitchFamily="34" charset="0"/>
                <a:ea typeface="Arial" pitchFamily="34" charset="-122"/>
                <a:cs typeface="Arial" pitchFamily="34" charset="-120"/>
              </a:rPr>
              <a:t>Guardrails inside the step (scripted checks)</a:t>
            </a:r>
            <a:endParaRPr lang="en-US" sz="850" dirty="0"/>
          </a:p>
        </p:txBody>
      </p:sp>
      <p:sp>
        <p:nvSpPr>
          <p:cNvPr id="53" name="Text 51"/>
          <p:cNvSpPr/>
          <p:nvPr/>
        </p:nvSpPr>
        <p:spPr>
          <a:xfrm>
            <a:off x="8641080" y="3154680"/>
            <a:ext cx="2971800" cy="1143000"/>
          </a:xfrm>
          <a:prstGeom prst="rect">
            <a:avLst/>
          </a:prstGeom>
          <a:noFill/>
          <a:ln/>
        </p:spPr>
        <p:txBody>
          <a:bodyPr wrap="square" lIns="0" tIns="0" rIns="0" bIns="0" rtlCol="0" anchor="t"/>
          <a:lstStyle/>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every finding carries rule ID + evidence + context</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proposals never touch a spec directly — they enter the requirements repository or Step 0</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waivers have owner + expiry; expired waivers reopen findings</a:t>
            </a:r>
            <a:endParaRPr lang="en-US" sz="800" dirty="0"/>
          </a:p>
          <a:p>
            <a:pPr marL="152400" indent="-152400">
              <a:spcAft>
                <a:spcPts val="200"/>
              </a:spcAft>
              <a:buSzPct val="100000"/>
              <a:buChar char="✓"/>
            </a:pPr>
            <a:r>
              <a:rPr lang="en-US" sz="800" dirty="0">
                <a:solidFill>
                  <a:srgbClr val="1B2A24"/>
                </a:solidFill>
                <a:latin typeface="Arial" pitchFamily="34" charset="0"/>
                <a:ea typeface="Arial" pitchFamily="34" charset="-122"/>
                <a:cs typeface="Arial" pitchFamily="34" charset="-120"/>
              </a:rPr>
              <a:t>operations untouched: the Assessor reads, it does not change</a:t>
            </a:r>
            <a:endParaRPr lang="en-US" sz="800" dirty="0"/>
          </a:p>
        </p:txBody>
      </p:sp>
      <p:sp>
        <p:nvSpPr>
          <p:cNvPr id="54" name="Text 52"/>
          <p:cNvSpPr/>
          <p:nvPr/>
        </p:nvSpPr>
        <p:spPr>
          <a:xfrm>
            <a:off x="8641080" y="4297680"/>
            <a:ext cx="2971800" cy="219456"/>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A7 · Architecture Assessor — available</a:t>
            </a:r>
            <a:endParaRPr lang="en-US" sz="750" dirty="0"/>
          </a:p>
        </p:txBody>
      </p:sp>
      <p:sp>
        <p:nvSpPr>
          <p:cNvPr id="55" name="Text 53"/>
          <p:cNvSpPr/>
          <p:nvPr/>
        </p:nvSpPr>
        <p:spPr>
          <a:xfrm>
            <a:off x="8613648" y="4599432"/>
            <a:ext cx="3026664" cy="274320"/>
          </a:xfrm>
          <a:prstGeom prst="roundRect">
            <a:avLst>
              <a:gd name="adj" fmla="val 20000"/>
            </a:avLst>
          </a:prstGeom>
          <a:solidFill>
            <a:srgbClr val="B23A32"/>
          </a:solidFill>
          <a:ln>
            <a:solidFill>
              <a:srgbClr val="B23A32"/>
            </a:solidFill>
          </a:ln>
        </p:spPr>
        <p:txBody>
          <a:bodyPr wrap="square" lIns="0" tIns="0" rIns="0" bIns="0"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MISSING → to build for the guardrails</a:t>
            </a:r>
            <a:endParaRPr lang="en-US" sz="850" dirty="0"/>
          </a:p>
        </p:txBody>
      </p:sp>
      <p:sp>
        <p:nvSpPr>
          <p:cNvPr id="56" name="Text 54"/>
          <p:cNvSpPr/>
          <p:nvPr/>
        </p:nvSpPr>
        <p:spPr>
          <a:xfrm>
            <a:off x="8641080" y="4946904"/>
            <a:ext cx="2971800" cy="1371600"/>
          </a:xfrm>
          <a:prstGeom prst="rect">
            <a:avLst/>
          </a:prstGeom>
          <a:noFill/>
          <a:ln/>
        </p:spPr>
        <p:txBody>
          <a:bodyPr wrap="square" lIns="0" tIns="0" rIns="0" bIns="0" rtlCol="0" anchor="t"/>
          <a:lstStyle/>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Proposer: findings → [PROPOSED] requirement / domain changes</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Re-entry workflow with the human gate (accept / reject)</a:t>
            </a:r>
            <a:endParaRPr lang="en-US" sz="800" dirty="0"/>
          </a:p>
          <a:p>
            <a:pPr marL="152400" indent="-152400">
              <a:spcAft>
                <a:spcPts val="300"/>
              </a:spcAft>
              <a:buSzPct val="100000"/>
              <a:buChar char="✗"/>
            </a:pPr>
            <a:r>
              <a:rPr lang="en-US" sz="800" dirty="0">
                <a:solidFill>
                  <a:srgbClr val="1B2A24"/>
                </a:solidFill>
                <a:latin typeface="Arial" pitchFamily="34" charset="0"/>
                <a:ea typeface="Arial" pitchFamily="34" charset="-122"/>
                <a:cs typeface="Arial" pitchFamily="34" charset="-120"/>
              </a:rPr>
              <a:t>Waiver ledger with expiry; KPI view (conformance, findings aging, waiver debt)</a:t>
            </a:r>
            <a:endParaRPr lang="en-US" sz="800" dirty="0"/>
          </a:p>
        </p:txBody>
      </p:sp>
      <p:sp>
        <p:nvSpPr>
          <p:cNvPr id="57" name="Text 55"/>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ShAIping → Spec Kit — a formal handover, not a prompt (integration built)</a:t>
            </a:r>
            <a:endParaRPr lang="en-US" sz="2400" dirty="0"/>
          </a:p>
        </p:txBody>
      </p:sp>
      <p:sp>
        <p:nvSpPr>
          <p:cNvPr id="3" name="Text 1"/>
          <p:cNvSpPr/>
          <p:nvPr/>
        </p:nvSpPr>
        <p:spPr>
          <a:xfrm>
            <a:off x="457200" y="804672"/>
            <a:ext cx="11247120" cy="365760"/>
          </a:xfrm>
          <a:prstGeom prst="rect">
            <a:avLst/>
          </a:prstGeom>
          <a:noFill/>
          <a:ln/>
        </p:spPr>
        <p:txBody>
          <a:bodyPr wrap="square" lIns="0" tIns="0" rIns="0" bIns="0" rtlCol="0" anchor="t"/>
          <a:lstStyle/>
          <a:p>
            <a:pPr indent="0" marL="0">
              <a:buNone/>
            </a:pPr>
            <a:r>
              <a:rPr lang="en-US" sz="1100" dirty="0">
                <a:solidFill>
                  <a:srgbClr val="5F6B66"/>
                </a:solidFill>
                <a:latin typeface="Arial" pitchFamily="34" charset="0"/>
                <a:ea typeface="Arial" pitchFamily="34" charset="-122"/>
                <a:cs typeface="Arial" pitchFamily="34" charset="-120"/>
              </a:rPr>
              <a:t>ShAIping stays the golden source of the specification and keeps its scripted checks; the built integration transforms the whole specification into Spec Kit format, so plan / tasks / implement work on exactly what the BA signed. What remains is confirming the contract test, handover record and hash check.</a:t>
            </a:r>
            <a:endParaRPr lang="en-US" sz="1100" dirty="0"/>
          </a:p>
        </p:txBody>
      </p:sp>
      <p:sp>
        <p:nvSpPr>
          <p:cNvPr id="4" name="Text 2"/>
          <p:cNvSpPr/>
          <p:nvPr/>
        </p:nvSpPr>
        <p:spPr>
          <a:xfrm>
            <a:off x="457200" y="1371600"/>
            <a:ext cx="667512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Mapping contract (proposal — ShAIping’s schema decides the final columns)</a:t>
            </a:r>
            <a:endParaRPr lang="en-US" sz="9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627632"/>
          <a:ext cx="6675120" cy="914400"/>
        </p:xfrm>
        <a:graphic>
          <a:graphicData uri="http://schemas.openxmlformats.org/drawingml/2006/table">
            <a:tbl>
              <a:tblPr/>
              <a:tblGrid>
                <a:gridCol w="1828800"/>
                <a:gridCol w="2011680"/>
                <a:gridCol w="2834640"/>
              </a:tblGrid>
              <a:tr h="256032">
                <a:tc>
                  <a:txBody>
                    <a:bodyPr/>
                    <a:lstStyle/>
                    <a:p>
                      <a:pPr indent="0" marL="0">
                        <a:buNone/>
                      </a:pPr>
                      <a:r>
                        <a:rPr lang="en-US" sz="850" b="1" dirty="0">
                          <a:solidFill>
                            <a:srgbClr val="FFFFFF"/>
                          </a:solidFill>
                          <a:latin typeface="Arial" pitchFamily="34" charset="0"/>
                          <a:ea typeface="Arial" pitchFamily="34" charset="-122"/>
                          <a:cs typeface="Arial" pitchFamily="34" charset="-120"/>
                        </a:rPr>
                        <a:t>ShAIping (corporate spec)</a:t>
                      </a:r>
                      <a:endParaRPr lang="en-US" sz="85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Spec Kit spec.md</a:t>
                      </a:r>
                      <a:endParaRPr lang="en-US" sz="85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Rule of the contract</a:t>
                      </a:r>
                      <a:endParaRPr lang="en-US" sz="85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r>
              <a:tr h="457200">
                <a:tc>
                  <a:txBody>
                    <a:bodyPr/>
                    <a:lstStyle/>
                    <a:p>
                      <a:pPr indent="0" marL="0">
                        <a:buNone/>
                      </a:pPr>
                      <a:r>
                        <a:rPr lang="en-US" sz="750" b="1" dirty="0">
                          <a:solidFill>
                            <a:srgbClr val="0B3F2C"/>
                          </a:solidFill>
                          <a:latin typeface="Arial" pitchFamily="34" charset="0"/>
                          <a:ea typeface="Arial" pitchFamily="34" charset="-122"/>
                          <a:cs typeface="Arial" pitchFamily="34" charset="-120"/>
                        </a:rPr>
                        <a:t>UC — use case</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User Story (P1 · P2 · P3)</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one story per use case; priority from business value; “Independent Test” filled from the scenarios</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457200">
                <a:tc>
                  <a:txBody>
                    <a:bodyPr/>
                    <a:lstStyle/>
                    <a:p>
                      <a:pPr indent="0" marL="0">
                        <a:buNone/>
                      </a:pPr>
                      <a:r>
                        <a:rPr lang="en-US" sz="750" b="1" dirty="0">
                          <a:solidFill>
                            <a:srgbClr val="0B3F2C"/>
                          </a:solidFill>
                          <a:latin typeface="Arial" pitchFamily="34" charset="0"/>
                          <a:ea typeface="Arial" pitchFamily="34" charset="-122"/>
                          <a:cs typeface="Arial" pitchFamily="34" charset="-120"/>
                        </a:rPr>
                        <a:t>SC — scenario</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Acceptance Scenario (Given / When / Then)</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every scenario appears under its use case’s story; alternate and exception paths kept</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457200">
                <a:tc>
                  <a:txBody>
                    <a:bodyPr/>
                    <a:lstStyle/>
                    <a:p>
                      <a:pPr indent="0" marL="0">
                        <a:buNone/>
                      </a:pPr>
                      <a:r>
                        <a:rPr lang="en-US" sz="750" b="1" dirty="0">
                          <a:solidFill>
                            <a:srgbClr val="0B3F2C"/>
                          </a:solidFill>
                          <a:latin typeface="Arial" pitchFamily="34" charset="0"/>
                          <a:ea typeface="Arial" pitchFamily="34" charset="-122"/>
                          <a:cs typeface="Arial" pitchFamily="34" charset="-120"/>
                        </a:rPr>
                        <a:t>AC — acceptance</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acceptance criteria lines + checklist items</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measurable wording preserved; feeds the requirements checklist</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457200">
                <a:tc>
                  <a:txBody>
                    <a:bodyPr/>
                    <a:lstStyle/>
                    <a:p>
                      <a:pPr indent="0" marL="0">
                        <a:buNone/>
                      </a:pPr>
                      <a:r>
                        <a:rPr lang="en-US" sz="750" b="1" dirty="0">
                          <a:solidFill>
                            <a:srgbClr val="0B3F2C"/>
                          </a:solidFill>
                          <a:latin typeface="Arial" pitchFamily="34" charset="0"/>
                          <a:ea typeface="Arial" pitchFamily="34" charset="-122"/>
                          <a:cs typeface="Arial" pitchFamily="34" charset="-120"/>
                        </a:rPr>
                        <a:t>BR — business rule</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Functional Requirement FR-###</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“shall” form, single condition, testable; ID kept in a Traces-to field</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457200">
                <a:tc>
                  <a:txBody>
                    <a:bodyPr/>
                    <a:lstStyle/>
                    <a:p>
                      <a:pPr indent="0" marL="0">
                        <a:buNone/>
                      </a:pPr>
                      <a:r>
                        <a:rPr lang="en-US" sz="750" b="1" dirty="0">
                          <a:solidFill>
                            <a:srgbClr val="0B3F2C"/>
                          </a:solidFill>
                          <a:latin typeface="Arial" pitchFamily="34" charset="0"/>
                          <a:ea typeface="Arial" pitchFamily="34" charset="-122"/>
                          <a:cs typeface="Arial" pitchFamily="34" charset="-120"/>
                        </a:rPr>
                        <a:t>D — data / glossary</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Key Entities (+ data-model input)</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entities named with the context glossary; no invented attributes</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457200">
                <a:tc>
                  <a:txBody>
                    <a:bodyPr/>
                    <a:lstStyle/>
                    <a:p>
                      <a:pPr indent="0" marL="0">
                        <a:buNone/>
                      </a:pPr>
                      <a:r>
                        <a:rPr lang="en-US" sz="750" b="1" dirty="0">
                          <a:solidFill>
                            <a:srgbClr val="0B3F2C"/>
                          </a:solidFill>
                          <a:latin typeface="Arial" pitchFamily="34" charset="0"/>
                          <a:ea typeface="Arial" pitchFamily="34" charset="-122"/>
                          <a:cs typeface="Arial" pitchFamily="34" charset="-120"/>
                        </a:rPr>
                        <a:t>NFR</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Success Criteria SC-###</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measurable, technology-agnostic; allocated later by the architecture rulebook</a:t>
                      </a:r>
                      <a:endParaRPr lang="en-US" sz="750" dirty="0">
                        <a:latin typeface="Arial" charset="0"/>
                        <a:ea typeface="Arial" charset="0"/>
                        <a:cs typeface="Arial" charset="0"/>
                      </a:endParaRPr>
                    </a:p>
                  </a:txBody>
                  <a:tcPr marL="63500" marR="63500" marT="38100" marB="381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bl>
          </a:graphicData>
        </a:graphic>
      </p:graphicFrame>
      <p:sp>
        <p:nvSpPr>
          <p:cNvPr id="6" name="Shape 3"/>
          <p:cNvSpPr/>
          <p:nvPr/>
        </p:nvSpPr>
        <p:spPr>
          <a:xfrm>
            <a:off x="457200" y="4892040"/>
            <a:ext cx="6675120" cy="1463040"/>
          </a:xfrm>
          <a:prstGeom prst="roundRect">
            <a:avLst>
              <a:gd name="adj" fmla="val 5000"/>
            </a:avLst>
          </a:prstGeom>
          <a:solidFill>
            <a:srgbClr val="EAF5EE"/>
          </a:solidFill>
          <a:ln w="12700">
            <a:solidFill>
              <a:srgbClr val="EAF5EE"/>
            </a:solidFill>
            <a:prstDash val="solid"/>
          </a:ln>
        </p:spPr>
      </p:sp>
      <p:sp>
        <p:nvSpPr>
          <p:cNvPr id="7" name="Text 4"/>
          <p:cNvSpPr/>
          <p:nvPr/>
        </p:nvSpPr>
        <p:spPr>
          <a:xfrm>
            <a:off x="594360" y="4956048"/>
            <a:ext cx="640080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How the handover runs (all scripted, all recorded)</a:t>
            </a:r>
            <a:endParaRPr lang="en-US" sz="950" dirty="0"/>
          </a:p>
        </p:txBody>
      </p:sp>
      <p:sp>
        <p:nvSpPr>
          <p:cNvPr id="8" name="Text 5"/>
          <p:cNvSpPr/>
          <p:nvPr/>
        </p:nvSpPr>
        <p:spPr>
          <a:xfrm>
            <a:off x="594360" y="5193792"/>
            <a:ext cx="6400800" cy="1143000"/>
          </a:xfrm>
          <a:prstGeom prst="rect">
            <a:avLst/>
          </a:prstGeom>
          <a:noFill/>
          <a:ln/>
        </p:spPr>
        <p:txBody>
          <a:bodyPr wrap="square" lIns="0" tIns="0" rIns="0" bIns="0" rtlCol="0" anchor="t"/>
          <a:lstStyle/>
          <a:p>
            <a:pPr indent="0" marL="0">
              <a:buNone/>
            </a:pPr>
            <a:r>
              <a:rPr lang="en-US" sz="800" b="1" dirty="0">
                <a:solidFill>
                  <a:srgbClr val="0E6B45"/>
                </a:solidFill>
                <a:latin typeface="Arial" pitchFamily="34" charset="0"/>
                <a:ea typeface="Arial" pitchFamily="34" charset="-122"/>
                <a:cs typeface="Arial" pitchFamily="34" charset="-120"/>
              </a:rPr>
              <a:t>1 </a:t>
            </a:r>
            <a:pPr indent="0" marL="0">
              <a:buNone/>
            </a:pPr>
            <a:r>
              <a:rPr lang="en-US" sz="800" dirty="0">
                <a:solidFill>
                  <a:srgbClr val="1B2A24"/>
                </a:solidFill>
                <a:latin typeface="Arial" pitchFamily="34" charset="0"/>
                <a:ea typeface="Arial" pitchFamily="34" charset="-122"/>
                <a:cs typeface="Arial" pitchFamily="34" charset="-120"/>
              </a:rPr>
              <a:t>ShAIping checks pass (FAIL blocks).  </a:t>
            </a:r>
            <a:pPr indent="0" marL="0">
              <a:buNone/>
            </a:pPr>
            <a:r>
              <a:rPr lang="en-US" sz="800" b="1" dirty="0">
                <a:solidFill>
                  <a:srgbClr val="0E6B45"/>
                </a:solidFill>
                <a:latin typeface="Arial" pitchFamily="34" charset="0"/>
                <a:ea typeface="Arial" pitchFamily="34" charset="-122"/>
                <a:cs typeface="Arial" pitchFamily="34" charset="-120"/>
              </a:rPr>
              <a:t>2 </a:t>
            </a:r>
            <a:pPr indent="0" marL="0">
              <a:buNone/>
            </a:pPr>
            <a:r>
              <a:rPr lang="en-US" sz="800" dirty="0">
                <a:solidFill>
                  <a:srgbClr val="1B2A24"/>
                </a:solidFill>
                <a:latin typeface="Arial" pitchFamily="34" charset="0"/>
                <a:ea typeface="Arial" pitchFamily="34" charset="-122"/>
                <a:cs typeface="Arial" pitchFamily="34" charset="-120"/>
              </a:rPr>
              <a:t>Export → the handover script creates the feature (Spec Kit’s create-feature script) and writes spec.md from the spec template + corporate addendum (preset).  </a:t>
            </a:r>
            <a:pPr indent="0" marL="0">
              <a:buNone/>
            </a:pPr>
            <a:r>
              <a:rPr lang="en-US" sz="800" b="1" dirty="0">
                <a:solidFill>
                  <a:srgbClr val="0E6B45"/>
                </a:solidFill>
                <a:latin typeface="Arial" pitchFamily="34" charset="0"/>
                <a:ea typeface="Arial" pitchFamily="34" charset="-122"/>
                <a:cs typeface="Arial" pitchFamily="34" charset="-120"/>
              </a:rPr>
              <a:t>3 </a:t>
            </a:r>
            <a:pPr indent="0" marL="0">
              <a:buNone/>
            </a:pPr>
            <a:r>
              <a:rPr lang="en-US" sz="800" dirty="0">
                <a:solidFill>
                  <a:srgbClr val="1B2A24"/>
                </a:solidFill>
                <a:latin typeface="Arial" pitchFamily="34" charset="0"/>
                <a:ea typeface="Arial" pitchFamily="34" charset="-122"/>
                <a:cs typeface="Arial" pitchFamily="34" charset="-120"/>
              </a:rPr>
              <a:t>Contract test: 100 % of items mapped, none invented, IDs unique, glossary terms consistent, domain-map version pinned.  </a:t>
            </a:r>
            <a:pPr indent="0" marL="0">
              <a:buNone/>
            </a:pPr>
            <a:r>
              <a:rPr lang="en-US" sz="800" b="1" dirty="0">
                <a:solidFill>
                  <a:srgbClr val="0E6B45"/>
                </a:solidFill>
                <a:latin typeface="Arial" pitchFamily="34" charset="0"/>
                <a:ea typeface="Arial" pitchFamily="34" charset="-122"/>
                <a:cs typeface="Arial" pitchFamily="34" charset="-120"/>
              </a:rPr>
              <a:t>4 </a:t>
            </a:r>
            <a:pPr indent="0" marL="0">
              <a:buNone/>
            </a:pPr>
            <a:r>
              <a:rPr lang="en-US" sz="800" dirty="0">
                <a:solidFill>
                  <a:srgbClr val="1B2A24"/>
                </a:solidFill>
                <a:latin typeface="Arial" pitchFamily="34" charset="0"/>
                <a:ea typeface="Arial" pitchFamily="34" charset="-122"/>
                <a:cs typeface="Arial" pitchFamily="34" charset="-120"/>
              </a:rPr>
              <a:t>Handover record stored with the spec: source hash, ShAIping version, mapping report.  </a:t>
            </a:r>
            <a:pPr indent="0" marL="0">
              <a:buNone/>
            </a:pPr>
            <a:r>
              <a:rPr lang="en-US" sz="800" b="1" dirty="0">
                <a:solidFill>
                  <a:srgbClr val="0E6B45"/>
                </a:solidFill>
                <a:latin typeface="Arial" pitchFamily="34" charset="0"/>
                <a:ea typeface="Arial" pitchFamily="34" charset="-122"/>
                <a:cs typeface="Arial" pitchFamily="34" charset="-120"/>
              </a:rPr>
              <a:t>5 </a:t>
            </a:r>
            <a:pPr indent="0" marL="0">
              <a:buNone/>
            </a:pPr>
            <a:r>
              <a:rPr lang="en-US" sz="800" dirty="0">
                <a:solidFill>
                  <a:srgbClr val="1B2A24"/>
                </a:solidFill>
                <a:latin typeface="Arial" pitchFamily="34" charset="0"/>
                <a:ea typeface="Arial" pitchFamily="34" charset="-122"/>
                <a:cs typeface="Arial" pitchFamily="34" charset="-120"/>
              </a:rPr>
              <a:t>after_specify hook: up-tracing validator → JSON verdict.  </a:t>
            </a:r>
            <a:pPr indent="0" marL="0">
              <a:buNone/>
            </a:pPr>
            <a:r>
              <a:rPr lang="en-US" sz="800" b="1" dirty="0">
                <a:solidFill>
                  <a:srgbClr val="0E6B45"/>
                </a:solidFill>
                <a:latin typeface="Arial" pitchFamily="34" charset="0"/>
                <a:ea typeface="Arial" pitchFamily="34" charset="-122"/>
                <a:cs typeface="Arial" pitchFamily="34" charset="-120"/>
              </a:rPr>
              <a:t>6 </a:t>
            </a:r>
            <a:pPr indent="0" marL="0">
              <a:buNone/>
            </a:pPr>
            <a:r>
              <a:rPr lang="en-US" sz="800" dirty="0">
                <a:solidFill>
                  <a:srgbClr val="1B2A24"/>
                </a:solidFill>
                <a:latin typeface="Arial" pitchFamily="34" charset="0"/>
                <a:ea typeface="Arial" pitchFamily="34" charset="-122"/>
                <a:cs typeface="Arial" pitchFamily="34" charset="-120"/>
              </a:rPr>
              <a:t>/speckit.clarify only for gaps the transformation flagged (≤ 5 questions), answers flow back to ShAIping — spec.md is never edited by hand (hash check).</a:t>
            </a:r>
            <a:endParaRPr lang="en-US" sz="800" dirty="0"/>
          </a:p>
        </p:txBody>
      </p:sp>
      <p:sp>
        <p:nvSpPr>
          <p:cNvPr id="9" name="Shape 6"/>
          <p:cNvSpPr/>
          <p:nvPr/>
        </p:nvSpPr>
        <p:spPr>
          <a:xfrm>
            <a:off x="7406640" y="1371600"/>
            <a:ext cx="4343400" cy="2377440"/>
          </a:xfrm>
          <a:prstGeom prst="roundRect">
            <a:avLst>
              <a:gd name="adj" fmla="val 3077"/>
            </a:avLst>
          </a:prstGeom>
          <a:solidFill>
            <a:srgbClr val="FFFFFF"/>
          </a:solidFill>
          <a:ln w="12700">
            <a:solidFill>
              <a:srgbClr val="CFE9DA"/>
            </a:solidFill>
            <a:prstDash val="solid"/>
          </a:ln>
        </p:spPr>
      </p:sp>
      <p:sp>
        <p:nvSpPr>
          <p:cNvPr id="10" name="Text 7"/>
          <p:cNvSpPr/>
          <p:nvPr/>
        </p:nvSpPr>
        <p:spPr>
          <a:xfrm>
            <a:off x="7543800" y="1444752"/>
            <a:ext cx="4069080" cy="201168"/>
          </a:xfrm>
          <a:prstGeom prst="rect">
            <a:avLst/>
          </a:prstGeom>
          <a:noFill/>
          <a:ln/>
        </p:spPr>
        <p:txBody>
          <a:bodyPr wrap="square" lIns="0" tIns="0" rIns="0" bIns="0" rtlCol="0" anchor="t"/>
          <a:lstStyle/>
          <a:p>
            <a:pPr indent="0" marL="0">
              <a:buNone/>
            </a:pPr>
            <a:r>
              <a:rPr lang="en-US" sz="950" b="1" dirty="0">
                <a:solidFill>
                  <a:srgbClr val="0B3F2C"/>
                </a:solidFill>
                <a:latin typeface="Arial" pitchFamily="34" charset="0"/>
                <a:ea typeface="Arial" pitchFamily="34" charset="-122"/>
                <a:cs typeface="Arial" pitchFamily="34" charset="-120"/>
              </a:rPr>
              <a:t>Who owns what after the handover</a:t>
            </a:r>
            <a:endParaRPr lang="en-US" sz="950" dirty="0"/>
          </a:p>
        </p:txBody>
      </p:sp>
      <p:sp>
        <p:nvSpPr>
          <p:cNvPr id="11" name="Text 8"/>
          <p:cNvSpPr/>
          <p:nvPr/>
        </p:nvSpPr>
        <p:spPr>
          <a:xfrm>
            <a:off x="7543800" y="1700784"/>
            <a:ext cx="4069080" cy="2011680"/>
          </a:xfrm>
          <a:prstGeom prst="rect">
            <a:avLst/>
          </a:prstGeom>
          <a:noFill/>
          <a:ln/>
        </p:spPr>
        <p:txBody>
          <a:bodyPr wrap="square" lIns="0" tIns="0" rIns="0" bIns="0" rtlCol="0" anchor="t"/>
          <a:lstStyle/>
          <a:p>
            <a:pPr marL="152400" indent="-152400">
              <a:spcAft>
                <a:spcPts val="400"/>
              </a:spcAft>
              <a:buSzPct val="100000"/>
              <a:buChar char="▪"/>
            </a:pPr>
            <a:r>
              <a:rPr lang="en-US" sz="800" dirty="0">
                <a:solidFill>
                  <a:srgbClr val="1B2A24"/>
                </a:solidFill>
                <a:latin typeface="Arial" pitchFamily="34" charset="0"/>
                <a:ea typeface="Arial" pitchFamily="34" charset="-122"/>
                <a:cs typeface="Arial" pitchFamily="34" charset="-120"/>
              </a:rPr>
              <a:t>ShAIping owns the specification and its checks — a spec change means a re-export, never a manual edit of spec.md</a:t>
            </a:r>
            <a:endParaRPr lang="en-US" sz="800" dirty="0"/>
          </a:p>
          <a:p>
            <a:pPr marL="152400" indent="-152400">
              <a:spcAft>
                <a:spcPts val="400"/>
              </a:spcAft>
              <a:buSzPct val="100000"/>
              <a:buChar char="▪"/>
            </a:pPr>
            <a:r>
              <a:rPr lang="en-US" sz="800" dirty="0">
                <a:solidFill>
                  <a:srgbClr val="1B2A24"/>
                </a:solidFill>
                <a:latin typeface="Arial" pitchFamily="34" charset="0"/>
                <a:ea typeface="Arial" pitchFamily="34" charset="-122"/>
                <a:cs typeface="Arial" pitchFamily="34" charset="-120"/>
              </a:rPr>
              <a:t>Spec Kit owns plan, tasks, analyze, implement, converge — and the workflow that carries the human gates</a:t>
            </a:r>
            <a:endParaRPr lang="en-US" sz="800" dirty="0"/>
          </a:p>
          <a:p>
            <a:pPr marL="152400" indent="-152400">
              <a:spcAft>
                <a:spcPts val="400"/>
              </a:spcAft>
              <a:buSzPct val="100000"/>
              <a:buChar char="▪"/>
            </a:pPr>
            <a:r>
              <a:rPr lang="en-US" sz="800" dirty="0">
                <a:solidFill>
                  <a:srgbClr val="1B2A24"/>
                </a:solidFill>
                <a:latin typeface="Arial" pitchFamily="34" charset="0"/>
                <a:ea typeface="Arial" pitchFamily="34" charset="-122"/>
                <a:cs typeface="Arial" pitchFamily="34" charset="-120"/>
              </a:rPr>
              <a:t>The BA signs the ShAIping specification; the lead architect signs the plan (design authority)</a:t>
            </a:r>
            <a:endParaRPr lang="en-US" sz="800" dirty="0"/>
          </a:p>
          <a:p>
            <a:pPr marL="152400" indent="-152400">
              <a:spcAft>
                <a:spcPts val="400"/>
              </a:spcAft>
              <a:buSzPct val="100000"/>
              <a:buChar char="▪"/>
            </a:pPr>
            <a:r>
              <a:rPr lang="en-US" sz="800" dirty="0">
                <a:solidFill>
                  <a:srgbClr val="1B2A24"/>
                </a:solidFill>
                <a:latin typeface="Arial" pitchFamily="34" charset="0"/>
                <a:ea typeface="Arial" pitchFamily="34" charset="-122"/>
                <a:cs typeface="Arial" pitchFamily="34" charset="-120"/>
              </a:rPr>
              <a:t>The architecture rulebook is applied to the plan, not to the specification — architecture constrains how we build, the business owns what</a:t>
            </a:r>
            <a:endParaRPr lang="en-US" sz="800" dirty="0"/>
          </a:p>
        </p:txBody>
      </p:sp>
      <p:sp>
        <p:nvSpPr>
          <p:cNvPr id="12" name="Shape 9"/>
          <p:cNvSpPr/>
          <p:nvPr/>
        </p:nvSpPr>
        <p:spPr>
          <a:xfrm>
            <a:off x="7406640" y="3886200"/>
            <a:ext cx="4343400" cy="2468880"/>
          </a:xfrm>
          <a:prstGeom prst="roundRect">
            <a:avLst>
              <a:gd name="adj" fmla="val 2963"/>
            </a:avLst>
          </a:prstGeom>
          <a:solidFill>
            <a:srgbClr val="EAF5EE"/>
          </a:solidFill>
          <a:ln w="12700">
            <a:solidFill>
              <a:srgbClr val="EAF5EE"/>
            </a:solidFill>
            <a:prstDash val="solid"/>
          </a:ln>
        </p:spPr>
      </p:sp>
      <p:sp>
        <p:nvSpPr>
          <p:cNvPr id="13" name="Text 10"/>
          <p:cNvSpPr/>
          <p:nvPr/>
        </p:nvSpPr>
        <p:spPr>
          <a:xfrm>
            <a:off x="7516368" y="3995928"/>
            <a:ext cx="4123944" cy="310896"/>
          </a:xfrm>
          <a:prstGeom prst="roundRect">
            <a:avLst>
              <a:gd name="adj" fmla="val 17647"/>
            </a:avLst>
          </a:prstGeom>
          <a:solidFill>
            <a:srgbClr val="0B3F2C"/>
          </a:solidFill>
          <a:ln>
            <a:solidFill>
              <a:srgbClr val="0B3F2C"/>
            </a:solid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Status</a:t>
            </a:r>
            <a:endParaRPr lang="en-US" sz="1000" dirty="0"/>
          </a:p>
        </p:txBody>
      </p:sp>
      <p:sp>
        <p:nvSpPr>
          <p:cNvPr id="14" name="Text 11"/>
          <p:cNvSpPr/>
          <p:nvPr/>
        </p:nvSpPr>
        <p:spPr>
          <a:xfrm>
            <a:off x="7543800" y="4389120"/>
            <a:ext cx="4069080" cy="685800"/>
          </a:xfrm>
          <a:prstGeom prst="rect">
            <a:avLst/>
          </a:prstGeom>
          <a:noFill/>
          <a:ln/>
        </p:spPr>
        <p:txBody>
          <a:bodyPr wrap="square" lIns="0" tIns="0" rIns="0" bIns="0" rtlCol="0" anchor="t"/>
          <a:lstStyle/>
          <a:p>
            <a:pPr indent="0" marL="0">
              <a:buNone/>
            </a:pPr>
            <a:r>
              <a:rPr lang="en-US" sz="800" b="1" dirty="0">
                <a:solidFill>
                  <a:srgbClr val="1E9A5B"/>
                </a:solidFill>
                <a:latin typeface="Arial" pitchFamily="34" charset="0"/>
                <a:ea typeface="Arial" pitchFamily="34" charset="-122"/>
                <a:cs typeface="Arial" pitchFamily="34" charset="-120"/>
              </a:rPr>
              <a:t>Built (in-house): </a:t>
            </a:r>
            <a:pPr indent="0" marL="0">
              <a:buNone/>
            </a:pPr>
            <a:r>
              <a:rPr lang="en-US" sz="800" dirty="0">
                <a:solidFill>
                  <a:srgbClr val="1B2A24"/>
                </a:solidFill>
                <a:latin typeface="Arial" pitchFamily="34" charset="0"/>
                <a:ea typeface="Arial" pitchFamily="34" charset="-122"/>
                <a:cs typeface="Arial" pitchFamily="34" charset="-120"/>
              </a:rPr>
              <a:t>the ShAIping ↔ Spec Kit integration. Verified plug-in pattern (17 Aug 2026): preset (spec-template append + speckit.specify wrap) + extension (validator script, mandatory after_specify / before_plan hooks) + workflow + bundle installed and exercised against Spec Kit.</a:t>
            </a:r>
            <a:endParaRPr lang="en-US" sz="800" dirty="0"/>
          </a:p>
        </p:txBody>
      </p:sp>
      <p:sp>
        <p:nvSpPr>
          <p:cNvPr id="15" name="Text 12"/>
          <p:cNvSpPr/>
          <p:nvPr/>
        </p:nvSpPr>
        <p:spPr>
          <a:xfrm>
            <a:off x="7543800" y="5120640"/>
            <a:ext cx="4069080" cy="548640"/>
          </a:xfrm>
          <a:prstGeom prst="rect">
            <a:avLst/>
          </a:prstGeom>
          <a:noFill/>
          <a:ln/>
        </p:spPr>
        <p:txBody>
          <a:bodyPr wrap="square" lIns="0" tIns="0" rIns="0" bIns="0" rtlCol="0" anchor="t"/>
          <a:lstStyle/>
          <a:p>
            <a:pPr indent="0" marL="0">
              <a:buNone/>
            </a:pPr>
            <a:r>
              <a:rPr lang="en-US" sz="800" b="1" dirty="0">
                <a:solidFill>
                  <a:srgbClr val="D28E14"/>
                </a:solidFill>
                <a:latin typeface="Arial" pitchFamily="34" charset="0"/>
                <a:ea typeface="Arial" pitchFamily="34" charset="-122"/>
                <a:cs typeface="Arial" pitchFamily="34" charset="-120"/>
              </a:rPr>
              <a:t>To confirm / harden: </a:t>
            </a:r>
            <a:pPr indent="0" marL="0">
              <a:buNone/>
            </a:pPr>
            <a:r>
              <a:rPr lang="en-US" sz="800" dirty="0">
                <a:solidFill>
                  <a:srgbClr val="1B2A24"/>
                </a:solidFill>
                <a:latin typeface="Arial" pitchFamily="34" charset="0"/>
                <a:ea typeface="Arial" pitchFamily="34" charset="-122"/>
                <a:cs typeface="Arial" pitchFamily="34" charset="-120"/>
              </a:rPr>
              <a:t>contract test (100 % of items mapped, none invented), handover record (source hash, version, mapping report) and hash check on spec.md — add whichever the integration does not yet do; agree the mapping table with the ShAIping team.</a:t>
            </a:r>
            <a:endParaRPr lang="en-US" sz="800" dirty="0"/>
          </a:p>
        </p:txBody>
      </p:sp>
      <p:sp>
        <p:nvSpPr>
          <p:cNvPr id="16" name="Text 13"/>
          <p:cNvSpPr/>
          <p:nvPr/>
        </p:nvSpPr>
        <p:spPr>
          <a:xfrm>
            <a:off x="7543800" y="5687568"/>
            <a:ext cx="4069080" cy="640080"/>
          </a:xfrm>
          <a:prstGeom prst="rect">
            <a:avLst/>
          </a:prstGeom>
          <a:noFill/>
          <a:ln/>
        </p:spPr>
        <p:txBody>
          <a:bodyPr wrap="square" lIns="0" tIns="0" rIns="0" bIns="0" rtlCol="0" anchor="t"/>
          <a:lstStyle/>
          <a:p>
            <a:pPr indent="0" marL="0">
              <a:buNone/>
            </a:pPr>
            <a:r>
              <a:rPr lang="en-US" sz="800" b="1" dirty="0">
                <a:solidFill>
                  <a:srgbClr val="0B3F2C"/>
                </a:solidFill>
                <a:latin typeface="Arial" pitchFamily="34" charset="0"/>
                <a:ea typeface="Arial" pitchFamily="34" charset="-122"/>
                <a:cs typeface="Arial" pitchFamily="34" charset="-120"/>
              </a:rPr>
              <a:t>Why formal: </a:t>
            </a:r>
            <a:pPr indent="0" marL="0">
              <a:buNone/>
            </a:pPr>
            <a:r>
              <a:rPr lang="en-US" sz="800" dirty="0">
                <a:solidFill>
                  <a:srgbClr val="1B2A24"/>
                </a:solidFill>
                <a:latin typeface="Arial" pitchFamily="34" charset="0"/>
                <a:ea typeface="Arial" pitchFamily="34" charset="-122"/>
                <a:cs typeface="Arial" pitchFamily="34" charset="-120"/>
              </a:rPr>
              <a:t>a prompt would re-author the specification; a script transforms it. Auditors, the BA and the architect all see the same IDs from ShAIping through plan, tasks, tests and the change record.</a:t>
            </a:r>
            <a:endParaRPr lang="en-US" sz="800" dirty="0"/>
          </a:p>
        </p:txBody>
      </p:sp>
      <p:sp>
        <p:nvSpPr>
          <p:cNvPr id="17" name="Text 14"/>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Architecture shift-left — one rulebook, one A-gate per step, one re-entry</a:t>
            </a:r>
            <a:endParaRPr lang="en-US" sz="2400" dirty="0"/>
          </a:p>
        </p:txBody>
      </p:sp>
      <p:sp>
        <p:nvSpPr>
          <p:cNvPr id="3" name="Text 1"/>
          <p:cNvSpPr/>
          <p:nvPr/>
        </p:nvSpPr>
        <p:spPr>
          <a:xfrm>
            <a:off x="457200" y="804672"/>
            <a:ext cx="11247120" cy="365760"/>
          </a:xfrm>
          <a:prstGeom prst="rect">
            <a:avLst/>
          </a:prstGeom>
          <a:noFill/>
          <a:ln/>
        </p:spPr>
        <p:txBody>
          <a:bodyPr wrap="square" lIns="0" tIns="0" rIns="0" bIns="0" rtlCol="0" anchor="t"/>
          <a:lstStyle/>
          <a:p>
            <a:pPr indent="0" marL="0">
              <a:buNone/>
            </a:pPr>
            <a:r>
              <a:rPr lang="en-US" sz="1100" dirty="0">
                <a:solidFill>
                  <a:srgbClr val="5F6B66"/>
                </a:solidFill>
                <a:latin typeface="Arial" pitchFamily="34" charset="0"/>
                <a:ea typeface="Arial" pitchFamily="34" charset="-122"/>
                <a:cs typeface="Arial" pitchFamily="34" charset="-120"/>
              </a:rPr>
              <a:t>The rules the Architecture Assessor applies after delivery (A7) are the same rules that constrain the plan (A3) and the code (A4–A6) before and during delivery, and that shape intake and scoping (A1–A2). Review stops being a late opinion and becomes a guardrail on every step — owned by the lead architect.</a:t>
            </a:r>
            <a:endParaRPr lang="en-US" sz="1100" dirty="0"/>
          </a:p>
        </p:txBody>
      </p:sp>
      <p:sp>
        <p:nvSpPr>
          <p:cNvPr id="4" name="Shape 2"/>
          <p:cNvSpPr/>
          <p:nvPr/>
        </p:nvSpPr>
        <p:spPr>
          <a:xfrm>
            <a:off x="457200" y="1371600"/>
            <a:ext cx="2743200" cy="3977640"/>
          </a:xfrm>
          <a:prstGeom prst="roundRect">
            <a:avLst>
              <a:gd name="adj" fmla="val 2667"/>
            </a:avLst>
          </a:prstGeom>
          <a:solidFill>
            <a:srgbClr val="EAF5EE"/>
          </a:solidFill>
          <a:ln w="12700">
            <a:solidFill>
              <a:srgbClr val="EAF5EE"/>
            </a:solidFill>
            <a:prstDash val="solid"/>
          </a:ln>
        </p:spPr>
      </p:sp>
      <p:sp>
        <p:nvSpPr>
          <p:cNvPr id="5" name="Text 3"/>
          <p:cNvSpPr/>
          <p:nvPr/>
        </p:nvSpPr>
        <p:spPr>
          <a:xfrm>
            <a:off x="566928" y="1481328"/>
            <a:ext cx="2523744" cy="347472"/>
          </a:xfrm>
          <a:prstGeom prst="roundRect">
            <a:avLst>
              <a:gd name="adj" fmla="val 15789"/>
            </a:avLst>
          </a:prstGeom>
          <a:solidFill>
            <a:srgbClr val="0B3F2C"/>
          </a:solidFill>
          <a:ln>
            <a:solidFill>
              <a:srgbClr val="0B3F2C"/>
            </a:solid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Architecture rulebook</a:t>
            </a:r>
            <a:endParaRPr lang="en-US" sz="1050" dirty="0"/>
          </a:p>
        </p:txBody>
      </p:sp>
      <p:sp>
        <p:nvSpPr>
          <p:cNvPr id="6" name="Text 4"/>
          <p:cNvSpPr/>
          <p:nvPr/>
        </p:nvSpPr>
        <p:spPr>
          <a:xfrm>
            <a:off x="594360" y="1920240"/>
            <a:ext cx="2487168" cy="2926080"/>
          </a:xfrm>
          <a:prstGeom prst="rect">
            <a:avLst/>
          </a:prstGeom>
          <a:noFill/>
          <a:ln/>
        </p:spPr>
        <p:txBody>
          <a:bodyPr wrap="square" lIns="0" tIns="0" rIns="0" bIns="0" rtlCol="0" anchor="t"/>
          <a:lstStyle/>
          <a:p>
            <a:pPr marL="152400" indent="-152400">
              <a:spcAft>
                <a:spcPts val="300"/>
              </a:spcAft>
              <a:buSzPct val="100000"/>
              <a:buChar char="▪"/>
            </a:pPr>
            <a:r>
              <a:rPr lang="en-US" sz="750" dirty="0">
                <a:solidFill>
                  <a:srgbClr val="1B2A24"/>
                </a:solidFill>
                <a:latin typeface="Arial" pitchFamily="34" charset="0"/>
                <a:ea typeface="Arial" pitchFamily="34" charset="-122"/>
                <a:cs typeface="Arial" pitchFamily="34" charset="-120"/>
              </a:rPr>
              <a:t>source: the corporate architecture standards, already implemented as a skills repository (available)</a:t>
            </a:r>
            <a:endParaRPr lang="en-US" sz="750" dirty="0"/>
          </a:p>
          <a:p>
            <a:pPr marL="152400" indent="-152400">
              <a:spcAft>
                <a:spcPts val="300"/>
              </a:spcAft>
              <a:buSzPct val="100000"/>
              <a:buChar char="▪"/>
            </a:pPr>
            <a:r>
              <a:rPr lang="en-US" sz="750" dirty="0">
                <a:solidFill>
                  <a:srgbClr val="1B2A24"/>
                </a:solidFill>
                <a:latin typeface="Arial" pitchFamily="34" charset="0"/>
                <a:ea typeface="Arial" pitchFamily="34" charset="-122"/>
                <a:cs typeface="Arial" pitchFamily="34" charset="-120"/>
              </a:rPr>
              <a:t>binding (in progress): ARCH-### rules with severity, scope (plan · design · code · runtime) and a check binding — deterministic script, LLM-assisted, or manual sign-off</a:t>
            </a:r>
            <a:endParaRPr lang="en-US" sz="750" dirty="0"/>
          </a:p>
          <a:p>
            <a:pPr marL="152400" indent="-152400">
              <a:spcAft>
                <a:spcPts val="300"/>
              </a:spcAft>
              <a:buSzPct val="100000"/>
              <a:buChar char="▪"/>
            </a:pPr>
            <a:r>
              <a:rPr lang="en-US" sz="750" dirty="0">
                <a:solidFill>
                  <a:srgbClr val="1B2A24"/>
                </a:solidFill>
                <a:latin typeface="Arial" pitchFamily="34" charset="0"/>
                <a:ea typeface="Arial" pitchFamily="34" charset="-122"/>
                <a:cs typeface="Arial" pitchFamily="34" charset="-120"/>
              </a:rPr>
              <a:t>references the domain map: allowed relationships, boundary crossings, data classification per context</a:t>
            </a:r>
            <a:endParaRPr lang="en-US" sz="750" dirty="0"/>
          </a:p>
          <a:p>
            <a:pPr marL="152400" indent="-152400">
              <a:spcAft>
                <a:spcPts val="300"/>
              </a:spcAft>
              <a:buSzPct val="100000"/>
              <a:buChar char="▪"/>
            </a:pPr>
            <a:r>
              <a:rPr lang="en-US" sz="750" dirty="0">
                <a:solidFill>
                  <a:srgbClr val="1B2A24"/>
                </a:solidFill>
                <a:latin typeface="Arial" pitchFamily="34" charset="0"/>
                <a:ea typeface="Arial" pitchFamily="34" charset="-122"/>
                <a:cs typeface="Arial" pitchFamily="34" charset="-120"/>
              </a:rPr>
              <a:t>the constitution declares it NON-NEGOTIABLE — Spec Kit’s plan template carries a Constitution Check gate and analyze marks conflicts CRITICAL</a:t>
            </a:r>
            <a:endParaRPr lang="en-US" sz="750" dirty="0"/>
          </a:p>
          <a:p>
            <a:pPr marL="152400" indent="-152400">
              <a:spcAft>
                <a:spcPts val="300"/>
              </a:spcAft>
              <a:buSzPct val="100000"/>
              <a:buChar char="▪"/>
            </a:pPr>
            <a:r>
              <a:rPr lang="en-US" sz="750" dirty="0">
                <a:solidFill>
                  <a:srgbClr val="1B2A24"/>
                </a:solidFill>
                <a:latin typeface="Arial" pitchFamily="34" charset="0"/>
                <a:ea typeface="Arial" pitchFamily="34" charset="-122"/>
                <a:cs typeface="Arial" pitchFamily="34" charset="-120"/>
              </a:rPr>
              <a:t>corporate fragments per business line + project overlay (charter pattern), installed with the bundle; changes via /speckit.constitution with their own gate</a:t>
            </a:r>
            <a:endParaRPr lang="en-US" sz="750" dirty="0"/>
          </a:p>
        </p:txBody>
      </p:sp>
      <p:sp>
        <p:nvSpPr>
          <p:cNvPr id="7" name="Text 5"/>
          <p:cNvSpPr/>
          <p:nvPr/>
        </p:nvSpPr>
        <p:spPr>
          <a:xfrm>
            <a:off x="594360" y="4892040"/>
            <a:ext cx="1051560" cy="201168"/>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skills: available</a:t>
            </a:r>
            <a:endParaRPr lang="en-US" sz="700" dirty="0"/>
          </a:p>
        </p:txBody>
      </p:sp>
      <p:sp>
        <p:nvSpPr>
          <p:cNvPr id="8" name="Text 6"/>
          <p:cNvSpPr/>
          <p:nvPr/>
        </p:nvSpPr>
        <p:spPr>
          <a:xfrm>
            <a:off x="1737360" y="4892040"/>
            <a:ext cx="1280160" cy="201168"/>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binding: in progress</a:t>
            </a:r>
            <a:endParaRPr lang="en-US" sz="700" dirty="0"/>
          </a:p>
        </p:txBody>
      </p:sp>
      <p:sp>
        <p:nvSpPr>
          <p:cNvPr id="9" name="Text 7"/>
          <p:cNvSpPr/>
          <p:nvPr/>
        </p:nvSpPr>
        <p:spPr>
          <a:xfrm>
            <a:off x="594360" y="5120640"/>
            <a:ext cx="2468880" cy="182880"/>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ecosystem patterns: charter · memory-loader</a:t>
            </a:r>
            <a:endParaRPr lang="en-US" sz="700" dirty="0"/>
          </a:p>
        </p:txBody>
      </p:sp>
      <p:sp>
        <p:nvSpPr>
          <p:cNvPr id="10" name="Shape 8"/>
          <p:cNvSpPr/>
          <p:nvPr/>
        </p:nvSpPr>
        <p:spPr>
          <a:xfrm>
            <a:off x="3383280" y="1371600"/>
            <a:ext cx="4892040" cy="457200"/>
          </a:xfrm>
          <a:prstGeom prst="roundRect">
            <a:avLst>
              <a:gd name="adj" fmla="val 12000"/>
            </a:avLst>
          </a:prstGeom>
          <a:solidFill>
            <a:srgbClr val="FFFFFF"/>
          </a:solidFill>
          <a:ln w="12700">
            <a:solidFill>
              <a:srgbClr val="CFE9DA"/>
            </a:solidFill>
            <a:prstDash val="solid"/>
          </a:ln>
        </p:spPr>
      </p:sp>
      <p:sp>
        <p:nvSpPr>
          <p:cNvPr id="11" name="Text 9"/>
          <p:cNvSpPr/>
          <p:nvPr/>
        </p:nvSpPr>
        <p:spPr>
          <a:xfrm>
            <a:off x="3474720" y="1463040"/>
            <a:ext cx="274320" cy="274320"/>
          </a:xfrm>
          <a:prstGeom prst="ellipse">
            <a:avLst/>
          </a:prstGeom>
          <a:solidFill>
            <a:srgbClr val="B23A32"/>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A0</a:t>
            </a:r>
            <a:endParaRPr lang="en-US" sz="750" dirty="0"/>
          </a:p>
        </p:txBody>
      </p:sp>
      <p:sp>
        <p:nvSpPr>
          <p:cNvPr id="12" name="Text 10"/>
          <p:cNvSpPr/>
          <p:nvPr/>
        </p:nvSpPr>
        <p:spPr>
          <a:xfrm>
            <a:off x="3822192" y="1408176"/>
            <a:ext cx="3566160" cy="402336"/>
          </a:xfrm>
          <a:prstGeom prst="rect">
            <a:avLst/>
          </a:prstGeom>
          <a:noFill/>
          <a:ln/>
        </p:spPr>
        <p:txBody>
          <a:bodyPr wrap="square" lIns="0" tIns="0" rIns="0" bIns="0" rtlCol="0" anchor="ctr"/>
          <a:lstStyle/>
          <a:p>
            <a:pPr indent="0" marL="0">
              <a:buNone/>
            </a:pPr>
            <a:r>
              <a:rPr lang="en-US" sz="680" b="1" dirty="0">
                <a:solidFill>
                  <a:srgbClr val="0B3F2C"/>
                </a:solidFill>
                <a:latin typeface="Arial" pitchFamily="34" charset="0"/>
                <a:ea typeface="Arial" pitchFamily="34" charset="-122"/>
                <a:cs typeface="Arial" pitchFamily="34" charset="-120"/>
              </a:rPr>
              <a:t>Step 0 · domain map guard</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every feature inside one bounded context; specs and plans pin the domain-map version; domain changes through change control  ·  runs: before_plan · before_implement hooks · domain change workflow</a:t>
            </a:r>
            <a:endParaRPr lang="en-US" sz="680" dirty="0"/>
          </a:p>
        </p:txBody>
      </p:sp>
      <p:sp>
        <p:nvSpPr>
          <p:cNvPr id="13" name="Text 11"/>
          <p:cNvSpPr/>
          <p:nvPr/>
        </p:nvSpPr>
        <p:spPr>
          <a:xfrm>
            <a:off x="7406640" y="1499616"/>
            <a:ext cx="777240"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to build</a:t>
            </a:r>
            <a:endParaRPr lang="en-US" sz="650" dirty="0"/>
          </a:p>
        </p:txBody>
      </p:sp>
      <p:sp>
        <p:nvSpPr>
          <p:cNvPr id="14" name="Shape 12"/>
          <p:cNvSpPr/>
          <p:nvPr/>
        </p:nvSpPr>
        <p:spPr>
          <a:xfrm>
            <a:off x="3383280" y="1869948"/>
            <a:ext cx="4892040" cy="457200"/>
          </a:xfrm>
          <a:prstGeom prst="roundRect">
            <a:avLst>
              <a:gd name="adj" fmla="val 12000"/>
            </a:avLst>
          </a:prstGeom>
          <a:solidFill>
            <a:srgbClr val="FFFFFF"/>
          </a:solidFill>
          <a:ln w="12700">
            <a:solidFill>
              <a:srgbClr val="CFE9DA"/>
            </a:solidFill>
            <a:prstDash val="solid"/>
          </a:ln>
        </p:spPr>
      </p:sp>
      <p:sp>
        <p:nvSpPr>
          <p:cNvPr id="15" name="Text 13"/>
          <p:cNvSpPr/>
          <p:nvPr/>
        </p:nvSpPr>
        <p:spPr>
          <a:xfrm>
            <a:off x="3474720" y="1961388"/>
            <a:ext cx="274320" cy="274320"/>
          </a:xfrm>
          <a:prstGeom prst="ellipse">
            <a:avLst/>
          </a:prstGeom>
          <a:solidFill>
            <a:srgbClr val="B23A32"/>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A1</a:t>
            </a:r>
            <a:endParaRPr lang="en-US" sz="750" dirty="0"/>
          </a:p>
        </p:txBody>
      </p:sp>
      <p:sp>
        <p:nvSpPr>
          <p:cNvPr id="16" name="Text 14"/>
          <p:cNvSpPr/>
          <p:nvPr/>
        </p:nvSpPr>
        <p:spPr>
          <a:xfrm>
            <a:off x="3822192" y="1906524"/>
            <a:ext cx="3566160" cy="402336"/>
          </a:xfrm>
          <a:prstGeom prst="rect">
            <a:avLst/>
          </a:prstGeom>
          <a:noFill/>
          <a:ln/>
        </p:spPr>
        <p:txBody>
          <a:bodyPr wrap="square" lIns="0" tIns="0" rIns="0" bIns="0" rtlCol="0" anchor="ctr"/>
          <a:lstStyle/>
          <a:p>
            <a:pPr indent="0" marL="0">
              <a:buNone/>
            </a:pPr>
            <a:r>
              <a:rPr lang="en-US" sz="680" b="1" dirty="0">
                <a:solidFill>
                  <a:srgbClr val="0B3F2C"/>
                </a:solidFill>
                <a:latin typeface="Arial" pitchFamily="34" charset="0"/>
                <a:ea typeface="Arial" pitchFamily="34" charset="-122"/>
                <a:cs typeface="Arial" pitchFamily="34" charset="-120"/>
              </a:rPr>
              <a:t>Step 1 · architecture intake</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every requirement carries a bounded context and an owner; Assessor proposals enter here as [PROPOSED] and are accepted by humans  ·  runs: repository check at baseline · Proposer output</a:t>
            </a:r>
            <a:endParaRPr lang="en-US" sz="680" dirty="0"/>
          </a:p>
        </p:txBody>
      </p:sp>
      <p:sp>
        <p:nvSpPr>
          <p:cNvPr id="17" name="Text 15"/>
          <p:cNvSpPr/>
          <p:nvPr/>
        </p:nvSpPr>
        <p:spPr>
          <a:xfrm>
            <a:off x="7406640" y="1997964"/>
            <a:ext cx="777240"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to build</a:t>
            </a:r>
            <a:endParaRPr lang="en-US" sz="650" dirty="0"/>
          </a:p>
        </p:txBody>
      </p:sp>
      <p:sp>
        <p:nvSpPr>
          <p:cNvPr id="18" name="Shape 16"/>
          <p:cNvSpPr/>
          <p:nvPr/>
        </p:nvSpPr>
        <p:spPr>
          <a:xfrm>
            <a:off x="3383280" y="2368296"/>
            <a:ext cx="4892040" cy="457200"/>
          </a:xfrm>
          <a:prstGeom prst="roundRect">
            <a:avLst>
              <a:gd name="adj" fmla="val 12000"/>
            </a:avLst>
          </a:prstGeom>
          <a:solidFill>
            <a:srgbClr val="FFFFFF"/>
          </a:solidFill>
          <a:ln w="12700">
            <a:solidFill>
              <a:srgbClr val="CFE9DA"/>
            </a:solidFill>
            <a:prstDash val="solid"/>
          </a:ln>
        </p:spPr>
      </p:sp>
      <p:sp>
        <p:nvSpPr>
          <p:cNvPr id="19" name="Text 17"/>
          <p:cNvSpPr/>
          <p:nvPr/>
        </p:nvSpPr>
        <p:spPr>
          <a:xfrm>
            <a:off x="3474720" y="2459736"/>
            <a:ext cx="274320" cy="274320"/>
          </a:xfrm>
          <a:prstGeom prst="ellipse">
            <a:avLst/>
          </a:prstGeom>
          <a:solidFill>
            <a:srgbClr val="B23A32"/>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A2</a:t>
            </a:r>
            <a:endParaRPr lang="en-US" sz="750" dirty="0"/>
          </a:p>
        </p:txBody>
      </p:sp>
      <p:sp>
        <p:nvSpPr>
          <p:cNvPr id="20" name="Text 18"/>
          <p:cNvSpPr/>
          <p:nvPr/>
        </p:nvSpPr>
        <p:spPr>
          <a:xfrm>
            <a:off x="3822192" y="2404872"/>
            <a:ext cx="3566160" cy="402336"/>
          </a:xfrm>
          <a:prstGeom prst="rect">
            <a:avLst/>
          </a:prstGeom>
          <a:noFill/>
          <a:ln/>
        </p:spPr>
        <p:txBody>
          <a:bodyPr wrap="square" lIns="0" tIns="0" rIns="0" bIns="0" rtlCol="0" anchor="ctr"/>
          <a:lstStyle/>
          <a:p>
            <a:pPr indent="0" marL="0">
              <a:buNone/>
            </a:pPr>
            <a:r>
              <a:rPr lang="en-US" sz="680" b="1" dirty="0">
                <a:solidFill>
                  <a:srgbClr val="0B3F2C"/>
                </a:solidFill>
                <a:latin typeface="Arial" pitchFamily="34" charset="0"/>
                <a:ea typeface="Arial" pitchFamily="34" charset="-122"/>
                <a:cs typeface="Arial" pitchFamily="34" charset="-120"/>
              </a:rPr>
              <a:t>Step 2 · architecture in the charter</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architecture-debt items with evidence in the iteration charter; cross-context dependency check against the context map before the start  ·  runs: charter check at the master gate (workflow input)</a:t>
            </a:r>
            <a:endParaRPr lang="en-US" sz="680" dirty="0"/>
          </a:p>
        </p:txBody>
      </p:sp>
      <p:sp>
        <p:nvSpPr>
          <p:cNvPr id="21" name="Text 19"/>
          <p:cNvSpPr/>
          <p:nvPr/>
        </p:nvSpPr>
        <p:spPr>
          <a:xfrm>
            <a:off x="7406640" y="2496312"/>
            <a:ext cx="777240"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to build</a:t>
            </a:r>
            <a:endParaRPr lang="en-US" sz="650" dirty="0"/>
          </a:p>
        </p:txBody>
      </p:sp>
      <p:sp>
        <p:nvSpPr>
          <p:cNvPr id="22" name="Shape 20"/>
          <p:cNvSpPr/>
          <p:nvPr/>
        </p:nvSpPr>
        <p:spPr>
          <a:xfrm>
            <a:off x="3383280" y="2866644"/>
            <a:ext cx="4892040" cy="457200"/>
          </a:xfrm>
          <a:prstGeom prst="roundRect">
            <a:avLst>
              <a:gd name="adj" fmla="val 12000"/>
            </a:avLst>
          </a:prstGeom>
          <a:solidFill>
            <a:srgbClr val="FFFFFF"/>
          </a:solidFill>
          <a:ln w="12700">
            <a:solidFill>
              <a:srgbClr val="CFE9DA"/>
            </a:solidFill>
            <a:prstDash val="solid"/>
          </a:ln>
        </p:spPr>
      </p:sp>
      <p:sp>
        <p:nvSpPr>
          <p:cNvPr id="23" name="Text 21"/>
          <p:cNvSpPr/>
          <p:nvPr/>
        </p:nvSpPr>
        <p:spPr>
          <a:xfrm>
            <a:off x="3474720" y="2958084"/>
            <a:ext cx="274320" cy="274320"/>
          </a:xfrm>
          <a:prstGeom prst="ellipse">
            <a:avLst/>
          </a:prstGeom>
          <a:solidFill>
            <a:srgbClr val="D28E14"/>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A3</a:t>
            </a:r>
            <a:endParaRPr lang="en-US" sz="750" dirty="0"/>
          </a:p>
        </p:txBody>
      </p:sp>
      <p:sp>
        <p:nvSpPr>
          <p:cNvPr id="24" name="Text 22"/>
          <p:cNvSpPr/>
          <p:nvPr/>
        </p:nvSpPr>
        <p:spPr>
          <a:xfrm>
            <a:off x="3822192" y="2903220"/>
            <a:ext cx="3566160" cy="402336"/>
          </a:xfrm>
          <a:prstGeom prst="rect">
            <a:avLst/>
          </a:prstGeom>
          <a:noFill/>
          <a:ln/>
        </p:spPr>
        <p:txBody>
          <a:bodyPr wrap="square" lIns="0" tIns="0" rIns="0" bIns="0" rtlCol="0" anchor="ctr"/>
          <a:lstStyle/>
          <a:p>
            <a:pPr indent="0" marL="0">
              <a:buNone/>
            </a:pPr>
            <a:r>
              <a:rPr lang="en-US" sz="680" b="1" dirty="0">
                <a:solidFill>
                  <a:srgbClr val="0B3F2C"/>
                </a:solidFill>
                <a:latin typeface="Arial" pitchFamily="34" charset="0"/>
                <a:ea typeface="Arial" pitchFamily="34" charset="-122"/>
                <a:cs typeface="Arial" pitchFamily="34" charset="-120"/>
              </a:rPr>
              <a:t>Step 3 · plan conformance</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Architecture Conformance table in plan.md against the rulebook (architecture standards as skills), verified by script; ADRs; task guard on tasks.md  ·  runs: before_plan context loader · after_plan check-plan · after_tasks task guard · workflow gate · CI</a:t>
            </a:r>
            <a:endParaRPr lang="en-US" sz="680" dirty="0"/>
          </a:p>
        </p:txBody>
      </p:sp>
      <p:sp>
        <p:nvSpPr>
          <p:cNvPr id="25" name="Text 23"/>
          <p:cNvSpPr/>
          <p:nvPr/>
        </p:nvSpPr>
        <p:spPr>
          <a:xfrm>
            <a:off x="7406640" y="2994660"/>
            <a:ext cx="777240" cy="182880"/>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 progress</a:t>
            </a:r>
            <a:endParaRPr lang="en-US" sz="650" dirty="0"/>
          </a:p>
        </p:txBody>
      </p:sp>
      <p:sp>
        <p:nvSpPr>
          <p:cNvPr id="26" name="Shape 24"/>
          <p:cNvSpPr/>
          <p:nvPr/>
        </p:nvSpPr>
        <p:spPr>
          <a:xfrm>
            <a:off x="3383280" y="3364992"/>
            <a:ext cx="4892040" cy="457200"/>
          </a:xfrm>
          <a:prstGeom prst="roundRect">
            <a:avLst>
              <a:gd name="adj" fmla="val 12000"/>
            </a:avLst>
          </a:prstGeom>
          <a:solidFill>
            <a:srgbClr val="FFFFFF"/>
          </a:solidFill>
          <a:ln w="12700">
            <a:solidFill>
              <a:srgbClr val="CFE9DA"/>
            </a:solidFill>
            <a:prstDash val="solid"/>
          </a:ln>
        </p:spPr>
      </p:sp>
      <p:sp>
        <p:nvSpPr>
          <p:cNvPr id="27" name="Text 25"/>
          <p:cNvSpPr/>
          <p:nvPr/>
        </p:nvSpPr>
        <p:spPr>
          <a:xfrm>
            <a:off x="3474720" y="3456432"/>
            <a:ext cx="274320" cy="274320"/>
          </a:xfrm>
          <a:prstGeom prst="ellipse">
            <a:avLst/>
          </a:prstGeom>
          <a:solidFill>
            <a:srgbClr val="D28E14"/>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A4</a:t>
            </a:r>
            <a:endParaRPr lang="en-US" sz="750" dirty="0"/>
          </a:p>
        </p:txBody>
      </p:sp>
      <p:sp>
        <p:nvSpPr>
          <p:cNvPr id="28" name="Text 26"/>
          <p:cNvSpPr/>
          <p:nvPr/>
        </p:nvSpPr>
        <p:spPr>
          <a:xfrm>
            <a:off x="3822192" y="3401568"/>
            <a:ext cx="3566160" cy="402336"/>
          </a:xfrm>
          <a:prstGeom prst="rect">
            <a:avLst/>
          </a:prstGeom>
          <a:noFill/>
          <a:ln/>
        </p:spPr>
        <p:txBody>
          <a:bodyPr wrap="square" lIns="0" tIns="0" rIns="0" bIns="0" rtlCol="0" anchor="ctr"/>
          <a:lstStyle/>
          <a:p>
            <a:pPr indent="0" marL="0">
              <a:buNone/>
            </a:pPr>
            <a:r>
              <a:rPr lang="en-US" sz="680" b="1" dirty="0">
                <a:solidFill>
                  <a:srgbClr val="0B3F2C"/>
                </a:solidFill>
                <a:latin typeface="Arial" pitchFamily="34" charset="0"/>
                <a:ea typeface="Arial" pitchFamily="34" charset="-122"/>
                <a:cs typeface="Arial" pitchFamily="34" charset="-120"/>
              </a:rPr>
              <a:t>Step 4 · fitness functions</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native checklist gate at the start of implement (checklists/architecture.md); fitness runner on the code graph after implement / converge; commits carry IDs  ·  runs: implement checklist gate (native) · after_implement / after_converge hooks</a:t>
            </a:r>
            <a:endParaRPr lang="en-US" sz="680" dirty="0"/>
          </a:p>
        </p:txBody>
      </p:sp>
      <p:sp>
        <p:nvSpPr>
          <p:cNvPr id="29" name="Text 27"/>
          <p:cNvSpPr/>
          <p:nvPr/>
        </p:nvSpPr>
        <p:spPr>
          <a:xfrm>
            <a:off x="7406640" y="3493008"/>
            <a:ext cx="777240" cy="182880"/>
          </a:xfrm>
          <a:prstGeom prst="roundRect">
            <a:avLst>
              <a:gd name="adj" fmla="val 50000"/>
            </a:avLst>
          </a:prstGeom>
          <a:solidFill>
            <a:srgbClr val="D28E14"/>
          </a:solidFill>
          <a:ln>
            <a:solidFill>
              <a:srgbClr val="D28E14"/>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in progress</a:t>
            </a:r>
            <a:endParaRPr lang="en-US" sz="650" dirty="0"/>
          </a:p>
        </p:txBody>
      </p:sp>
      <p:sp>
        <p:nvSpPr>
          <p:cNvPr id="30" name="Shape 28"/>
          <p:cNvSpPr/>
          <p:nvPr/>
        </p:nvSpPr>
        <p:spPr>
          <a:xfrm>
            <a:off x="3383280" y="3863340"/>
            <a:ext cx="4892040" cy="457200"/>
          </a:xfrm>
          <a:prstGeom prst="roundRect">
            <a:avLst>
              <a:gd name="adj" fmla="val 12000"/>
            </a:avLst>
          </a:prstGeom>
          <a:solidFill>
            <a:srgbClr val="FFFFFF"/>
          </a:solidFill>
          <a:ln w="12700">
            <a:solidFill>
              <a:srgbClr val="CFE9DA"/>
            </a:solidFill>
            <a:prstDash val="solid"/>
          </a:ln>
        </p:spPr>
      </p:sp>
      <p:sp>
        <p:nvSpPr>
          <p:cNvPr id="31" name="Text 29"/>
          <p:cNvSpPr/>
          <p:nvPr/>
        </p:nvSpPr>
        <p:spPr>
          <a:xfrm>
            <a:off x="3474720" y="3954780"/>
            <a:ext cx="274320" cy="274320"/>
          </a:xfrm>
          <a:prstGeom prst="ellipse">
            <a:avLst/>
          </a:prstGeom>
          <a:solidFill>
            <a:srgbClr val="B23A32"/>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A5</a:t>
            </a:r>
            <a:endParaRPr lang="en-US" sz="750" dirty="0"/>
          </a:p>
        </p:txBody>
      </p:sp>
      <p:sp>
        <p:nvSpPr>
          <p:cNvPr id="32" name="Text 30"/>
          <p:cNvSpPr/>
          <p:nvPr/>
        </p:nvSpPr>
        <p:spPr>
          <a:xfrm>
            <a:off x="3822192" y="3899916"/>
            <a:ext cx="3566160" cy="402336"/>
          </a:xfrm>
          <a:prstGeom prst="rect">
            <a:avLst/>
          </a:prstGeom>
          <a:noFill/>
          <a:ln/>
        </p:spPr>
        <p:txBody>
          <a:bodyPr wrap="square" lIns="0" tIns="0" rIns="0" bIns="0" rtlCol="0" anchor="ctr"/>
          <a:lstStyle/>
          <a:p>
            <a:pPr indent="0" marL="0">
              <a:buNone/>
            </a:pPr>
            <a:r>
              <a:rPr lang="en-US" sz="680" b="1" dirty="0">
                <a:solidFill>
                  <a:srgbClr val="0B3F2C"/>
                </a:solidFill>
                <a:latin typeface="Arial" pitchFamily="34" charset="0"/>
                <a:ea typeface="Arial" pitchFamily="34" charset="-122"/>
                <a:cs typeface="Arial" pitchFamily="34" charset="-120"/>
              </a:rPr>
              <a:t>Step 5 · evidence at test exit</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fitness re-run inside the deterministic loop; NFR tests for the Success Criteria; verdict attached to the PR  ·  runs: workflow shell + do-while · test-exit gate</a:t>
            </a:r>
            <a:endParaRPr lang="en-US" sz="680" dirty="0"/>
          </a:p>
        </p:txBody>
      </p:sp>
      <p:sp>
        <p:nvSpPr>
          <p:cNvPr id="33" name="Text 31"/>
          <p:cNvSpPr/>
          <p:nvPr/>
        </p:nvSpPr>
        <p:spPr>
          <a:xfrm>
            <a:off x="7406640" y="3991356"/>
            <a:ext cx="777240"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to build</a:t>
            </a:r>
            <a:endParaRPr lang="en-US" sz="650" dirty="0"/>
          </a:p>
        </p:txBody>
      </p:sp>
      <p:sp>
        <p:nvSpPr>
          <p:cNvPr id="34" name="Shape 32"/>
          <p:cNvSpPr/>
          <p:nvPr/>
        </p:nvSpPr>
        <p:spPr>
          <a:xfrm>
            <a:off x="3383280" y="4361688"/>
            <a:ext cx="4892040" cy="457200"/>
          </a:xfrm>
          <a:prstGeom prst="roundRect">
            <a:avLst>
              <a:gd name="adj" fmla="val 12000"/>
            </a:avLst>
          </a:prstGeom>
          <a:solidFill>
            <a:srgbClr val="FFFFFF"/>
          </a:solidFill>
          <a:ln w="12700">
            <a:solidFill>
              <a:srgbClr val="CFE9DA"/>
            </a:solidFill>
            <a:prstDash val="solid"/>
          </a:ln>
        </p:spPr>
      </p:sp>
      <p:sp>
        <p:nvSpPr>
          <p:cNvPr id="35" name="Text 33"/>
          <p:cNvSpPr/>
          <p:nvPr/>
        </p:nvSpPr>
        <p:spPr>
          <a:xfrm>
            <a:off x="3474720" y="4453128"/>
            <a:ext cx="274320" cy="274320"/>
          </a:xfrm>
          <a:prstGeom prst="ellipse">
            <a:avLst/>
          </a:prstGeom>
          <a:solidFill>
            <a:srgbClr val="B23A32"/>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A6</a:t>
            </a:r>
            <a:endParaRPr lang="en-US" sz="750" dirty="0"/>
          </a:p>
        </p:txBody>
      </p:sp>
      <p:sp>
        <p:nvSpPr>
          <p:cNvPr id="36" name="Text 34"/>
          <p:cNvSpPr/>
          <p:nvPr/>
        </p:nvSpPr>
        <p:spPr>
          <a:xfrm>
            <a:off x="3822192" y="4398264"/>
            <a:ext cx="3566160" cy="402336"/>
          </a:xfrm>
          <a:prstGeom prst="rect">
            <a:avLst/>
          </a:prstGeom>
          <a:noFill/>
          <a:ln/>
        </p:spPr>
        <p:txBody>
          <a:bodyPr wrap="square" lIns="0" tIns="0" rIns="0" bIns="0" rtlCol="0" anchor="ctr"/>
          <a:lstStyle/>
          <a:p>
            <a:pPr indent="0" marL="0">
              <a:buNone/>
            </a:pPr>
            <a:r>
              <a:rPr lang="en-US" sz="680" b="1" dirty="0">
                <a:solidFill>
                  <a:srgbClr val="0B3F2C"/>
                </a:solidFill>
                <a:latin typeface="Arial" pitchFamily="34" charset="0"/>
                <a:ea typeface="Arial" pitchFamily="34" charset="-122"/>
                <a:cs typeface="Arial" pitchFamily="34" charset="-120"/>
              </a:rPr>
              <a:t>Step 6 · required checks on the PR</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the same scripts (conformance, task guard, fitness) as required status checks before code enters the pipeline — the pipeline itself is unchanged  ·  runs: PR status checks (CI)</a:t>
            </a:r>
            <a:endParaRPr lang="en-US" sz="680" dirty="0"/>
          </a:p>
        </p:txBody>
      </p:sp>
      <p:sp>
        <p:nvSpPr>
          <p:cNvPr id="37" name="Text 35"/>
          <p:cNvSpPr/>
          <p:nvPr/>
        </p:nvSpPr>
        <p:spPr>
          <a:xfrm>
            <a:off x="7406640" y="4489704"/>
            <a:ext cx="777240" cy="182880"/>
          </a:xfrm>
          <a:prstGeom prst="roundRect">
            <a:avLst>
              <a:gd name="adj" fmla="val 50000"/>
            </a:avLst>
          </a:prstGeom>
          <a:solidFill>
            <a:srgbClr val="B23A32"/>
          </a:solidFill>
          <a:ln>
            <a:solidFill>
              <a:srgbClr val="B23A32"/>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to build</a:t>
            </a:r>
            <a:endParaRPr lang="en-US" sz="650" dirty="0"/>
          </a:p>
        </p:txBody>
      </p:sp>
      <p:sp>
        <p:nvSpPr>
          <p:cNvPr id="38" name="Shape 36"/>
          <p:cNvSpPr/>
          <p:nvPr/>
        </p:nvSpPr>
        <p:spPr>
          <a:xfrm>
            <a:off x="3383280" y="4860036"/>
            <a:ext cx="4892040" cy="457200"/>
          </a:xfrm>
          <a:prstGeom prst="roundRect">
            <a:avLst>
              <a:gd name="adj" fmla="val 12000"/>
            </a:avLst>
          </a:prstGeom>
          <a:solidFill>
            <a:srgbClr val="FFFFFF"/>
          </a:solidFill>
          <a:ln w="12700">
            <a:solidFill>
              <a:srgbClr val="CFE9DA"/>
            </a:solidFill>
            <a:prstDash val="solid"/>
          </a:ln>
        </p:spPr>
      </p:sp>
      <p:sp>
        <p:nvSpPr>
          <p:cNvPr id="39" name="Text 37"/>
          <p:cNvSpPr/>
          <p:nvPr/>
        </p:nvSpPr>
        <p:spPr>
          <a:xfrm>
            <a:off x="3474720" y="4951476"/>
            <a:ext cx="274320" cy="274320"/>
          </a:xfrm>
          <a:prstGeom prst="ellipse">
            <a:avLst/>
          </a:prstGeom>
          <a:solidFill>
            <a:srgbClr val="1E9A5B"/>
          </a:solidFill>
          <a:ln w="12700">
            <a:solidFill>
              <a:srgbClr val="FFFFFF"/>
            </a:solidFill>
          </a:ln>
        </p:spPr>
        <p:txBody>
          <a:bodyPr wrap="square" lIns="0" tIns="0" rIns="0" bIns="0"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A7</a:t>
            </a:r>
            <a:endParaRPr lang="en-US" sz="750" dirty="0"/>
          </a:p>
        </p:txBody>
      </p:sp>
      <p:sp>
        <p:nvSpPr>
          <p:cNvPr id="40" name="Text 38"/>
          <p:cNvSpPr/>
          <p:nvPr/>
        </p:nvSpPr>
        <p:spPr>
          <a:xfrm>
            <a:off x="3822192" y="4896612"/>
            <a:ext cx="3566160" cy="402336"/>
          </a:xfrm>
          <a:prstGeom prst="rect">
            <a:avLst/>
          </a:prstGeom>
          <a:noFill/>
          <a:ln/>
        </p:spPr>
        <p:txBody>
          <a:bodyPr wrap="square" lIns="0" tIns="0" rIns="0" bIns="0" rtlCol="0" anchor="ctr"/>
          <a:lstStyle/>
          <a:p>
            <a:pPr indent="0" marL="0">
              <a:buNone/>
            </a:pPr>
            <a:r>
              <a:rPr lang="en-US" sz="680" b="1" dirty="0">
                <a:solidFill>
                  <a:srgbClr val="0B3F2C"/>
                </a:solidFill>
                <a:latin typeface="Arial" pitchFamily="34" charset="0"/>
                <a:ea typeface="Arial" pitchFamily="34" charset="-122"/>
                <a:cs typeface="Arial" pitchFamily="34" charset="-120"/>
              </a:rPr>
              <a:t>Step 7 · Architecture Assessor</a:t>
            </a:r>
            <a:endParaRPr lang="en-US" sz="680" dirty="0"/>
          </a:p>
          <a:p>
            <a:pPr indent="0" marL="0">
              <a:buNone/>
            </a:pPr>
            <a:r>
              <a:rPr lang="en-US" sz="680" dirty="0">
                <a:solidFill>
                  <a:srgbClr val="1B2A24"/>
                </a:solidFill>
                <a:latin typeface="Arial" pitchFamily="34" charset="0"/>
                <a:ea typeface="Arial" pitchFamily="34" charset="-122"/>
                <a:cs typeface="Arial" pitchFamily="34" charset="-120"/>
              </a:rPr>
              <a:t>delivered system measured against the rulebook and the domain map → findings.json → Proposer → human acceptance  ·  runs: between 7 and 1, outside Spec Kit</a:t>
            </a:r>
            <a:endParaRPr lang="en-US" sz="680" dirty="0"/>
          </a:p>
        </p:txBody>
      </p:sp>
      <p:sp>
        <p:nvSpPr>
          <p:cNvPr id="41" name="Text 39"/>
          <p:cNvSpPr/>
          <p:nvPr/>
        </p:nvSpPr>
        <p:spPr>
          <a:xfrm>
            <a:off x="7406640" y="4988052"/>
            <a:ext cx="777240" cy="182880"/>
          </a:xfrm>
          <a:prstGeom prst="roundRect">
            <a:avLst>
              <a:gd name="adj" fmla="val 50000"/>
            </a:avLst>
          </a:prstGeom>
          <a:solidFill>
            <a:srgbClr val="1E9A5B"/>
          </a:solidFill>
          <a:ln>
            <a:solidFill>
              <a:srgbClr val="1E9A5B"/>
            </a:solidFill>
          </a:ln>
        </p:spPr>
        <p:txBody>
          <a:bodyPr wrap="square" lIns="0" tIns="0" rIns="0" bIns="0"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available</a:t>
            </a:r>
            <a:endParaRPr lang="en-US" sz="650" dirty="0"/>
          </a:p>
        </p:txBody>
      </p:sp>
      <p:sp>
        <p:nvSpPr>
          <p:cNvPr id="42" name="Shape 40"/>
          <p:cNvSpPr/>
          <p:nvPr/>
        </p:nvSpPr>
        <p:spPr>
          <a:xfrm>
            <a:off x="8458200" y="1371600"/>
            <a:ext cx="3291840" cy="3977640"/>
          </a:xfrm>
          <a:prstGeom prst="roundRect">
            <a:avLst>
              <a:gd name="adj" fmla="val 2222"/>
            </a:avLst>
          </a:prstGeom>
          <a:solidFill>
            <a:srgbClr val="EAF5EE"/>
          </a:solidFill>
          <a:ln w="12700">
            <a:solidFill>
              <a:srgbClr val="EAF5EE"/>
            </a:solidFill>
            <a:prstDash val="solid"/>
          </a:ln>
        </p:spPr>
      </p:sp>
      <p:sp>
        <p:nvSpPr>
          <p:cNvPr id="43" name="Text 41"/>
          <p:cNvSpPr/>
          <p:nvPr/>
        </p:nvSpPr>
        <p:spPr>
          <a:xfrm>
            <a:off x="8567928" y="1481328"/>
            <a:ext cx="3072384" cy="347472"/>
          </a:xfrm>
          <a:prstGeom prst="roundRect">
            <a:avLst>
              <a:gd name="adj" fmla="val 15789"/>
            </a:avLst>
          </a:prstGeom>
          <a:solidFill>
            <a:srgbClr val="0B3F2C"/>
          </a:solidFill>
          <a:ln>
            <a:solidFill>
              <a:srgbClr val="0B3F2C"/>
            </a:solid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Re-entry, waivers, evidence</a:t>
            </a:r>
            <a:endParaRPr lang="en-US" sz="1050" dirty="0"/>
          </a:p>
        </p:txBody>
      </p:sp>
      <p:sp>
        <p:nvSpPr>
          <p:cNvPr id="44" name="Text 42"/>
          <p:cNvSpPr/>
          <p:nvPr/>
        </p:nvSpPr>
        <p:spPr>
          <a:xfrm>
            <a:off x="8595360" y="1920240"/>
            <a:ext cx="3017520" cy="1097280"/>
          </a:xfrm>
          <a:prstGeom prst="rect">
            <a:avLst/>
          </a:prstGeom>
          <a:noFill/>
          <a:ln/>
        </p:spPr>
        <p:txBody>
          <a:bodyPr wrap="square" lIns="0" tIns="0" rIns="0" bIns="0" rtlCol="0" anchor="t"/>
          <a:lstStyle/>
          <a:p>
            <a:pPr indent="0" marL="0">
              <a:buNone/>
            </a:pPr>
            <a:r>
              <a:rPr lang="en-US" sz="750" b="1" dirty="0">
                <a:solidFill>
                  <a:srgbClr val="0B3F2C"/>
                </a:solidFill>
                <a:latin typeface="Arial" pitchFamily="34" charset="0"/>
                <a:ea typeface="Arial" pitchFamily="34" charset="-122"/>
                <a:cs typeface="Arial" pitchFamily="34" charset="-120"/>
              </a:rPr>
              <a:t>A7 → A1 (Proposer, to build): </a:t>
            </a:r>
            <a:pPr indent="0" marL="0">
              <a:buNone/>
            </a:pPr>
            <a:r>
              <a:rPr lang="en-US" sz="750" dirty="0">
                <a:solidFill>
                  <a:srgbClr val="1B2A24"/>
                </a:solidFill>
                <a:latin typeface="Arial" pitchFamily="34" charset="0"/>
                <a:ea typeface="Arial" pitchFamily="34" charset="-122"/>
                <a:cs typeface="Arial" pitchFamily="34" charset="-120"/>
              </a:rPr>
              <a:t>findings → [PROPOSED] requirement changes filed in the requirements repository (or a domain change request, A0), with rule ID and evidence. Workflow: if findings &gt; 0 → propose → gate “lead architect: accept?” → Step 1 / Step 0. Never written into a spec — ShAIping stays the golden source.</a:t>
            </a:r>
            <a:endParaRPr lang="en-US" sz="750" dirty="0"/>
          </a:p>
        </p:txBody>
      </p:sp>
      <p:sp>
        <p:nvSpPr>
          <p:cNvPr id="45" name="Text 43"/>
          <p:cNvSpPr/>
          <p:nvPr/>
        </p:nvSpPr>
        <p:spPr>
          <a:xfrm>
            <a:off x="8595360" y="3044952"/>
            <a:ext cx="3017520" cy="685800"/>
          </a:xfrm>
          <a:prstGeom prst="rect">
            <a:avLst/>
          </a:prstGeom>
          <a:noFill/>
          <a:ln/>
        </p:spPr>
        <p:txBody>
          <a:bodyPr wrap="square" lIns="0" tIns="0" rIns="0" bIns="0" rtlCol="0" anchor="t"/>
          <a:lstStyle/>
          <a:p>
            <a:pPr indent="0" marL="0">
              <a:buNone/>
            </a:pPr>
            <a:r>
              <a:rPr lang="en-US" sz="750" b="1" dirty="0">
                <a:solidFill>
                  <a:srgbClr val="0B3F2C"/>
                </a:solidFill>
                <a:latin typeface="Arial" pitchFamily="34" charset="0"/>
                <a:ea typeface="Arial" pitchFamily="34" charset="-122"/>
                <a:cs typeface="Arial" pitchFamily="34" charset="-120"/>
              </a:rPr>
              <a:t>Waivers: </a:t>
            </a:r>
            <a:pPr indent="0" marL="0">
              <a:buNone/>
            </a:pPr>
            <a:r>
              <a:rPr lang="en-US" sz="750" dirty="0">
                <a:solidFill>
                  <a:srgbClr val="1B2A24"/>
                </a:solidFill>
                <a:latin typeface="Arial" pitchFamily="34" charset="0"/>
                <a:ea typeface="Arial" pitchFamily="34" charset="-122"/>
                <a:cs typeface="Arial" pitchFamily="34" charset="-120"/>
              </a:rPr>
              <a:t>a rule is waived only through a live, evidence-bearing exception with owner and expiry, recorded in the decision ledger; expired waivers reopen findings at any A-gate.</a:t>
            </a:r>
            <a:endParaRPr lang="en-US" sz="750" dirty="0"/>
          </a:p>
        </p:txBody>
      </p:sp>
      <p:sp>
        <p:nvSpPr>
          <p:cNvPr id="46" name="Text 44"/>
          <p:cNvSpPr/>
          <p:nvPr/>
        </p:nvSpPr>
        <p:spPr>
          <a:xfrm>
            <a:off x="8595360" y="3749040"/>
            <a:ext cx="3017520" cy="731520"/>
          </a:xfrm>
          <a:prstGeom prst="rect">
            <a:avLst/>
          </a:prstGeom>
          <a:noFill/>
          <a:ln/>
        </p:spPr>
        <p:txBody>
          <a:bodyPr wrap="square" lIns="0" tIns="0" rIns="0" bIns="0" rtlCol="0" anchor="t"/>
          <a:lstStyle/>
          <a:p>
            <a:pPr indent="0" marL="0">
              <a:buNone/>
            </a:pPr>
            <a:r>
              <a:rPr lang="en-US" sz="750" b="1" dirty="0">
                <a:solidFill>
                  <a:srgbClr val="0B3F2C"/>
                </a:solidFill>
                <a:latin typeface="Arial" pitchFamily="34" charset="0"/>
                <a:ea typeface="Arial" pitchFamily="34" charset="-122"/>
                <a:cs typeface="Arial" pitchFamily="34" charset="-120"/>
              </a:rPr>
              <a:t>KPIs for the architect: </a:t>
            </a:r>
            <a:pPr indent="0" marL="0">
              <a:buNone/>
            </a:pPr>
            <a:r>
              <a:rPr lang="en-US" sz="750" dirty="0">
                <a:solidFill>
                  <a:srgbClr val="1B2A24"/>
                </a:solidFill>
                <a:latin typeface="Arial" pitchFamily="34" charset="0"/>
                <a:ea typeface="Arial" pitchFamily="34" charset="-122"/>
                <a:cs typeface="Arial" pitchFamily="34" charset="-120"/>
              </a:rPr>
              <a:t>conformance rate per A-gate, iteration and context; findings aging; most-violated rules; waiver debt; proposal acceptance rate — the evidence base of the role.</a:t>
            </a:r>
            <a:endParaRPr lang="en-US" sz="750" dirty="0"/>
          </a:p>
        </p:txBody>
      </p:sp>
      <p:sp>
        <p:nvSpPr>
          <p:cNvPr id="47" name="Text 45"/>
          <p:cNvSpPr/>
          <p:nvPr/>
        </p:nvSpPr>
        <p:spPr>
          <a:xfrm>
            <a:off x="8595360" y="4507992"/>
            <a:ext cx="3017520" cy="640080"/>
          </a:xfrm>
          <a:prstGeom prst="rect">
            <a:avLst/>
          </a:prstGeom>
          <a:noFill/>
          <a:ln/>
        </p:spPr>
        <p:txBody>
          <a:bodyPr wrap="square" lIns="0" tIns="0" rIns="0" bIns="0" rtlCol="0" anchor="t"/>
          <a:lstStyle/>
          <a:p>
            <a:pPr indent="0" marL="0">
              <a:buNone/>
            </a:pPr>
            <a:r>
              <a:rPr lang="en-US" sz="750" b="1" dirty="0">
                <a:solidFill>
                  <a:srgbClr val="0B3F2C"/>
                </a:solidFill>
                <a:latin typeface="Arial" pitchFamily="34" charset="0"/>
                <a:ea typeface="Arial" pitchFamily="34" charset="-122"/>
                <a:cs typeface="Arial" pitchFamily="34" charset="-120"/>
              </a:rPr>
              <a:t>Where it lands: </a:t>
            </a:r>
            <a:pPr indent="0" marL="0">
              <a:buNone/>
            </a:pPr>
            <a:r>
              <a:rPr lang="en-US" sz="750" dirty="0">
                <a:solidFill>
                  <a:srgbClr val="1B2A24"/>
                </a:solidFill>
                <a:latin typeface="Arial" pitchFamily="34" charset="0"/>
                <a:ea typeface="Arial" pitchFamily="34" charset="-122"/>
                <a:cs typeface="Arial" pitchFamily="34" charset="-120"/>
              </a:rPr>
              <a:t>plan.md conformance table · checklists/architecture.md · PR status checks · findings.json · ledger · KPI view.</a:t>
            </a:r>
            <a:endParaRPr lang="en-US" sz="750" dirty="0"/>
          </a:p>
        </p:txBody>
      </p:sp>
      <p:sp>
        <p:nvSpPr>
          <p:cNvPr id="48" name="Shape 46"/>
          <p:cNvSpPr/>
          <p:nvPr/>
        </p:nvSpPr>
        <p:spPr>
          <a:xfrm>
            <a:off x="457200" y="5486400"/>
            <a:ext cx="11274552" cy="896112"/>
          </a:xfrm>
          <a:prstGeom prst="roundRect">
            <a:avLst>
              <a:gd name="adj" fmla="val 8163"/>
            </a:avLst>
          </a:prstGeom>
          <a:solidFill>
            <a:srgbClr val="0B3F2C"/>
          </a:solidFill>
          <a:ln w="12700">
            <a:solidFill>
              <a:srgbClr val="0B3F2C"/>
            </a:solidFill>
            <a:prstDash val="solid"/>
          </a:ln>
        </p:spPr>
      </p:sp>
      <p:sp>
        <p:nvSpPr>
          <p:cNvPr id="49" name="Text 47"/>
          <p:cNvSpPr/>
          <p:nvPr/>
        </p:nvSpPr>
        <p:spPr>
          <a:xfrm>
            <a:off x="685800" y="5559552"/>
            <a:ext cx="10835640" cy="777240"/>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Done today: </a:t>
            </a:r>
            <a:pPr indent="0" marL="0">
              <a:buNone/>
            </a:pPr>
            <a:r>
              <a:rPr lang="en-US" sz="850" dirty="0">
                <a:solidFill>
                  <a:srgbClr val="FFFFFF"/>
                </a:solidFill>
                <a:latin typeface="Arial" pitchFamily="34" charset="0"/>
                <a:ea typeface="Arial" pitchFamily="34" charset="-122"/>
                <a:cs typeface="Arial" pitchFamily="34" charset="-120"/>
              </a:rPr>
              <a:t>ShAIping and its Spec Kit integration, the architecture standards as skills, the Architecture Assessor (A7) and Spec Kit’s native agents. </a:t>
            </a:r>
            <a:pPr indent="0" marL="0">
              <a:buNone/>
            </a:pPr>
            <a:r>
              <a:rPr lang="en-US" sz="850" b="1" dirty="0">
                <a:solidFill>
                  <a:srgbClr val="FFFFFF"/>
                </a:solidFill>
                <a:latin typeface="Arial" pitchFamily="34" charset="0"/>
                <a:ea typeface="Arial" pitchFamily="34" charset="-122"/>
                <a:cs typeface="Arial" pitchFamily="34" charset="-120"/>
              </a:rPr>
              <a:t>What changes for the lead architect: </a:t>
            </a:r>
            <a:pPr indent="0" marL="0">
              <a:buNone/>
            </a:pPr>
            <a:r>
              <a:rPr lang="en-US" sz="850" dirty="0">
                <a:solidFill>
                  <a:srgbClr val="FFFFFF"/>
                </a:solidFill>
                <a:latin typeface="Arial" pitchFamily="34" charset="0"/>
                <a:ea typeface="Arial" pitchFamily="34" charset="-122"/>
                <a:cs typeface="Arial" pitchFamily="34" charset="-120"/>
              </a:rPr>
              <a:t>four owned artifacts instead of a review slot — the domain master design (A0), the rulebook, the design sign-off on evidence (A3), and the Assessor whose findings enter Requirements as proposals (A7 → A1). Nothing built inside the loop can drift from the rules without a recorded waiver.</a:t>
            </a:r>
            <a:endParaRPr lang="en-US" sz="850" dirty="0"/>
          </a:p>
        </p:txBody>
      </p:sp>
      <p:sp>
        <p:nvSpPr>
          <p:cNvPr id="50" name="Text 48"/>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Missing but important — the A-gate roadmap</a:t>
            </a:r>
            <a:endParaRPr lang="en-US" sz="2400" dirty="0"/>
          </a:p>
        </p:txBody>
      </p:sp>
      <p:sp>
        <p:nvSpPr>
          <p:cNvPr id="3" name="Text 1"/>
          <p:cNvSpPr/>
          <p:nvPr/>
        </p:nvSpPr>
        <p:spPr>
          <a:xfrm>
            <a:off x="457200" y="804672"/>
            <a:ext cx="11247120" cy="365760"/>
          </a:xfrm>
          <a:prstGeom prst="rect">
            <a:avLst/>
          </a:prstGeom>
          <a:noFill/>
          <a:ln/>
        </p:spPr>
        <p:txBody>
          <a:bodyPr wrap="square" lIns="0" tIns="0" rIns="0" bIns="0" rtlCol="0" anchor="t"/>
          <a:lstStyle/>
          <a:p>
            <a:pPr indent="0" marL="0">
              <a:buNone/>
            </a:pPr>
            <a:r>
              <a:rPr lang="en-US" sz="1100" dirty="0">
                <a:solidFill>
                  <a:srgbClr val="5F6B66"/>
                </a:solidFill>
                <a:latin typeface="Arial" pitchFamily="34" charset="0"/>
                <a:ea typeface="Arial" pitchFamily="34" charset="-122"/>
                <a:cs typeface="Arial" pitchFamily="34" charset="-120"/>
              </a:rPr>
              <a:t>Sequenced by what each item unlocks, not by effort. Every item is a script with a verdict plus the artifact humans decide on; ecosystem pieces are reused where they fit, the gate code is ours. Done today is listed at the bottom.</a:t>
            </a:r>
            <a:endParaRPr lang="en-US" sz="1100" dirty="0"/>
          </a:p>
        </p:txBody>
      </p:sp>
      <p:sp>
        <p:nvSpPr>
          <p:cNvPr id="4" name="Shape 2"/>
          <p:cNvSpPr/>
          <p:nvPr/>
        </p:nvSpPr>
        <p:spPr>
          <a:xfrm>
            <a:off x="457200" y="1371600"/>
            <a:ext cx="2697480" cy="2148840"/>
          </a:xfrm>
          <a:prstGeom prst="roundRect">
            <a:avLst>
              <a:gd name="adj" fmla="val 3404"/>
            </a:avLst>
          </a:prstGeom>
          <a:solidFill>
            <a:srgbClr val="FFFFFF"/>
          </a:solidFill>
          <a:ln w="9525">
            <a:solidFill>
              <a:srgbClr val="E9ECEA"/>
            </a:solidFill>
            <a:prstDash val="solid"/>
          </a:ln>
        </p:spPr>
      </p:sp>
      <p:sp>
        <p:nvSpPr>
          <p:cNvPr id="5" name="Text 3"/>
          <p:cNvSpPr/>
          <p:nvPr/>
        </p:nvSpPr>
        <p:spPr>
          <a:xfrm>
            <a:off x="566928" y="1481328"/>
            <a:ext cx="384048" cy="384048"/>
          </a:xfrm>
          <a:prstGeom prst="ellipse">
            <a:avLst/>
          </a:prstGeom>
          <a:solidFill>
            <a:srgbClr val="0B3F2C"/>
          </a:solidFill>
          <a:ln>
            <a:solidFill>
              <a:srgbClr val="0B3F2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6" name="Text 4"/>
          <p:cNvSpPr/>
          <p:nvPr/>
        </p:nvSpPr>
        <p:spPr>
          <a:xfrm>
            <a:off x="1024128" y="1481328"/>
            <a:ext cx="2011680" cy="402336"/>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Rulebook binding + A3 wiring</a:t>
            </a:r>
            <a:endParaRPr lang="en-US" sz="950" dirty="0"/>
          </a:p>
        </p:txBody>
      </p:sp>
      <p:sp>
        <p:nvSpPr>
          <p:cNvPr id="7" name="Text 5"/>
          <p:cNvSpPr/>
          <p:nvPr/>
        </p:nvSpPr>
        <p:spPr>
          <a:xfrm>
            <a:off x="585216" y="1975104"/>
            <a:ext cx="2441448" cy="685800"/>
          </a:xfrm>
          <a:prstGeom prst="rect">
            <a:avLst/>
          </a:prstGeom>
          <a:noFill/>
          <a:ln/>
        </p:spPr>
        <p:txBody>
          <a:bodyPr wrap="square" lIns="0" tIns="0" rIns="0" bIns="0" rtlCol="0" anchor="t"/>
          <a:lstStyle/>
          <a:p>
            <a:pPr indent="0" marL="0">
              <a:buNone/>
            </a:pPr>
            <a:r>
              <a:rPr lang="en-US" sz="750" b="1" dirty="0">
                <a:solidFill>
                  <a:srgbClr val="B23A32"/>
                </a:solidFill>
                <a:latin typeface="Arial" pitchFamily="34" charset="0"/>
                <a:ea typeface="Arial" pitchFamily="34" charset="-122"/>
                <a:cs typeface="Arial" pitchFamily="34" charset="-120"/>
              </a:rPr>
              <a:t>Build: </a:t>
            </a:r>
            <a:pPr indent="0" marL="0">
              <a:buNone/>
            </a:pPr>
            <a:r>
              <a:rPr lang="en-US" sz="750" dirty="0">
                <a:solidFill>
                  <a:srgbClr val="1B2A24"/>
                </a:solidFill>
                <a:latin typeface="Arial" pitchFamily="34" charset="0"/>
                <a:ea typeface="Arial" pitchFamily="34" charset="-122"/>
                <a:cs typeface="Arial" pitchFamily="34" charset="-120"/>
              </a:rPr>
              <a:t>ARCH-### binding of the standards skills; context loader (before_plan); plan wrap + check-plan (after_plan) → checklists/architecture.md; decision ledger; task guard (after_tasks)</a:t>
            </a:r>
            <a:endParaRPr lang="en-US" sz="750" dirty="0"/>
          </a:p>
        </p:txBody>
      </p:sp>
      <p:sp>
        <p:nvSpPr>
          <p:cNvPr id="8" name="Text 6"/>
          <p:cNvSpPr/>
          <p:nvPr/>
        </p:nvSpPr>
        <p:spPr>
          <a:xfrm>
            <a:off x="585216" y="2670048"/>
            <a:ext cx="2441448" cy="411480"/>
          </a:xfrm>
          <a:prstGeom prst="rect">
            <a:avLst/>
          </a:prstGeom>
          <a:noFill/>
          <a:ln/>
        </p:spPr>
        <p:txBody>
          <a:bodyPr wrap="square" lIns="0" tIns="0" rIns="0" bIns="0" rtlCol="0" anchor="t"/>
          <a:lstStyle/>
          <a:p>
            <a:pPr indent="0" marL="0">
              <a:buNone/>
            </a:pPr>
            <a:r>
              <a:rPr lang="en-US" sz="750" b="1" dirty="0">
                <a:solidFill>
                  <a:srgbClr val="0E6B45"/>
                </a:solidFill>
                <a:latin typeface="Arial" pitchFamily="34" charset="0"/>
                <a:ea typeface="Arial" pitchFamily="34" charset="-122"/>
                <a:cs typeface="Arial" pitchFamily="34" charset="-120"/>
              </a:rPr>
              <a:t>Protects: </a:t>
            </a:r>
            <a:pPr indent="0" marL="0">
              <a:buNone/>
            </a:pPr>
            <a:r>
              <a:rPr lang="en-US" sz="750" dirty="0">
                <a:solidFill>
                  <a:srgbClr val="1B2A24"/>
                </a:solidFill>
                <a:latin typeface="Arial" pitchFamily="34" charset="0"/>
                <a:ea typeface="Arial" pitchFamily="34" charset="-122"/>
                <a:cs typeface="Arial" pitchFamily="34" charset="-120"/>
              </a:rPr>
              <a:t>architecture constrains the plan before code exists; implement cannot start on unmet design items</a:t>
            </a:r>
            <a:endParaRPr lang="en-US" sz="750" dirty="0"/>
          </a:p>
        </p:txBody>
      </p:sp>
      <p:sp>
        <p:nvSpPr>
          <p:cNvPr id="9" name="Text 7"/>
          <p:cNvSpPr/>
          <p:nvPr/>
        </p:nvSpPr>
        <p:spPr>
          <a:xfrm>
            <a:off x="585216" y="3108960"/>
            <a:ext cx="2441448" cy="365760"/>
          </a:xfrm>
          <a:prstGeom prst="rect">
            <a:avLst/>
          </a:prstGeom>
          <a:noFill/>
          <a:ln/>
        </p:spPr>
        <p:txBody>
          <a:bodyPr wrap="square" lIns="0" tIns="0" rIns="0" bIns="0" rtlCol="0" anchor="t"/>
          <a:lstStyle/>
          <a:p>
            <a:pPr indent="0" marL="0">
              <a:buNone/>
            </a:pPr>
            <a:r>
              <a:rPr lang="en-US" sz="750" b="1" dirty="0">
                <a:solidFill>
                  <a:srgbClr val="D28E14"/>
                </a:solidFill>
                <a:latin typeface="Arial" pitchFamily="34" charset="0"/>
                <a:ea typeface="Arial" pitchFamily="34" charset="-122"/>
                <a:cs typeface="Arial" pitchFamily="34" charset="-120"/>
              </a:rPr>
              <a:t>Builds on: </a:t>
            </a:r>
            <a:pPr indent="0" marL="0">
              <a:buNone/>
            </a:pPr>
            <a:r>
              <a:rPr lang="en-US" sz="750" dirty="0">
                <a:solidFill>
                  <a:srgbClr val="1B2A24"/>
                </a:solidFill>
                <a:latin typeface="Arial" pitchFamily="34" charset="0"/>
                <a:ea typeface="Arial" pitchFamily="34" charset="-122"/>
                <a:cs typeface="Arial" pitchFamily="34" charset="-120"/>
              </a:rPr>
              <a:t>standards skills (available) · Constitution Check · analyze CRITICAL · implement checklist gate · adrkit</a:t>
            </a:r>
            <a:endParaRPr lang="en-US" sz="750" dirty="0"/>
          </a:p>
        </p:txBody>
      </p:sp>
      <p:sp>
        <p:nvSpPr>
          <p:cNvPr id="10" name="Shape 8"/>
          <p:cNvSpPr/>
          <p:nvPr/>
        </p:nvSpPr>
        <p:spPr>
          <a:xfrm>
            <a:off x="3310128" y="1371600"/>
            <a:ext cx="2697480" cy="2148840"/>
          </a:xfrm>
          <a:prstGeom prst="roundRect">
            <a:avLst>
              <a:gd name="adj" fmla="val 3404"/>
            </a:avLst>
          </a:prstGeom>
          <a:solidFill>
            <a:srgbClr val="FFFFFF"/>
          </a:solidFill>
          <a:ln w="9525">
            <a:solidFill>
              <a:srgbClr val="E9ECEA"/>
            </a:solidFill>
            <a:prstDash val="solid"/>
          </a:ln>
        </p:spPr>
      </p:sp>
      <p:sp>
        <p:nvSpPr>
          <p:cNvPr id="11" name="Text 9"/>
          <p:cNvSpPr/>
          <p:nvPr/>
        </p:nvSpPr>
        <p:spPr>
          <a:xfrm>
            <a:off x="3419856" y="1481328"/>
            <a:ext cx="384048" cy="384048"/>
          </a:xfrm>
          <a:prstGeom prst="ellipse">
            <a:avLst/>
          </a:prstGeom>
          <a:solidFill>
            <a:srgbClr val="0B3F2C"/>
          </a:solidFill>
          <a:ln>
            <a:solidFill>
              <a:srgbClr val="0B3F2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Text 10"/>
          <p:cNvSpPr/>
          <p:nvPr/>
        </p:nvSpPr>
        <p:spPr>
          <a:xfrm>
            <a:off x="3877056" y="1481328"/>
            <a:ext cx="2011680" cy="402336"/>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Domain master design + A0 guard</a:t>
            </a:r>
            <a:endParaRPr lang="en-US" sz="950" dirty="0"/>
          </a:p>
        </p:txBody>
      </p:sp>
      <p:sp>
        <p:nvSpPr>
          <p:cNvPr id="13" name="Text 11"/>
          <p:cNvSpPr/>
          <p:nvPr/>
        </p:nvSpPr>
        <p:spPr>
          <a:xfrm>
            <a:off x="3438144" y="1975104"/>
            <a:ext cx="2441448" cy="685800"/>
          </a:xfrm>
          <a:prstGeom prst="rect">
            <a:avLst/>
          </a:prstGeom>
          <a:noFill/>
          <a:ln/>
        </p:spPr>
        <p:txBody>
          <a:bodyPr wrap="square" lIns="0" tIns="0" rIns="0" bIns="0" rtlCol="0" anchor="t"/>
          <a:lstStyle/>
          <a:p>
            <a:pPr indent="0" marL="0">
              <a:buNone/>
            </a:pPr>
            <a:r>
              <a:rPr lang="en-US" sz="750" b="1" dirty="0">
                <a:solidFill>
                  <a:srgbClr val="B23A32"/>
                </a:solidFill>
                <a:latin typeface="Arial" pitchFamily="34" charset="0"/>
                <a:ea typeface="Arial" pitchFamily="34" charset="-122"/>
                <a:cs typeface="Arial" pitchFamily="34" charset="-120"/>
              </a:rPr>
              <a:t>Build: </a:t>
            </a:r>
            <a:pPr indent="0" marL="0">
              <a:buNone/>
            </a:pPr>
            <a:r>
              <a:rPr lang="en-US" sz="750" dirty="0">
                <a:solidFill>
                  <a:srgbClr val="1B2A24"/>
                </a:solidFill>
                <a:latin typeface="Arial" pitchFamily="34" charset="0"/>
                <a:ea typeface="Arial" pitchFamily="34" charset="-122"/>
                <a:cs typeface="Arial" pitchFamily="34" charset="-120"/>
              </a:rPr>
              <a:t>map, context map, glossary, owners; constitution article; speckit.domain.check (version pin, context) on before_plan / before_implement</a:t>
            </a:r>
            <a:endParaRPr lang="en-US" sz="750" dirty="0"/>
          </a:p>
        </p:txBody>
      </p:sp>
      <p:sp>
        <p:nvSpPr>
          <p:cNvPr id="14" name="Text 12"/>
          <p:cNvSpPr/>
          <p:nvPr/>
        </p:nvSpPr>
        <p:spPr>
          <a:xfrm>
            <a:off x="3438144" y="2670048"/>
            <a:ext cx="2441448" cy="411480"/>
          </a:xfrm>
          <a:prstGeom prst="rect">
            <a:avLst/>
          </a:prstGeom>
          <a:noFill/>
          <a:ln/>
        </p:spPr>
        <p:txBody>
          <a:bodyPr wrap="square" lIns="0" tIns="0" rIns="0" bIns="0" rtlCol="0" anchor="t"/>
          <a:lstStyle/>
          <a:p>
            <a:pPr indent="0" marL="0">
              <a:buNone/>
            </a:pPr>
            <a:r>
              <a:rPr lang="en-US" sz="750" b="1" dirty="0">
                <a:solidFill>
                  <a:srgbClr val="0E6B45"/>
                </a:solidFill>
                <a:latin typeface="Arial" pitchFamily="34" charset="0"/>
                <a:ea typeface="Arial" pitchFamily="34" charset="-122"/>
                <a:cs typeface="Arial" pitchFamily="34" charset="-120"/>
              </a:rPr>
              <a:t>Protects: </a:t>
            </a:r>
            <a:pPr indent="0" marL="0">
              <a:buNone/>
            </a:pPr>
            <a:r>
              <a:rPr lang="en-US" sz="750" dirty="0">
                <a:solidFill>
                  <a:srgbClr val="1B2A24"/>
                </a:solidFill>
                <a:latin typeface="Arial" pitchFamily="34" charset="0"/>
                <a:ea typeface="Arial" pitchFamily="34" charset="-122"/>
                <a:cs typeface="Arial" pitchFamily="34" charset="-120"/>
              </a:rPr>
              <a:t>answers “where are the domains”; no orphan features</a:t>
            </a:r>
            <a:endParaRPr lang="en-US" sz="750" dirty="0"/>
          </a:p>
        </p:txBody>
      </p:sp>
      <p:sp>
        <p:nvSpPr>
          <p:cNvPr id="15" name="Text 13"/>
          <p:cNvSpPr/>
          <p:nvPr/>
        </p:nvSpPr>
        <p:spPr>
          <a:xfrm>
            <a:off x="3438144" y="3108960"/>
            <a:ext cx="2441448" cy="365760"/>
          </a:xfrm>
          <a:prstGeom prst="rect">
            <a:avLst/>
          </a:prstGeom>
          <a:noFill/>
          <a:ln/>
        </p:spPr>
        <p:txBody>
          <a:bodyPr wrap="square" lIns="0" tIns="0" rIns="0" bIns="0" rtlCol="0" anchor="t"/>
          <a:lstStyle/>
          <a:p>
            <a:pPr indent="0" marL="0">
              <a:buNone/>
            </a:pPr>
            <a:r>
              <a:rPr lang="en-US" sz="750" b="1" dirty="0">
                <a:solidFill>
                  <a:srgbClr val="D28E14"/>
                </a:solidFill>
                <a:latin typeface="Arial" pitchFamily="34" charset="0"/>
                <a:ea typeface="Arial" pitchFamily="34" charset="-122"/>
                <a:cs typeface="Arial" pitchFamily="34" charset="-120"/>
              </a:rPr>
              <a:t>Builds on: </a:t>
            </a:r>
            <a:pPr indent="0" marL="0">
              <a:buNone/>
            </a:pPr>
            <a:r>
              <a:rPr lang="en-US" sz="750" dirty="0">
                <a:solidFill>
                  <a:srgbClr val="1B2A24"/>
                </a:solidFill>
                <a:latin typeface="Arial" pitchFamily="34" charset="0"/>
                <a:ea typeface="Arial" pitchFamily="34" charset="-122"/>
                <a:cs typeface="Arial" pitchFamily="34" charset="-120"/>
              </a:rPr>
              <a:t>constitution · memory-loader · charter</a:t>
            </a:r>
            <a:endParaRPr lang="en-US" sz="750" dirty="0"/>
          </a:p>
        </p:txBody>
      </p:sp>
      <p:sp>
        <p:nvSpPr>
          <p:cNvPr id="16" name="Shape 14"/>
          <p:cNvSpPr/>
          <p:nvPr/>
        </p:nvSpPr>
        <p:spPr>
          <a:xfrm>
            <a:off x="6163056" y="1371600"/>
            <a:ext cx="2697480" cy="2148840"/>
          </a:xfrm>
          <a:prstGeom prst="roundRect">
            <a:avLst>
              <a:gd name="adj" fmla="val 3404"/>
            </a:avLst>
          </a:prstGeom>
          <a:solidFill>
            <a:srgbClr val="FFFFFF"/>
          </a:solidFill>
          <a:ln w="9525">
            <a:solidFill>
              <a:srgbClr val="E9ECEA"/>
            </a:solidFill>
            <a:prstDash val="solid"/>
          </a:ln>
        </p:spPr>
      </p:sp>
      <p:sp>
        <p:nvSpPr>
          <p:cNvPr id="17" name="Text 15"/>
          <p:cNvSpPr/>
          <p:nvPr/>
        </p:nvSpPr>
        <p:spPr>
          <a:xfrm>
            <a:off x="6272784" y="1481328"/>
            <a:ext cx="384048" cy="384048"/>
          </a:xfrm>
          <a:prstGeom prst="ellipse">
            <a:avLst/>
          </a:prstGeom>
          <a:solidFill>
            <a:srgbClr val="0B3F2C"/>
          </a:solidFill>
          <a:ln>
            <a:solidFill>
              <a:srgbClr val="0B3F2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8" name="Text 16"/>
          <p:cNvSpPr/>
          <p:nvPr/>
        </p:nvSpPr>
        <p:spPr>
          <a:xfrm>
            <a:off x="6729984" y="1481328"/>
            <a:ext cx="2011680" cy="402336"/>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A4 fitness runner + code graph</a:t>
            </a:r>
            <a:endParaRPr lang="en-US" sz="950" dirty="0"/>
          </a:p>
        </p:txBody>
      </p:sp>
      <p:sp>
        <p:nvSpPr>
          <p:cNvPr id="19" name="Text 17"/>
          <p:cNvSpPr/>
          <p:nvPr/>
        </p:nvSpPr>
        <p:spPr>
          <a:xfrm>
            <a:off x="6291072" y="1975104"/>
            <a:ext cx="2441448" cy="685800"/>
          </a:xfrm>
          <a:prstGeom prst="rect">
            <a:avLst/>
          </a:prstGeom>
          <a:noFill/>
          <a:ln/>
        </p:spPr>
        <p:txBody>
          <a:bodyPr wrap="square" lIns="0" tIns="0" rIns="0" bIns="0" rtlCol="0" anchor="t"/>
          <a:lstStyle/>
          <a:p>
            <a:pPr indent="0" marL="0">
              <a:buNone/>
            </a:pPr>
            <a:r>
              <a:rPr lang="en-US" sz="750" b="1" dirty="0">
                <a:solidFill>
                  <a:srgbClr val="B23A32"/>
                </a:solidFill>
                <a:latin typeface="Arial" pitchFamily="34" charset="0"/>
                <a:ea typeface="Arial" pitchFamily="34" charset="-122"/>
                <a:cs typeface="Arial" pitchFamily="34" charset="-120"/>
              </a:rPr>
              <a:t>Build: </a:t>
            </a:r>
            <a:pPr indent="0" marL="0">
              <a:buNone/>
            </a:pPr>
            <a:r>
              <a:rPr lang="en-US" sz="750" dirty="0">
                <a:solidFill>
                  <a:srgbClr val="1B2A24"/>
                </a:solidFill>
                <a:latin typeface="Arial" pitchFamily="34" charset="0"/>
                <a:ea typeface="Arial" pitchFamily="34" charset="-122"/>
                <a:cs typeface="Arial" pitchFamily="34" charset="-120"/>
              </a:rPr>
              <a:t>speckit.arch.fitness on after_implement / after_converge, in the 4 ⇄ 5 do-while and as PR check; fitness-test tasks via the tasks preset; code-graph provider behind the seam</a:t>
            </a:r>
            <a:endParaRPr lang="en-US" sz="750" dirty="0"/>
          </a:p>
        </p:txBody>
      </p:sp>
      <p:sp>
        <p:nvSpPr>
          <p:cNvPr id="20" name="Text 18"/>
          <p:cNvSpPr/>
          <p:nvPr/>
        </p:nvSpPr>
        <p:spPr>
          <a:xfrm>
            <a:off x="6291072" y="2670048"/>
            <a:ext cx="2441448" cy="411480"/>
          </a:xfrm>
          <a:prstGeom prst="rect">
            <a:avLst/>
          </a:prstGeom>
          <a:noFill/>
          <a:ln/>
        </p:spPr>
        <p:txBody>
          <a:bodyPr wrap="square" lIns="0" tIns="0" rIns="0" bIns="0" rtlCol="0" anchor="t"/>
          <a:lstStyle/>
          <a:p>
            <a:pPr indent="0" marL="0">
              <a:buNone/>
            </a:pPr>
            <a:r>
              <a:rPr lang="en-US" sz="750" b="1" dirty="0">
                <a:solidFill>
                  <a:srgbClr val="0E6B45"/>
                </a:solidFill>
                <a:latin typeface="Arial" pitchFamily="34" charset="0"/>
                <a:ea typeface="Arial" pitchFamily="34" charset="-122"/>
                <a:cs typeface="Arial" pitchFamily="34" charset="-120"/>
              </a:rPr>
              <a:t>Protects: </a:t>
            </a:r>
            <a:pPr indent="0" marL="0">
              <a:buNone/>
            </a:pPr>
            <a:r>
              <a:rPr lang="en-US" sz="750" dirty="0">
                <a:solidFill>
                  <a:srgbClr val="1B2A24"/>
                </a:solidFill>
                <a:latin typeface="Arial" pitchFamily="34" charset="0"/>
                <a:ea typeface="Arial" pitchFamily="34" charset="-122"/>
                <a:cs typeface="Arial" pitchFamily="34" charset="-120"/>
              </a:rPr>
              <a:t>code cannot cross boundaries the map forbids; verdict identical in hook, loop and CI</a:t>
            </a:r>
            <a:endParaRPr lang="en-US" sz="750" dirty="0"/>
          </a:p>
        </p:txBody>
      </p:sp>
      <p:sp>
        <p:nvSpPr>
          <p:cNvPr id="21" name="Text 19"/>
          <p:cNvSpPr/>
          <p:nvPr/>
        </p:nvSpPr>
        <p:spPr>
          <a:xfrm>
            <a:off x="6291072" y="3108960"/>
            <a:ext cx="2441448" cy="365760"/>
          </a:xfrm>
          <a:prstGeom prst="rect">
            <a:avLst/>
          </a:prstGeom>
          <a:noFill/>
          <a:ln/>
        </p:spPr>
        <p:txBody>
          <a:bodyPr wrap="square" lIns="0" tIns="0" rIns="0" bIns="0" rtlCol="0" anchor="t"/>
          <a:lstStyle/>
          <a:p>
            <a:pPr indent="0" marL="0">
              <a:buNone/>
            </a:pPr>
            <a:r>
              <a:rPr lang="en-US" sz="750" b="1" dirty="0">
                <a:solidFill>
                  <a:srgbClr val="D28E14"/>
                </a:solidFill>
                <a:latin typeface="Arial" pitchFamily="34" charset="0"/>
                <a:ea typeface="Arial" pitchFamily="34" charset="-122"/>
                <a:cs typeface="Arial" pitchFamily="34" charset="-120"/>
              </a:rPr>
              <a:t>Builds on: </a:t>
            </a:r>
            <a:pPr indent="0" marL="0">
              <a:buNone/>
            </a:pPr>
            <a:r>
              <a:rPr lang="en-US" sz="750" dirty="0">
                <a:solidFill>
                  <a:srgbClr val="1B2A24"/>
                </a:solidFill>
                <a:latin typeface="Arial" pitchFamily="34" charset="0"/>
                <a:ea typeface="Arial" pitchFamily="34" charset="-122"/>
                <a:cs typeface="Arial" pitchFamily="34" charset="-120"/>
              </a:rPr>
              <a:t>architecture-guard · blueprint-index · Graphify / AST</a:t>
            </a:r>
            <a:endParaRPr lang="en-US" sz="750" dirty="0"/>
          </a:p>
        </p:txBody>
      </p:sp>
      <p:sp>
        <p:nvSpPr>
          <p:cNvPr id="22" name="Shape 20"/>
          <p:cNvSpPr/>
          <p:nvPr/>
        </p:nvSpPr>
        <p:spPr>
          <a:xfrm>
            <a:off x="9015984" y="1371600"/>
            <a:ext cx="2697480" cy="2148840"/>
          </a:xfrm>
          <a:prstGeom prst="roundRect">
            <a:avLst>
              <a:gd name="adj" fmla="val 3404"/>
            </a:avLst>
          </a:prstGeom>
          <a:solidFill>
            <a:srgbClr val="FFFFFF"/>
          </a:solidFill>
          <a:ln w="9525">
            <a:solidFill>
              <a:srgbClr val="E9ECEA"/>
            </a:solidFill>
            <a:prstDash val="solid"/>
          </a:ln>
        </p:spPr>
      </p:sp>
      <p:sp>
        <p:nvSpPr>
          <p:cNvPr id="23" name="Text 21"/>
          <p:cNvSpPr/>
          <p:nvPr/>
        </p:nvSpPr>
        <p:spPr>
          <a:xfrm>
            <a:off x="9125712" y="1481328"/>
            <a:ext cx="384048" cy="384048"/>
          </a:xfrm>
          <a:prstGeom prst="ellipse">
            <a:avLst/>
          </a:prstGeom>
          <a:solidFill>
            <a:srgbClr val="0B3F2C"/>
          </a:solidFill>
          <a:ln>
            <a:solidFill>
              <a:srgbClr val="0B3F2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4" name="Text 22"/>
          <p:cNvSpPr/>
          <p:nvPr/>
        </p:nvSpPr>
        <p:spPr>
          <a:xfrm>
            <a:off x="9582912" y="1481328"/>
            <a:ext cx="2011680" cy="402336"/>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Domain change control</a:t>
            </a:r>
            <a:endParaRPr lang="en-US" sz="950" dirty="0"/>
          </a:p>
        </p:txBody>
      </p:sp>
      <p:sp>
        <p:nvSpPr>
          <p:cNvPr id="25" name="Text 23"/>
          <p:cNvSpPr/>
          <p:nvPr/>
        </p:nvSpPr>
        <p:spPr>
          <a:xfrm>
            <a:off x="9144000" y="1975104"/>
            <a:ext cx="2441448" cy="685800"/>
          </a:xfrm>
          <a:prstGeom prst="rect">
            <a:avLst/>
          </a:prstGeom>
          <a:noFill/>
          <a:ln/>
        </p:spPr>
        <p:txBody>
          <a:bodyPr wrap="square" lIns="0" tIns="0" rIns="0" bIns="0" rtlCol="0" anchor="t"/>
          <a:lstStyle/>
          <a:p>
            <a:pPr indent="0" marL="0">
              <a:buNone/>
            </a:pPr>
            <a:r>
              <a:rPr lang="en-US" sz="750" b="1" dirty="0">
                <a:solidFill>
                  <a:srgbClr val="B23A32"/>
                </a:solidFill>
                <a:latin typeface="Arial" pitchFamily="34" charset="0"/>
                <a:ea typeface="Arial" pitchFamily="34" charset="-122"/>
                <a:cs typeface="Arial" pitchFamily="34" charset="-120"/>
              </a:rPr>
              <a:t>Build: </a:t>
            </a:r>
            <a:pPr indent="0" marL="0">
              <a:buNone/>
            </a:pPr>
            <a:r>
              <a:rPr lang="en-US" sz="750" dirty="0">
                <a:solidFill>
                  <a:srgbClr val="1B2A24"/>
                </a:solidFill>
                <a:latin typeface="Arial" pitchFamily="34" charset="0"/>
                <a:ea typeface="Arial" pitchFamily="34" charset="-122"/>
                <a:cs typeface="Arial" pitchFamily="34" charset="-120"/>
              </a:rPr>
              <a:t>speckit.domain.change impact report, change classes, gate, re-validation runner, glossary guard</a:t>
            </a:r>
            <a:endParaRPr lang="en-US" sz="750" dirty="0"/>
          </a:p>
        </p:txBody>
      </p:sp>
      <p:sp>
        <p:nvSpPr>
          <p:cNvPr id="26" name="Text 24"/>
          <p:cNvSpPr/>
          <p:nvPr/>
        </p:nvSpPr>
        <p:spPr>
          <a:xfrm>
            <a:off x="9144000" y="2670048"/>
            <a:ext cx="2441448" cy="411480"/>
          </a:xfrm>
          <a:prstGeom prst="rect">
            <a:avLst/>
          </a:prstGeom>
          <a:noFill/>
          <a:ln/>
        </p:spPr>
        <p:txBody>
          <a:bodyPr wrap="square" lIns="0" tIns="0" rIns="0" bIns="0" rtlCol="0" anchor="t"/>
          <a:lstStyle/>
          <a:p>
            <a:pPr indent="0" marL="0">
              <a:buNone/>
            </a:pPr>
            <a:r>
              <a:rPr lang="en-US" sz="750" b="1" dirty="0">
                <a:solidFill>
                  <a:srgbClr val="0E6B45"/>
                </a:solidFill>
                <a:latin typeface="Arial" pitchFamily="34" charset="0"/>
                <a:ea typeface="Arial" pitchFamily="34" charset="-122"/>
                <a:cs typeface="Arial" pitchFamily="34" charset="-120"/>
              </a:rPr>
              <a:t>Protects: </a:t>
            </a:r>
            <a:pPr indent="0" marL="0">
              <a:buNone/>
            </a:pPr>
            <a:r>
              <a:rPr lang="en-US" sz="750" dirty="0">
                <a:solidFill>
                  <a:srgbClr val="1B2A24"/>
                </a:solidFill>
                <a:latin typeface="Arial" pitchFamily="34" charset="0"/>
                <a:ea typeface="Arial" pitchFamily="34" charset="-122"/>
                <a:cs typeface="Arial" pitchFamily="34" charset="-120"/>
              </a:rPr>
              <a:t>answers “what happens when we change them”</a:t>
            </a:r>
            <a:endParaRPr lang="en-US" sz="750" dirty="0"/>
          </a:p>
        </p:txBody>
      </p:sp>
      <p:sp>
        <p:nvSpPr>
          <p:cNvPr id="27" name="Text 25"/>
          <p:cNvSpPr/>
          <p:nvPr/>
        </p:nvSpPr>
        <p:spPr>
          <a:xfrm>
            <a:off x="9144000" y="3108960"/>
            <a:ext cx="2441448" cy="365760"/>
          </a:xfrm>
          <a:prstGeom prst="rect">
            <a:avLst/>
          </a:prstGeom>
          <a:noFill/>
          <a:ln/>
        </p:spPr>
        <p:txBody>
          <a:bodyPr wrap="square" lIns="0" tIns="0" rIns="0" bIns="0" rtlCol="0" anchor="t"/>
          <a:lstStyle/>
          <a:p>
            <a:pPr indent="0" marL="0">
              <a:buNone/>
            </a:pPr>
            <a:r>
              <a:rPr lang="en-US" sz="750" b="1" dirty="0">
                <a:solidFill>
                  <a:srgbClr val="D28E14"/>
                </a:solidFill>
                <a:latin typeface="Arial" pitchFamily="34" charset="0"/>
                <a:ea typeface="Arial" pitchFamily="34" charset="-122"/>
                <a:cs typeface="Arial" pitchFamily="34" charset="-120"/>
              </a:rPr>
              <a:t>Builds on: </a:t>
            </a:r>
            <a:pPr indent="0" marL="0">
              <a:buNone/>
            </a:pPr>
            <a:r>
              <a:rPr lang="en-US" sz="750" dirty="0">
                <a:solidFill>
                  <a:srgbClr val="1B2A24"/>
                </a:solidFill>
                <a:latin typeface="Arial" pitchFamily="34" charset="0"/>
                <a:ea typeface="Arial" pitchFamily="34" charset="-122"/>
                <a:cs typeface="Arial" pitchFamily="34" charset="-120"/>
              </a:rPr>
              <a:t>hooks · workflow gate · trace graph</a:t>
            </a:r>
            <a:endParaRPr lang="en-US" sz="750" dirty="0"/>
          </a:p>
        </p:txBody>
      </p:sp>
      <p:sp>
        <p:nvSpPr>
          <p:cNvPr id="28" name="Shape 26"/>
          <p:cNvSpPr/>
          <p:nvPr/>
        </p:nvSpPr>
        <p:spPr>
          <a:xfrm>
            <a:off x="457200" y="3675888"/>
            <a:ext cx="2697480" cy="2148840"/>
          </a:xfrm>
          <a:prstGeom prst="roundRect">
            <a:avLst>
              <a:gd name="adj" fmla="val 3404"/>
            </a:avLst>
          </a:prstGeom>
          <a:solidFill>
            <a:srgbClr val="FFFFFF"/>
          </a:solidFill>
          <a:ln w="9525">
            <a:solidFill>
              <a:srgbClr val="E9ECEA"/>
            </a:solidFill>
            <a:prstDash val="solid"/>
          </a:ln>
        </p:spPr>
      </p:sp>
      <p:sp>
        <p:nvSpPr>
          <p:cNvPr id="29" name="Text 27"/>
          <p:cNvSpPr/>
          <p:nvPr/>
        </p:nvSpPr>
        <p:spPr>
          <a:xfrm>
            <a:off x="566928" y="3785616"/>
            <a:ext cx="384048" cy="384048"/>
          </a:xfrm>
          <a:prstGeom prst="ellipse">
            <a:avLst/>
          </a:prstGeom>
          <a:solidFill>
            <a:srgbClr val="0B3F2C"/>
          </a:solidFill>
          <a:ln>
            <a:solidFill>
              <a:srgbClr val="0B3F2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30" name="Text 28"/>
          <p:cNvSpPr/>
          <p:nvPr/>
        </p:nvSpPr>
        <p:spPr>
          <a:xfrm>
            <a:off x="1024128" y="3785616"/>
            <a:ext cx="2011680" cy="402336"/>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A7 → A1 Proposer re-entry</a:t>
            </a:r>
            <a:endParaRPr lang="en-US" sz="950" dirty="0"/>
          </a:p>
        </p:txBody>
      </p:sp>
      <p:sp>
        <p:nvSpPr>
          <p:cNvPr id="31" name="Text 29"/>
          <p:cNvSpPr/>
          <p:nvPr/>
        </p:nvSpPr>
        <p:spPr>
          <a:xfrm>
            <a:off x="585216" y="4279392"/>
            <a:ext cx="2441448" cy="685800"/>
          </a:xfrm>
          <a:prstGeom prst="rect">
            <a:avLst/>
          </a:prstGeom>
          <a:noFill/>
          <a:ln/>
        </p:spPr>
        <p:txBody>
          <a:bodyPr wrap="square" lIns="0" tIns="0" rIns="0" bIns="0" rtlCol="0" anchor="t"/>
          <a:lstStyle/>
          <a:p>
            <a:pPr indent="0" marL="0">
              <a:buNone/>
            </a:pPr>
            <a:r>
              <a:rPr lang="en-US" sz="750" b="1" dirty="0">
                <a:solidFill>
                  <a:srgbClr val="B23A32"/>
                </a:solidFill>
                <a:latin typeface="Arial" pitchFamily="34" charset="0"/>
                <a:ea typeface="Arial" pitchFamily="34" charset="-122"/>
                <a:cs typeface="Arial" pitchFamily="34" charset="-120"/>
              </a:rPr>
              <a:t>Build: </a:t>
            </a:r>
            <a:pPr indent="0" marL="0">
              <a:buNone/>
            </a:pPr>
            <a:r>
              <a:rPr lang="en-US" sz="750" dirty="0">
                <a:solidFill>
                  <a:srgbClr val="1B2A24"/>
                </a:solidFill>
                <a:latin typeface="Arial" pitchFamily="34" charset="0"/>
                <a:ea typeface="Arial" pitchFamily="34" charset="-122"/>
                <a:cs typeface="Arial" pitchFamily="34" charset="-120"/>
              </a:rPr>
              <a:t>speckit.arch.propose: findings → [PROPOSED] changes into the requirements repository / Step 0; workflow with the human gate; A1 repository check</a:t>
            </a:r>
            <a:endParaRPr lang="en-US" sz="750" dirty="0"/>
          </a:p>
        </p:txBody>
      </p:sp>
      <p:sp>
        <p:nvSpPr>
          <p:cNvPr id="32" name="Text 30"/>
          <p:cNvSpPr/>
          <p:nvPr/>
        </p:nvSpPr>
        <p:spPr>
          <a:xfrm>
            <a:off x="585216" y="4974336"/>
            <a:ext cx="2441448" cy="411480"/>
          </a:xfrm>
          <a:prstGeom prst="rect">
            <a:avLst/>
          </a:prstGeom>
          <a:noFill/>
          <a:ln/>
        </p:spPr>
        <p:txBody>
          <a:bodyPr wrap="square" lIns="0" tIns="0" rIns="0" bIns="0" rtlCol="0" anchor="t"/>
          <a:lstStyle/>
          <a:p>
            <a:pPr indent="0" marL="0">
              <a:buNone/>
            </a:pPr>
            <a:r>
              <a:rPr lang="en-US" sz="750" b="1" dirty="0">
                <a:solidFill>
                  <a:srgbClr val="0E6B45"/>
                </a:solidFill>
                <a:latin typeface="Arial" pitchFamily="34" charset="0"/>
                <a:ea typeface="Arial" pitchFamily="34" charset="-122"/>
                <a:cs typeface="Arial" pitchFamily="34" charset="-120"/>
              </a:rPr>
              <a:t>Protects: </a:t>
            </a:r>
            <a:pPr indent="0" marL="0">
              <a:buNone/>
            </a:pPr>
            <a:r>
              <a:rPr lang="en-US" sz="750" dirty="0">
                <a:solidFill>
                  <a:srgbClr val="1B2A24"/>
                </a:solidFill>
                <a:latin typeface="Arial" pitchFamily="34" charset="0"/>
                <a:ea typeface="Arial" pitchFamily="34" charset="-122"/>
                <a:cs typeface="Arial" pitchFamily="34" charset="-120"/>
              </a:rPr>
              <a:t>the loop closes: findings become requirements, never silent debt</a:t>
            </a:r>
            <a:endParaRPr lang="en-US" sz="750" dirty="0"/>
          </a:p>
        </p:txBody>
      </p:sp>
      <p:sp>
        <p:nvSpPr>
          <p:cNvPr id="33" name="Text 31"/>
          <p:cNvSpPr/>
          <p:nvPr/>
        </p:nvSpPr>
        <p:spPr>
          <a:xfrm>
            <a:off x="585216" y="5413248"/>
            <a:ext cx="2441448" cy="365760"/>
          </a:xfrm>
          <a:prstGeom prst="rect">
            <a:avLst/>
          </a:prstGeom>
          <a:noFill/>
          <a:ln/>
        </p:spPr>
        <p:txBody>
          <a:bodyPr wrap="square" lIns="0" tIns="0" rIns="0" bIns="0" rtlCol="0" anchor="t"/>
          <a:lstStyle/>
          <a:p>
            <a:pPr indent="0" marL="0">
              <a:buNone/>
            </a:pPr>
            <a:r>
              <a:rPr lang="en-US" sz="750" b="1" dirty="0">
                <a:solidFill>
                  <a:srgbClr val="D28E14"/>
                </a:solidFill>
                <a:latin typeface="Arial" pitchFamily="34" charset="0"/>
                <a:ea typeface="Arial" pitchFamily="34" charset="-122"/>
                <a:cs typeface="Arial" pitchFamily="34" charset="-120"/>
              </a:rPr>
              <a:t>Builds on: </a:t>
            </a:r>
            <a:pPr indent="0" marL="0">
              <a:buNone/>
            </a:pPr>
            <a:r>
              <a:rPr lang="en-US" sz="750" dirty="0">
                <a:solidFill>
                  <a:srgbClr val="1B2A24"/>
                </a:solidFill>
                <a:latin typeface="Arial" pitchFamily="34" charset="0"/>
                <a:ea typeface="Arial" pitchFamily="34" charset="-122"/>
                <a:cs typeface="Arial" pitchFamily="34" charset="-120"/>
              </a:rPr>
              <a:t>Architecture Assessor (available) · assess ext · trace graph</a:t>
            </a:r>
            <a:endParaRPr lang="en-US" sz="750" dirty="0"/>
          </a:p>
        </p:txBody>
      </p:sp>
      <p:sp>
        <p:nvSpPr>
          <p:cNvPr id="34" name="Shape 32"/>
          <p:cNvSpPr/>
          <p:nvPr/>
        </p:nvSpPr>
        <p:spPr>
          <a:xfrm>
            <a:off x="3310128" y="3675888"/>
            <a:ext cx="2697480" cy="2148840"/>
          </a:xfrm>
          <a:prstGeom prst="roundRect">
            <a:avLst>
              <a:gd name="adj" fmla="val 3404"/>
            </a:avLst>
          </a:prstGeom>
          <a:solidFill>
            <a:srgbClr val="FFFFFF"/>
          </a:solidFill>
          <a:ln w="9525">
            <a:solidFill>
              <a:srgbClr val="E9ECEA"/>
            </a:solidFill>
            <a:prstDash val="solid"/>
          </a:ln>
        </p:spPr>
      </p:sp>
      <p:sp>
        <p:nvSpPr>
          <p:cNvPr id="35" name="Text 33"/>
          <p:cNvSpPr/>
          <p:nvPr/>
        </p:nvSpPr>
        <p:spPr>
          <a:xfrm>
            <a:off x="3419856" y="3785616"/>
            <a:ext cx="384048" cy="384048"/>
          </a:xfrm>
          <a:prstGeom prst="ellipse">
            <a:avLst/>
          </a:prstGeom>
          <a:solidFill>
            <a:srgbClr val="0B3F2C"/>
          </a:solidFill>
          <a:ln>
            <a:solidFill>
              <a:srgbClr val="0B3F2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36" name="Text 34"/>
          <p:cNvSpPr/>
          <p:nvPr/>
        </p:nvSpPr>
        <p:spPr>
          <a:xfrm>
            <a:off x="3877056" y="3785616"/>
            <a:ext cx="2011680" cy="402336"/>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Waiver agent + audit ledger</a:t>
            </a:r>
            <a:endParaRPr lang="en-US" sz="950" dirty="0"/>
          </a:p>
        </p:txBody>
      </p:sp>
      <p:sp>
        <p:nvSpPr>
          <p:cNvPr id="37" name="Text 35"/>
          <p:cNvSpPr/>
          <p:nvPr/>
        </p:nvSpPr>
        <p:spPr>
          <a:xfrm>
            <a:off x="3438144" y="4279392"/>
            <a:ext cx="2441448" cy="685800"/>
          </a:xfrm>
          <a:prstGeom prst="rect">
            <a:avLst/>
          </a:prstGeom>
          <a:noFill/>
          <a:ln/>
        </p:spPr>
        <p:txBody>
          <a:bodyPr wrap="square" lIns="0" tIns="0" rIns="0" bIns="0" rtlCol="0" anchor="t"/>
          <a:lstStyle/>
          <a:p>
            <a:pPr indent="0" marL="0">
              <a:buNone/>
            </a:pPr>
            <a:r>
              <a:rPr lang="en-US" sz="750" b="1" dirty="0">
                <a:solidFill>
                  <a:srgbClr val="B23A32"/>
                </a:solidFill>
                <a:latin typeface="Arial" pitchFamily="34" charset="0"/>
                <a:ea typeface="Arial" pitchFamily="34" charset="-122"/>
                <a:cs typeface="Arial" pitchFamily="34" charset="-120"/>
              </a:rPr>
              <a:t>Build: </a:t>
            </a:r>
            <a:pPr indent="0" marL="0">
              <a:buNone/>
            </a:pPr>
            <a:r>
              <a:rPr lang="en-US" sz="750" dirty="0">
                <a:solidFill>
                  <a:srgbClr val="1B2A24"/>
                </a:solidFill>
                <a:latin typeface="Arial" pitchFamily="34" charset="0"/>
                <a:ea typeface="Arial" pitchFamily="34" charset="-122"/>
                <a:cs typeface="Arial" pitchFamily="34" charset="-120"/>
              </a:rPr>
              <a:t>speckit.arch.waive (owner, evidence, expiry) consulted by every A-gate script; agent action ledger with IDs on commits</a:t>
            </a:r>
            <a:endParaRPr lang="en-US" sz="750" dirty="0"/>
          </a:p>
        </p:txBody>
      </p:sp>
      <p:sp>
        <p:nvSpPr>
          <p:cNvPr id="38" name="Text 36"/>
          <p:cNvSpPr/>
          <p:nvPr/>
        </p:nvSpPr>
        <p:spPr>
          <a:xfrm>
            <a:off x="3438144" y="4974336"/>
            <a:ext cx="2441448" cy="411480"/>
          </a:xfrm>
          <a:prstGeom prst="rect">
            <a:avLst/>
          </a:prstGeom>
          <a:noFill/>
          <a:ln/>
        </p:spPr>
        <p:txBody>
          <a:bodyPr wrap="square" lIns="0" tIns="0" rIns="0" bIns="0" rtlCol="0" anchor="t"/>
          <a:lstStyle/>
          <a:p>
            <a:pPr indent="0" marL="0">
              <a:buNone/>
            </a:pPr>
            <a:r>
              <a:rPr lang="en-US" sz="750" b="1" dirty="0">
                <a:solidFill>
                  <a:srgbClr val="0E6B45"/>
                </a:solidFill>
                <a:latin typeface="Arial" pitchFamily="34" charset="0"/>
                <a:ea typeface="Arial" pitchFamily="34" charset="-122"/>
                <a:cs typeface="Arial" pitchFamily="34" charset="-120"/>
              </a:rPr>
              <a:t>Protects: </a:t>
            </a:r>
            <a:pPr indent="0" marL="0">
              <a:buNone/>
            </a:pPr>
            <a:r>
              <a:rPr lang="en-US" sz="750" dirty="0">
                <a:solidFill>
                  <a:srgbClr val="1B2A24"/>
                </a:solidFill>
                <a:latin typeface="Arial" pitchFamily="34" charset="0"/>
                <a:ea typeface="Arial" pitchFamily="34" charset="-122"/>
                <a:cs typeface="Arial" pitchFamily="34" charset="-120"/>
              </a:rPr>
              <a:t>exceptions are explicit and expire; every change is attributable</a:t>
            </a:r>
            <a:endParaRPr lang="en-US" sz="750" dirty="0"/>
          </a:p>
        </p:txBody>
      </p:sp>
      <p:sp>
        <p:nvSpPr>
          <p:cNvPr id="39" name="Text 37"/>
          <p:cNvSpPr/>
          <p:nvPr/>
        </p:nvSpPr>
        <p:spPr>
          <a:xfrm>
            <a:off x="3438144" y="5413248"/>
            <a:ext cx="2441448" cy="365760"/>
          </a:xfrm>
          <a:prstGeom prst="rect">
            <a:avLst/>
          </a:prstGeom>
          <a:noFill/>
          <a:ln/>
        </p:spPr>
        <p:txBody>
          <a:bodyPr wrap="square" lIns="0" tIns="0" rIns="0" bIns="0" rtlCol="0" anchor="t"/>
          <a:lstStyle/>
          <a:p>
            <a:pPr indent="0" marL="0">
              <a:buNone/>
            </a:pPr>
            <a:r>
              <a:rPr lang="en-US" sz="750" b="1" dirty="0">
                <a:solidFill>
                  <a:srgbClr val="D28E14"/>
                </a:solidFill>
                <a:latin typeface="Arial" pitchFamily="34" charset="0"/>
                <a:ea typeface="Arial" pitchFamily="34" charset="-122"/>
                <a:cs typeface="Arial" pitchFamily="34" charset="-120"/>
              </a:rPr>
              <a:t>Builds on: </a:t>
            </a:r>
            <a:pPr indent="0" marL="0">
              <a:buNone/>
            </a:pPr>
            <a:r>
              <a:rPr lang="en-US" sz="750" dirty="0">
                <a:solidFill>
                  <a:srgbClr val="1B2A24"/>
                </a:solidFill>
                <a:latin typeface="Arial" pitchFamily="34" charset="0"/>
                <a:ea typeface="Arial" pitchFamily="34" charset="-122"/>
                <a:cs typeface="Arial" pitchFamily="34" charset="-120"/>
              </a:rPr>
              <a:t>git ext commit hooks · decision ledger</a:t>
            </a:r>
            <a:endParaRPr lang="en-US" sz="750" dirty="0"/>
          </a:p>
        </p:txBody>
      </p:sp>
      <p:sp>
        <p:nvSpPr>
          <p:cNvPr id="40" name="Shape 38"/>
          <p:cNvSpPr/>
          <p:nvPr/>
        </p:nvSpPr>
        <p:spPr>
          <a:xfrm>
            <a:off x="6163056" y="3675888"/>
            <a:ext cx="2697480" cy="2148840"/>
          </a:xfrm>
          <a:prstGeom prst="roundRect">
            <a:avLst>
              <a:gd name="adj" fmla="val 3404"/>
            </a:avLst>
          </a:prstGeom>
          <a:solidFill>
            <a:srgbClr val="FFFFFF"/>
          </a:solidFill>
          <a:ln w="9525">
            <a:solidFill>
              <a:srgbClr val="E9ECEA"/>
            </a:solidFill>
            <a:prstDash val="solid"/>
          </a:ln>
        </p:spPr>
      </p:sp>
      <p:sp>
        <p:nvSpPr>
          <p:cNvPr id="41" name="Text 39"/>
          <p:cNvSpPr/>
          <p:nvPr/>
        </p:nvSpPr>
        <p:spPr>
          <a:xfrm>
            <a:off x="6272784" y="3785616"/>
            <a:ext cx="384048" cy="384048"/>
          </a:xfrm>
          <a:prstGeom prst="ellipse">
            <a:avLst/>
          </a:prstGeom>
          <a:solidFill>
            <a:srgbClr val="0B3F2C"/>
          </a:solidFill>
          <a:ln>
            <a:solidFill>
              <a:srgbClr val="0B3F2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7</a:t>
            </a:r>
            <a:endParaRPr lang="en-US" sz="1100" dirty="0"/>
          </a:p>
        </p:txBody>
      </p:sp>
      <p:sp>
        <p:nvSpPr>
          <p:cNvPr id="42" name="Text 40"/>
          <p:cNvSpPr/>
          <p:nvPr/>
        </p:nvSpPr>
        <p:spPr>
          <a:xfrm>
            <a:off x="6729984" y="3785616"/>
            <a:ext cx="2011680" cy="402336"/>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A5 / A6 evidence + PR checks</a:t>
            </a:r>
            <a:endParaRPr lang="en-US" sz="950" dirty="0"/>
          </a:p>
        </p:txBody>
      </p:sp>
      <p:sp>
        <p:nvSpPr>
          <p:cNvPr id="43" name="Text 41"/>
          <p:cNvSpPr/>
          <p:nvPr/>
        </p:nvSpPr>
        <p:spPr>
          <a:xfrm>
            <a:off x="6291072" y="4279392"/>
            <a:ext cx="2441448" cy="685800"/>
          </a:xfrm>
          <a:prstGeom prst="rect">
            <a:avLst/>
          </a:prstGeom>
          <a:noFill/>
          <a:ln/>
        </p:spPr>
        <p:txBody>
          <a:bodyPr wrap="square" lIns="0" tIns="0" rIns="0" bIns="0" rtlCol="0" anchor="t"/>
          <a:lstStyle/>
          <a:p>
            <a:pPr indent="0" marL="0">
              <a:buNone/>
            </a:pPr>
            <a:r>
              <a:rPr lang="en-US" sz="750" b="1" dirty="0">
                <a:solidFill>
                  <a:srgbClr val="B23A32"/>
                </a:solidFill>
                <a:latin typeface="Arial" pitchFamily="34" charset="0"/>
                <a:ea typeface="Arial" pitchFamily="34" charset="-122"/>
                <a:cs typeface="Arial" pitchFamily="34" charset="-120"/>
              </a:rPr>
              <a:t>Build: </a:t>
            </a:r>
            <a:pPr indent="0" marL="0">
              <a:buNone/>
            </a:pPr>
            <a:r>
              <a:rPr lang="en-US" sz="750" dirty="0">
                <a:solidFill>
                  <a:srgbClr val="1B2A24"/>
                </a:solidFill>
                <a:latin typeface="Arial" pitchFamily="34" charset="0"/>
                <a:ea typeface="Arial" pitchFamily="34" charset="-122"/>
                <a:cs typeface="Arial" pitchFamily="34" charset="-120"/>
              </a:rPr>
              <a:t>test evidence gate (results + manifest + fitness → JSON verdict for the loop); NFR tests from Success Criteria; required PR status checks with the same scripts</a:t>
            </a:r>
            <a:endParaRPr lang="en-US" sz="750" dirty="0"/>
          </a:p>
        </p:txBody>
      </p:sp>
      <p:sp>
        <p:nvSpPr>
          <p:cNvPr id="44" name="Text 42"/>
          <p:cNvSpPr/>
          <p:nvPr/>
        </p:nvSpPr>
        <p:spPr>
          <a:xfrm>
            <a:off x="6291072" y="4974336"/>
            <a:ext cx="2441448" cy="411480"/>
          </a:xfrm>
          <a:prstGeom prst="rect">
            <a:avLst/>
          </a:prstGeom>
          <a:noFill/>
          <a:ln/>
        </p:spPr>
        <p:txBody>
          <a:bodyPr wrap="square" lIns="0" tIns="0" rIns="0" bIns="0" rtlCol="0" anchor="t"/>
          <a:lstStyle/>
          <a:p>
            <a:pPr indent="0" marL="0">
              <a:buNone/>
            </a:pPr>
            <a:r>
              <a:rPr lang="en-US" sz="750" b="1" dirty="0">
                <a:solidFill>
                  <a:srgbClr val="0E6B45"/>
                </a:solidFill>
                <a:latin typeface="Arial" pitchFamily="34" charset="0"/>
                <a:ea typeface="Arial" pitchFamily="34" charset="-122"/>
                <a:cs typeface="Arial" pitchFamily="34" charset="-120"/>
              </a:rPr>
              <a:t>Protects: </a:t>
            </a:r>
            <a:pPr indent="0" marL="0">
              <a:buNone/>
            </a:pPr>
            <a:r>
              <a:rPr lang="en-US" sz="750" dirty="0">
                <a:solidFill>
                  <a:srgbClr val="1B2A24"/>
                </a:solidFill>
                <a:latin typeface="Arial" pitchFamily="34" charset="0"/>
                <a:ea typeface="Arial" pitchFamily="34" charset="-122"/>
                <a:cs typeface="Arial" pitchFamily="34" charset="-120"/>
              </a:rPr>
              <a:t>the architecture’s promises are proven before code enters the pipeline</a:t>
            </a:r>
            <a:endParaRPr lang="en-US" sz="750" dirty="0"/>
          </a:p>
        </p:txBody>
      </p:sp>
      <p:sp>
        <p:nvSpPr>
          <p:cNvPr id="45" name="Text 43"/>
          <p:cNvSpPr/>
          <p:nvPr/>
        </p:nvSpPr>
        <p:spPr>
          <a:xfrm>
            <a:off x="6291072" y="5413248"/>
            <a:ext cx="2441448" cy="365760"/>
          </a:xfrm>
          <a:prstGeom prst="rect">
            <a:avLst/>
          </a:prstGeom>
          <a:noFill/>
          <a:ln/>
        </p:spPr>
        <p:txBody>
          <a:bodyPr wrap="square" lIns="0" tIns="0" rIns="0" bIns="0" rtlCol="0" anchor="t"/>
          <a:lstStyle/>
          <a:p>
            <a:pPr indent="0" marL="0">
              <a:buNone/>
            </a:pPr>
            <a:r>
              <a:rPr lang="en-US" sz="750" b="1" dirty="0">
                <a:solidFill>
                  <a:srgbClr val="D28E14"/>
                </a:solidFill>
                <a:latin typeface="Arial" pitchFamily="34" charset="0"/>
                <a:ea typeface="Arial" pitchFamily="34" charset="-122"/>
                <a:cs typeface="Arial" pitchFamily="34" charset="-120"/>
              </a:rPr>
              <a:t>Builds on: </a:t>
            </a:r>
            <a:pPr indent="0" marL="0">
              <a:buNone/>
            </a:pPr>
            <a:r>
              <a:rPr lang="en-US" sz="750" dirty="0">
                <a:solidFill>
                  <a:srgbClr val="1B2A24"/>
                </a:solidFill>
                <a:latin typeface="Arial" pitchFamily="34" charset="0"/>
                <a:ea typeface="Arial" pitchFamily="34" charset="-122"/>
                <a:cs typeface="Arial" pitchFamily="34" charset="-120"/>
              </a:rPr>
              <a:t>trace · v-model · workflow do-while · CI status checks</a:t>
            </a:r>
            <a:endParaRPr lang="en-US" sz="750" dirty="0"/>
          </a:p>
        </p:txBody>
      </p:sp>
      <p:sp>
        <p:nvSpPr>
          <p:cNvPr id="46" name="Shape 44"/>
          <p:cNvSpPr/>
          <p:nvPr/>
        </p:nvSpPr>
        <p:spPr>
          <a:xfrm>
            <a:off x="9015984" y="3675888"/>
            <a:ext cx="2697480" cy="2148840"/>
          </a:xfrm>
          <a:prstGeom prst="roundRect">
            <a:avLst>
              <a:gd name="adj" fmla="val 3404"/>
            </a:avLst>
          </a:prstGeom>
          <a:solidFill>
            <a:srgbClr val="FFFFFF"/>
          </a:solidFill>
          <a:ln w="9525">
            <a:solidFill>
              <a:srgbClr val="E9ECEA"/>
            </a:solidFill>
            <a:prstDash val="solid"/>
          </a:ln>
        </p:spPr>
      </p:sp>
      <p:sp>
        <p:nvSpPr>
          <p:cNvPr id="47" name="Text 45"/>
          <p:cNvSpPr/>
          <p:nvPr/>
        </p:nvSpPr>
        <p:spPr>
          <a:xfrm>
            <a:off x="9125712" y="3785616"/>
            <a:ext cx="384048" cy="384048"/>
          </a:xfrm>
          <a:prstGeom prst="ellipse">
            <a:avLst/>
          </a:prstGeom>
          <a:solidFill>
            <a:srgbClr val="0B3F2C"/>
          </a:solidFill>
          <a:ln>
            <a:solidFill>
              <a:srgbClr val="0B3F2C"/>
            </a:solid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8</a:t>
            </a:r>
            <a:endParaRPr lang="en-US" sz="1100" dirty="0"/>
          </a:p>
        </p:txBody>
      </p:sp>
      <p:sp>
        <p:nvSpPr>
          <p:cNvPr id="48" name="Text 46"/>
          <p:cNvSpPr/>
          <p:nvPr/>
        </p:nvSpPr>
        <p:spPr>
          <a:xfrm>
            <a:off x="9582912" y="3785616"/>
            <a:ext cx="2011680" cy="402336"/>
          </a:xfrm>
          <a:prstGeom prst="rect">
            <a:avLst/>
          </a:prstGeom>
          <a:noFill/>
          <a:ln/>
        </p:spPr>
        <p:txBody>
          <a:bodyPr wrap="square" lIns="0" tIns="0" rIns="0" bIns="0" rtlCol="0" anchor="ctr"/>
          <a:lstStyle/>
          <a:p>
            <a:pPr indent="0" marL="0">
              <a:buNone/>
            </a:pPr>
            <a:r>
              <a:rPr lang="en-US" sz="950" b="1" dirty="0">
                <a:solidFill>
                  <a:srgbClr val="0B3F2C"/>
                </a:solidFill>
                <a:latin typeface="Arial" pitchFamily="34" charset="0"/>
                <a:ea typeface="Arial" pitchFamily="34" charset="-122"/>
                <a:cs typeface="Arial" pitchFamily="34" charset="-120"/>
              </a:rPr>
              <a:t>A2 charter check · KPIs · handover hardening</a:t>
            </a:r>
            <a:endParaRPr lang="en-US" sz="950" dirty="0"/>
          </a:p>
        </p:txBody>
      </p:sp>
      <p:sp>
        <p:nvSpPr>
          <p:cNvPr id="49" name="Text 47"/>
          <p:cNvSpPr/>
          <p:nvPr/>
        </p:nvSpPr>
        <p:spPr>
          <a:xfrm>
            <a:off x="9144000" y="4279392"/>
            <a:ext cx="2441448" cy="685800"/>
          </a:xfrm>
          <a:prstGeom prst="rect">
            <a:avLst/>
          </a:prstGeom>
          <a:noFill/>
          <a:ln/>
        </p:spPr>
        <p:txBody>
          <a:bodyPr wrap="square" lIns="0" tIns="0" rIns="0" bIns="0" rtlCol="0" anchor="t"/>
          <a:lstStyle/>
          <a:p>
            <a:pPr indent="0" marL="0">
              <a:buNone/>
            </a:pPr>
            <a:r>
              <a:rPr lang="en-US" sz="750" b="1" dirty="0">
                <a:solidFill>
                  <a:srgbClr val="B23A32"/>
                </a:solidFill>
                <a:latin typeface="Arial" pitchFamily="34" charset="0"/>
                <a:ea typeface="Arial" pitchFamily="34" charset="-122"/>
                <a:cs typeface="Arial" pitchFamily="34" charset="-120"/>
              </a:rPr>
              <a:t>Build: </a:t>
            </a:r>
            <a:pPr indent="0" marL="0">
              <a:buNone/>
            </a:pPr>
            <a:r>
              <a:rPr lang="en-US" sz="750" dirty="0">
                <a:solidFill>
                  <a:srgbClr val="1B2A24"/>
                </a:solidFill>
                <a:latin typeface="Arial" pitchFamily="34" charset="0"/>
                <a:ea typeface="Arial" pitchFamily="34" charset="-122"/>
                <a:cs typeface="Arial" pitchFamily="34" charset="-120"/>
              </a:rPr>
              <a:t>iteration charter + decision records with the cross-context dependency check; KPI view (conformance per A-gate, findings aging, waiver debt); confirm contract test / handover record in the integration</a:t>
            </a:r>
            <a:endParaRPr lang="en-US" sz="750" dirty="0"/>
          </a:p>
        </p:txBody>
      </p:sp>
      <p:sp>
        <p:nvSpPr>
          <p:cNvPr id="50" name="Text 48"/>
          <p:cNvSpPr/>
          <p:nvPr/>
        </p:nvSpPr>
        <p:spPr>
          <a:xfrm>
            <a:off x="9144000" y="4974336"/>
            <a:ext cx="2441448" cy="411480"/>
          </a:xfrm>
          <a:prstGeom prst="rect">
            <a:avLst/>
          </a:prstGeom>
          <a:noFill/>
          <a:ln/>
        </p:spPr>
        <p:txBody>
          <a:bodyPr wrap="square" lIns="0" tIns="0" rIns="0" bIns="0" rtlCol="0" anchor="t"/>
          <a:lstStyle/>
          <a:p>
            <a:pPr indent="0" marL="0">
              <a:buNone/>
            </a:pPr>
            <a:r>
              <a:rPr lang="en-US" sz="750" b="1" dirty="0">
                <a:solidFill>
                  <a:srgbClr val="0E6B45"/>
                </a:solidFill>
                <a:latin typeface="Arial" pitchFamily="34" charset="0"/>
                <a:ea typeface="Arial" pitchFamily="34" charset="-122"/>
                <a:cs typeface="Arial" pitchFamily="34" charset="-120"/>
              </a:rPr>
              <a:t>Protects: </a:t>
            </a:r>
            <a:pPr indent="0" marL="0">
              <a:buNone/>
            </a:pPr>
            <a:r>
              <a:rPr lang="en-US" sz="750" dirty="0">
                <a:solidFill>
                  <a:srgbClr val="1B2A24"/>
                </a:solidFill>
                <a:latin typeface="Arial" pitchFamily="34" charset="0"/>
                <a:ea typeface="Arial" pitchFamily="34" charset="-122"/>
                <a:cs typeface="Arial" pitchFamily="34" charset="-120"/>
              </a:rPr>
              <a:t>the master gate has evidence; the architect has numbers; the import is provably complete</a:t>
            </a:r>
            <a:endParaRPr lang="en-US" sz="750" dirty="0"/>
          </a:p>
        </p:txBody>
      </p:sp>
      <p:sp>
        <p:nvSpPr>
          <p:cNvPr id="51" name="Text 49"/>
          <p:cNvSpPr/>
          <p:nvPr/>
        </p:nvSpPr>
        <p:spPr>
          <a:xfrm>
            <a:off x="9144000" y="5413248"/>
            <a:ext cx="2441448" cy="365760"/>
          </a:xfrm>
          <a:prstGeom prst="rect">
            <a:avLst/>
          </a:prstGeom>
          <a:noFill/>
          <a:ln/>
        </p:spPr>
        <p:txBody>
          <a:bodyPr wrap="square" lIns="0" tIns="0" rIns="0" bIns="0" rtlCol="0" anchor="t"/>
          <a:lstStyle/>
          <a:p>
            <a:pPr indent="0" marL="0">
              <a:buNone/>
            </a:pPr>
            <a:r>
              <a:rPr lang="en-US" sz="750" b="1" dirty="0">
                <a:solidFill>
                  <a:srgbClr val="D28E14"/>
                </a:solidFill>
                <a:latin typeface="Arial" pitchFamily="34" charset="0"/>
                <a:ea typeface="Arial" pitchFamily="34" charset="-122"/>
                <a:cs typeface="Arial" pitchFamily="34" charset="-120"/>
              </a:rPr>
              <a:t>Builds on: </a:t>
            </a:r>
            <a:pPr indent="0" marL="0">
              <a:buNone/>
            </a:pPr>
            <a:r>
              <a:rPr lang="en-US" sz="750" dirty="0">
                <a:solidFill>
                  <a:srgbClr val="1B2A24"/>
                </a:solidFill>
                <a:latin typeface="Arial" pitchFamily="34" charset="0"/>
                <a:ea typeface="Arial" pitchFamily="34" charset="-122"/>
                <a:cs typeface="Arial" pitchFamily="34" charset="-120"/>
              </a:rPr>
              <a:t>roadmap · scope · workflow inputs · built integration</a:t>
            </a:r>
            <a:endParaRPr lang="en-US" sz="750" dirty="0"/>
          </a:p>
        </p:txBody>
      </p:sp>
      <p:sp>
        <p:nvSpPr>
          <p:cNvPr id="52" name="Shape 50"/>
          <p:cNvSpPr/>
          <p:nvPr/>
        </p:nvSpPr>
        <p:spPr>
          <a:xfrm>
            <a:off x="457200" y="5943600"/>
            <a:ext cx="11274552" cy="457200"/>
          </a:xfrm>
          <a:prstGeom prst="roundRect">
            <a:avLst>
              <a:gd name="adj" fmla="val 16000"/>
            </a:avLst>
          </a:prstGeom>
          <a:solidFill>
            <a:srgbClr val="EAF5EE"/>
          </a:solidFill>
          <a:ln w="12700">
            <a:solidFill>
              <a:srgbClr val="EAF5EE"/>
            </a:solidFill>
            <a:prstDash val="solid"/>
          </a:ln>
        </p:spPr>
      </p:sp>
      <p:sp>
        <p:nvSpPr>
          <p:cNvPr id="53" name="Text 51"/>
          <p:cNvSpPr/>
          <p:nvPr/>
        </p:nvSpPr>
        <p:spPr>
          <a:xfrm>
            <a:off x="640080" y="5989320"/>
            <a:ext cx="10881360" cy="384048"/>
          </a:xfrm>
          <a:prstGeom prst="rect">
            <a:avLst/>
          </a:prstGeom>
          <a:noFill/>
          <a:ln/>
        </p:spPr>
        <p:txBody>
          <a:bodyPr wrap="square" lIns="0" tIns="0" rIns="0" bIns="0" rtlCol="0" anchor="ctr"/>
          <a:lstStyle/>
          <a:p>
            <a:pPr indent="0" marL="0">
              <a:buNone/>
            </a:pPr>
            <a:r>
              <a:rPr lang="en-US" sz="850" b="1" dirty="0">
                <a:solidFill>
                  <a:srgbClr val="0B3F2C"/>
                </a:solidFill>
                <a:latin typeface="Arial" pitchFamily="34" charset="0"/>
                <a:ea typeface="Arial" pitchFamily="34" charset="-122"/>
                <a:cs typeface="Arial" pitchFamily="34" charset="-120"/>
              </a:rPr>
              <a:t>Done today and reused throughout: </a:t>
            </a:r>
            <a:pPr indent="0" marL="0">
              <a:buNone/>
            </a:pPr>
            <a:r>
              <a:rPr lang="en-US" sz="850" dirty="0">
                <a:solidFill>
                  <a:srgbClr val="1B2A24"/>
                </a:solidFill>
                <a:latin typeface="Arial" pitchFamily="34" charset="0"/>
                <a:ea typeface="Arial" pitchFamily="34" charset="-122"/>
                <a:cs typeface="Arial" pitchFamily="34" charset="-120"/>
              </a:rPr>
              <a:t>ShAIping (specification authoring, 12 scripted checks) · ShAIping ↔ Spec Kit integration · architecture standards as a skills repository · Architecture Assessor (A7, between 7 and 1) · Spec Kit spine on 3–4 (10 commands, 20 hooks, workflows with human gates, presets / extensions / bundles) · existing CI/CD and operations, untouched · 154 community extensions and 31 presets as patterns.</a:t>
            </a:r>
            <a:endParaRPr lang="en-US" sz="850" dirty="0"/>
          </a:p>
        </p:txBody>
      </p:sp>
      <p:sp>
        <p:nvSpPr>
          <p:cNvPr id="54" name="Text 52"/>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Appendix · How everything plugs in</a:t>
            </a:r>
            <a:endParaRPr lang="en-US" sz="2400" dirty="0"/>
          </a:p>
        </p:txBody>
      </p:sp>
      <p:sp>
        <p:nvSpPr>
          <p:cNvPr id="3" name="Text 1"/>
          <p:cNvSpPr/>
          <p:nvPr/>
        </p:nvSpPr>
        <p:spPr>
          <a:xfrm>
            <a:off x="457200" y="804672"/>
            <a:ext cx="11247120" cy="365760"/>
          </a:xfrm>
          <a:prstGeom prst="rect">
            <a:avLst/>
          </a:prstGeom>
          <a:noFill/>
          <a:ln/>
        </p:spPr>
        <p:txBody>
          <a:bodyPr wrap="square" lIns="0" tIns="0" rIns="0" bIns="0" rtlCol="0" anchor="t"/>
          <a:lstStyle/>
          <a:p>
            <a:pPr indent="0" marL="0">
              <a:buNone/>
            </a:pPr>
            <a:r>
              <a:rPr lang="en-US" sz="1100" dirty="0">
                <a:solidFill>
                  <a:srgbClr val="5F6B66"/>
                </a:solidFill>
                <a:latin typeface="Arial" pitchFamily="34" charset="0"/>
                <a:ea typeface="Arial" pitchFamily="34" charset="-122"/>
                <a:cs typeface="Arial" pitchFamily="34" charset="-120"/>
              </a:rPr>
              <a:t>Four extension points, one contract seam — nothing is forked. Presets change how the core behaves, extensions add commands and hooks, workflows orchestrate with human gates, bundles ship a role setup; every guardrail is a script the CI can run.</a:t>
            </a:r>
            <a:endParaRPr lang="en-US" sz="1100" dirty="0"/>
          </a:p>
        </p:txBody>
      </p:sp>
      <p:sp>
        <p:nvSpPr>
          <p:cNvPr id="4" name="Shape 2"/>
          <p:cNvSpPr/>
          <p:nvPr/>
        </p:nvSpPr>
        <p:spPr>
          <a:xfrm>
            <a:off x="457200" y="1371600"/>
            <a:ext cx="2697480" cy="2788920"/>
          </a:xfrm>
          <a:prstGeom prst="roundRect">
            <a:avLst>
              <a:gd name="adj" fmla="val 2712"/>
            </a:avLst>
          </a:prstGeom>
          <a:solidFill>
            <a:srgbClr val="EAF5EE"/>
          </a:solidFill>
          <a:ln w="12700">
            <a:solidFill>
              <a:srgbClr val="EAF5EE"/>
            </a:solidFill>
            <a:prstDash val="solid"/>
          </a:ln>
        </p:spPr>
      </p:sp>
      <p:sp>
        <p:nvSpPr>
          <p:cNvPr id="5" name="Text 3"/>
          <p:cNvSpPr/>
          <p:nvPr/>
        </p:nvSpPr>
        <p:spPr>
          <a:xfrm>
            <a:off x="566928" y="1481328"/>
            <a:ext cx="2478024" cy="347472"/>
          </a:xfrm>
          <a:prstGeom prst="roundRect">
            <a:avLst>
              <a:gd name="adj" fmla="val 15789"/>
            </a:avLst>
          </a:prstGeom>
          <a:solidFill>
            <a:srgbClr val="0E6B45"/>
          </a:solidFill>
          <a:ln>
            <a:solidFill>
              <a:srgbClr val="0E6B45"/>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Preset</a:t>
            </a:r>
            <a:endParaRPr lang="en-US" sz="1200" dirty="0"/>
          </a:p>
        </p:txBody>
      </p:sp>
      <p:sp>
        <p:nvSpPr>
          <p:cNvPr id="6" name="Text 4"/>
          <p:cNvSpPr/>
          <p:nvPr/>
        </p:nvSpPr>
        <p:spPr>
          <a:xfrm>
            <a:off x="594360" y="1938528"/>
            <a:ext cx="2423160" cy="1143000"/>
          </a:xfrm>
          <a:prstGeom prst="rect">
            <a:avLst/>
          </a:prstGeom>
          <a:noFill/>
          <a:ln/>
        </p:spPr>
        <p:txBody>
          <a:bodyPr wrap="square" lIns="0" tIns="0" rIns="0" bIns="0" rtlCol="0" anchor="t"/>
          <a:lstStyle/>
          <a:p>
            <a:pPr indent="0" marL="0">
              <a:buNone/>
            </a:pPr>
            <a:r>
              <a:rPr lang="en-US" sz="850" dirty="0">
                <a:solidFill>
                  <a:srgbClr val="1B2A24"/>
                </a:solidFill>
                <a:latin typeface="Arial" pitchFamily="34" charset="0"/>
                <a:ea typeface="Arial" pitchFamily="34" charset="-122"/>
                <a:cs typeface="Arial" pitchFamily="34" charset="-120"/>
              </a:rPr>
              <a:t>Changes HOW core works: templates and commands composed with replace / prepend / append / wrap ({CORE_TEMPLATE}), scripts with replace / wrap; priority-stacked; outranks extensions and installed extension commands.</a:t>
            </a:r>
            <a:endParaRPr lang="en-US" sz="850" dirty="0"/>
          </a:p>
        </p:txBody>
      </p:sp>
      <p:sp>
        <p:nvSpPr>
          <p:cNvPr id="7" name="Shape 5"/>
          <p:cNvSpPr/>
          <p:nvPr/>
        </p:nvSpPr>
        <p:spPr>
          <a:xfrm>
            <a:off x="566928" y="3127248"/>
            <a:ext cx="2478024" cy="914400"/>
          </a:xfrm>
          <a:prstGeom prst="roundRect">
            <a:avLst>
              <a:gd name="adj" fmla="val 6000"/>
            </a:avLst>
          </a:prstGeom>
          <a:solidFill>
            <a:srgbClr val="FFFFFF"/>
          </a:solidFill>
          <a:ln w="12700">
            <a:solidFill>
              <a:srgbClr val="CFE9DA"/>
            </a:solidFill>
            <a:prstDash val="solid"/>
          </a:ln>
        </p:spPr>
      </p:sp>
      <p:sp>
        <p:nvSpPr>
          <p:cNvPr id="8" name="Text 6"/>
          <p:cNvSpPr/>
          <p:nvPr/>
        </p:nvSpPr>
        <p:spPr>
          <a:xfrm>
            <a:off x="658368" y="3182112"/>
            <a:ext cx="2295144" cy="822960"/>
          </a:xfrm>
          <a:prstGeom prst="rect">
            <a:avLst/>
          </a:prstGeom>
          <a:noFill/>
          <a:ln/>
        </p:spPr>
        <p:txBody>
          <a:bodyPr wrap="square" lIns="0" tIns="0" rIns="0" bIns="0" rtlCol="0" anchor="t"/>
          <a:lstStyle/>
          <a:p>
            <a:pPr indent="0" marL="0">
              <a:buNone/>
            </a:pPr>
            <a:r>
              <a:rPr lang="en-US" sz="800" b="1" dirty="0">
                <a:solidFill>
                  <a:srgbClr val="1E9A5B"/>
                </a:solidFill>
                <a:latin typeface="Arial" pitchFamily="34" charset="0"/>
                <a:ea typeface="Arial" pitchFamily="34" charset="-122"/>
                <a:cs typeface="Arial" pitchFamily="34" charset="-120"/>
              </a:rPr>
              <a:t>Used for: </a:t>
            </a:r>
            <a:pPr indent="0" marL="0">
              <a:buNone/>
            </a:pPr>
            <a:r>
              <a:rPr lang="en-US" sz="800" dirty="0">
                <a:solidFill>
                  <a:srgbClr val="1B2A24"/>
                </a:solidFill>
                <a:latin typeface="Arial" pitchFamily="34" charset="0"/>
                <a:ea typeface="Arial" pitchFamily="34" charset="-122"/>
                <a:cs typeface="Arial" pitchFamily="34" charset="-120"/>
              </a:rPr>
              <a:t>Corporate spec addendum (UC · SC · AC · BR · D section), speckit.plan wrap with the architecture conformance table, speckit.specify wrap for import mode.</a:t>
            </a:r>
            <a:endParaRPr lang="en-US" sz="800" dirty="0"/>
          </a:p>
        </p:txBody>
      </p:sp>
      <p:sp>
        <p:nvSpPr>
          <p:cNvPr id="9" name="Shape 7"/>
          <p:cNvSpPr/>
          <p:nvPr/>
        </p:nvSpPr>
        <p:spPr>
          <a:xfrm>
            <a:off x="3310128" y="1371600"/>
            <a:ext cx="2697480" cy="2788920"/>
          </a:xfrm>
          <a:prstGeom prst="roundRect">
            <a:avLst>
              <a:gd name="adj" fmla="val 2712"/>
            </a:avLst>
          </a:prstGeom>
          <a:solidFill>
            <a:srgbClr val="EAF5EE"/>
          </a:solidFill>
          <a:ln w="12700">
            <a:solidFill>
              <a:srgbClr val="EAF5EE"/>
            </a:solidFill>
            <a:prstDash val="solid"/>
          </a:ln>
        </p:spPr>
      </p:sp>
      <p:sp>
        <p:nvSpPr>
          <p:cNvPr id="10" name="Text 8"/>
          <p:cNvSpPr/>
          <p:nvPr/>
        </p:nvSpPr>
        <p:spPr>
          <a:xfrm>
            <a:off x="3419856" y="1481328"/>
            <a:ext cx="2478024" cy="347472"/>
          </a:xfrm>
          <a:prstGeom prst="roundRect">
            <a:avLst>
              <a:gd name="adj" fmla="val 15789"/>
            </a:avLst>
          </a:prstGeom>
          <a:solidFill>
            <a:srgbClr val="0E6B45"/>
          </a:solidFill>
          <a:ln>
            <a:solidFill>
              <a:srgbClr val="0E6B45"/>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Extension</a:t>
            </a:r>
            <a:endParaRPr lang="en-US" sz="1200" dirty="0"/>
          </a:p>
        </p:txBody>
      </p:sp>
      <p:sp>
        <p:nvSpPr>
          <p:cNvPr id="11" name="Text 9"/>
          <p:cNvSpPr/>
          <p:nvPr/>
        </p:nvSpPr>
        <p:spPr>
          <a:xfrm>
            <a:off x="3447288" y="1938528"/>
            <a:ext cx="2423160" cy="1143000"/>
          </a:xfrm>
          <a:prstGeom prst="rect">
            <a:avLst/>
          </a:prstGeom>
          <a:noFill/>
          <a:ln/>
        </p:spPr>
        <p:txBody>
          <a:bodyPr wrap="square" lIns="0" tIns="0" rIns="0" bIns="0" rtlCol="0" anchor="t"/>
          <a:lstStyle/>
          <a:p>
            <a:pPr indent="0" marL="0">
              <a:buNone/>
            </a:pPr>
            <a:r>
              <a:rPr lang="en-US" sz="850" dirty="0">
                <a:solidFill>
                  <a:srgbClr val="1B2A24"/>
                </a:solidFill>
                <a:latin typeface="Arial" pitchFamily="34" charset="0"/>
                <a:ea typeface="Arial" pitchFamily="34" charset="-122"/>
                <a:cs typeface="Arial" pitchFamily="34" charset="-120"/>
              </a:rPr>
              <a:t>Adds WHAT core lacks: new commands, scripts, config and hooks on 20 lifecycle points (before / after × 10 commands). Hooks are dispatched by the agent — convenient, not a hard guarantee.</a:t>
            </a:r>
            <a:endParaRPr lang="en-US" sz="850" dirty="0"/>
          </a:p>
        </p:txBody>
      </p:sp>
      <p:sp>
        <p:nvSpPr>
          <p:cNvPr id="12" name="Shape 10"/>
          <p:cNvSpPr/>
          <p:nvPr/>
        </p:nvSpPr>
        <p:spPr>
          <a:xfrm>
            <a:off x="3419856" y="3127248"/>
            <a:ext cx="2478024" cy="914400"/>
          </a:xfrm>
          <a:prstGeom prst="roundRect">
            <a:avLst>
              <a:gd name="adj" fmla="val 6000"/>
            </a:avLst>
          </a:prstGeom>
          <a:solidFill>
            <a:srgbClr val="FFFFFF"/>
          </a:solidFill>
          <a:ln w="12700">
            <a:solidFill>
              <a:srgbClr val="CFE9DA"/>
            </a:solidFill>
            <a:prstDash val="solid"/>
          </a:ln>
        </p:spPr>
      </p:sp>
      <p:sp>
        <p:nvSpPr>
          <p:cNvPr id="13" name="Text 11"/>
          <p:cNvSpPr/>
          <p:nvPr/>
        </p:nvSpPr>
        <p:spPr>
          <a:xfrm>
            <a:off x="3511296" y="3182112"/>
            <a:ext cx="2295144" cy="822960"/>
          </a:xfrm>
          <a:prstGeom prst="rect">
            <a:avLst/>
          </a:prstGeom>
          <a:noFill/>
          <a:ln/>
        </p:spPr>
        <p:txBody>
          <a:bodyPr wrap="square" lIns="0" tIns="0" rIns="0" bIns="0" rtlCol="0" anchor="t"/>
          <a:lstStyle/>
          <a:p>
            <a:pPr indent="0" marL="0">
              <a:buNone/>
            </a:pPr>
            <a:r>
              <a:rPr lang="en-US" sz="800" b="1" dirty="0">
                <a:solidFill>
                  <a:srgbClr val="1E9A5B"/>
                </a:solidFill>
                <a:latin typeface="Arial" pitchFamily="34" charset="0"/>
                <a:ea typeface="Arial" pitchFamily="34" charset="-122"/>
                <a:cs typeface="Arial" pitchFamily="34" charset="-120"/>
              </a:rPr>
              <a:t>Used for: </a:t>
            </a:r>
            <a:pPr indent="0" marL="0">
              <a:buNone/>
            </a:pPr>
            <a:r>
              <a:rPr lang="en-US" sz="800" dirty="0">
                <a:solidFill>
                  <a:srgbClr val="1B2A24"/>
                </a:solidFill>
                <a:latin typeface="Arial" pitchFamily="34" charset="0"/>
                <a:ea typeface="Arial" pitchFamily="34" charset="-122"/>
                <a:cs typeface="Arial" pitchFamily="34" charset="-120"/>
              </a:rPr>
              <a:t>Handover validator, conformance script, speckit.domain.change, Proposer; mandatory hooks after_specify, after_plan, after_implement, before_converge.</a:t>
            </a:r>
            <a:endParaRPr lang="en-US" sz="800" dirty="0"/>
          </a:p>
        </p:txBody>
      </p:sp>
      <p:sp>
        <p:nvSpPr>
          <p:cNvPr id="14" name="Shape 12"/>
          <p:cNvSpPr/>
          <p:nvPr/>
        </p:nvSpPr>
        <p:spPr>
          <a:xfrm>
            <a:off x="6163056" y="1371600"/>
            <a:ext cx="2697480" cy="2788920"/>
          </a:xfrm>
          <a:prstGeom prst="roundRect">
            <a:avLst>
              <a:gd name="adj" fmla="val 2712"/>
            </a:avLst>
          </a:prstGeom>
          <a:solidFill>
            <a:srgbClr val="EAF5EE"/>
          </a:solidFill>
          <a:ln w="12700">
            <a:solidFill>
              <a:srgbClr val="EAF5EE"/>
            </a:solidFill>
            <a:prstDash val="solid"/>
          </a:ln>
        </p:spPr>
      </p:sp>
      <p:sp>
        <p:nvSpPr>
          <p:cNvPr id="15" name="Text 13"/>
          <p:cNvSpPr/>
          <p:nvPr/>
        </p:nvSpPr>
        <p:spPr>
          <a:xfrm>
            <a:off x="6272784" y="1481328"/>
            <a:ext cx="2478024" cy="347472"/>
          </a:xfrm>
          <a:prstGeom prst="roundRect">
            <a:avLst>
              <a:gd name="adj" fmla="val 15789"/>
            </a:avLst>
          </a:prstGeom>
          <a:solidFill>
            <a:srgbClr val="0E6B45"/>
          </a:solidFill>
          <a:ln>
            <a:solidFill>
              <a:srgbClr val="0E6B45"/>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Workflow</a:t>
            </a:r>
            <a:endParaRPr lang="en-US" sz="1200" dirty="0"/>
          </a:p>
        </p:txBody>
      </p:sp>
      <p:sp>
        <p:nvSpPr>
          <p:cNvPr id="16" name="Text 14"/>
          <p:cNvSpPr/>
          <p:nvPr/>
        </p:nvSpPr>
        <p:spPr>
          <a:xfrm>
            <a:off x="6300216" y="1938528"/>
            <a:ext cx="2423160" cy="1143000"/>
          </a:xfrm>
          <a:prstGeom prst="rect">
            <a:avLst/>
          </a:prstGeom>
          <a:noFill/>
          <a:ln/>
        </p:spPr>
        <p:txBody>
          <a:bodyPr wrap="square" lIns="0" tIns="0" rIns="0" bIns="0" rtlCol="0" anchor="t"/>
          <a:lstStyle/>
          <a:p>
            <a:pPr indent="0" marL="0">
              <a:buNone/>
            </a:pPr>
            <a:r>
              <a:rPr lang="en-US" sz="850" dirty="0">
                <a:solidFill>
                  <a:srgbClr val="1B2A24"/>
                </a:solidFill>
                <a:latin typeface="Arial" pitchFamily="34" charset="0"/>
                <a:ea typeface="Arial" pitchFamily="34" charset="-122"/>
                <a:cs typeface="Arial" pitchFamily="34" charset="-120"/>
              </a:rPr>
              <a:t>YAML pipeline, 11 step types: command, prompt, shell, init, gate (human review), if, switch, while, do-while, fan-out, fan-in. State persisted per step; specify workflow resume.</a:t>
            </a:r>
            <a:endParaRPr lang="en-US" sz="850" dirty="0"/>
          </a:p>
        </p:txBody>
      </p:sp>
      <p:sp>
        <p:nvSpPr>
          <p:cNvPr id="17" name="Shape 15"/>
          <p:cNvSpPr/>
          <p:nvPr/>
        </p:nvSpPr>
        <p:spPr>
          <a:xfrm>
            <a:off x="6272784" y="3127248"/>
            <a:ext cx="2478024" cy="914400"/>
          </a:xfrm>
          <a:prstGeom prst="roundRect">
            <a:avLst>
              <a:gd name="adj" fmla="val 6000"/>
            </a:avLst>
          </a:prstGeom>
          <a:solidFill>
            <a:srgbClr val="FFFFFF"/>
          </a:solidFill>
          <a:ln w="12700">
            <a:solidFill>
              <a:srgbClr val="CFE9DA"/>
            </a:solidFill>
            <a:prstDash val="solid"/>
          </a:ln>
        </p:spPr>
      </p:sp>
      <p:sp>
        <p:nvSpPr>
          <p:cNvPr id="18" name="Text 16"/>
          <p:cNvSpPr/>
          <p:nvPr/>
        </p:nvSpPr>
        <p:spPr>
          <a:xfrm>
            <a:off x="6364224" y="3182112"/>
            <a:ext cx="2295144" cy="822960"/>
          </a:xfrm>
          <a:prstGeom prst="rect">
            <a:avLst/>
          </a:prstGeom>
          <a:noFill/>
          <a:ln/>
        </p:spPr>
        <p:txBody>
          <a:bodyPr wrap="square" lIns="0" tIns="0" rIns="0" bIns="0" rtlCol="0" anchor="t"/>
          <a:lstStyle/>
          <a:p>
            <a:pPr indent="0" marL="0">
              <a:buNone/>
            </a:pPr>
            <a:r>
              <a:rPr lang="en-US" sz="800" b="1" dirty="0">
                <a:solidFill>
                  <a:srgbClr val="1E9A5B"/>
                </a:solidFill>
                <a:latin typeface="Arial" pitchFamily="34" charset="0"/>
                <a:ea typeface="Arial" pitchFamily="34" charset="-122"/>
                <a:cs typeface="Arial" pitchFamily="34" charset="-120"/>
              </a:rPr>
              <a:t>Used for: </a:t>
            </a:r>
            <a:pPr indent="0" marL="0">
              <a:buNone/>
            </a:pPr>
            <a:r>
              <a:rPr lang="en-US" sz="800" dirty="0">
                <a:solidFill>
                  <a:srgbClr val="1B2A24"/>
                </a:solidFill>
                <a:latin typeface="Arial" pitchFamily="34" charset="0"/>
                <a:ea typeface="Arial" pitchFamily="34" charset="-122"/>
                <a:cs typeface="Arial" pitchFamily="34" charset="-120"/>
              </a:rPr>
              <a:t>Corporate loop per feature: handover → validator loop → BA gate → plan → conformance → architect gate → tasks → analyze → implement → CI; re-entry workflow for findings; per-project overlays.</a:t>
            </a:r>
            <a:endParaRPr lang="en-US" sz="800" dirty="0"/>
          </a:p>
        </p:txBody>
      </p:sp>
      <p:sp>
        <p:nvSpPr>
          <p:cNvPr id="19" name="Shape 17"/>
          <p:cNvSpPr/>
          <p:nvPr/>
        </p:nvSpPr>
        <p:spPr>
          <a:xfrm>
            <a:off x="9015984" y="1371600"/>
            <a:ext cx="2697480" cy="2788920"/>
          </a:xfrm>
          <a:prstGeom prst="roundRect">
            <a:avLst>
              <a:gd name="adj" fmla="val 2712"/>
            </a:avLst>
          </a:prstGeom>
          <a:solidFill>
            <a:srgbClr val="EAF5EE"/>
          </a:solidFill>
          <a:ln w="12700">
            <a:solidFill>
              <a:srgbClr val="EAF5EE"/>
            </a:solidFill>
            <a:prstDash val="solid"/>
          </a:ln>
        </p:spPr>
      </p:sp>
      <p:sp>
        <p:nvSpPr>
          <p:cNvPr id="20" name="Text 18"/>
          <p:cNvSpPr/>
          <p:nvPr/>
        </p:nvSpPr>
        <p:spPr>
          <a:xfrm>
            <a:off x="9125712" y="1481328"/>
            <a:ext cx="2478024" cy="347472"/>
          </a:xfrm>
          <a:prstGeom prst="roundRect">
            <a:avLst>
              <a:gd name="adj" fmla="val 15789"/>
            </a:avLst>
          </a:prstGeom>
          <a:solidFill>
            <a:srgbClr val="0E6B45"/>
          </a:solidFill>
          <a:ln>
            <a:solidFill>
              <a:srgbClr val="0E6B45"/>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Bundle + catalogs</a:t>
            </a:r>
            <a:endParaRPr lang="en-US" sz="1200" dirty="0"/>
          </a:p>
        </p:txBody>
      </p:sp>
      <p:sp>
        <p:nvSpPr>
          <p:cNvPr id="21" name="Text 19"/>
          <p:cNvSpPr/>
          <p:nvPr/>
        </p:nvSpPr>
        <p:spPr>
          <a:xfrm>
            <a:off x="9153144" y="1938528"/>
            <a:ext cx="2423160" cy="1143000"/>
          </a:xfrm>
          <a:prstGeom prst="rect">
            <a:avLst/>
          </a:prstGeom>
          <a:noFill/>
          <a:ln/>
        </p:spPr>
        <p:txBody>
          <a:bodyPr wrap="square" lIns="0" tIns="0" rIns="0" bIns="0" rtlCol="0" anchor="t"/>
          <a:lstStyle/>
          <a:p>
            <a:pPr indent="0" marL="0">
              <a:buNone/>
            </a:pPr>
            <a:r>
              <a:rPr lang="en-US" sz="850" dirty="0">
                <a:solidFill>
                  <a:srgbClr val="1B2A24"/>
                </a:solidFill>
                <a:latin typeface="Arial" pitchFamily="34" charset="0"/>
                <a:ea typeface="Arial" pitchFamily="34" charset="-122"/>
                <a:cs typeface="Arial" pitchFamily="34" charset="-120"/>
              </a:rPr>
              <a:t>Role-based, versioned setup: presets (priority, strategy) + extensions + workflows, pinned; private HTTPS catalogs with sha256, idempotent install / update / remove.</a:t>
            </a:r>
            <a:endParaRPr lang="en-US" sz="850" dirty="0"/>
          </a:p>
        </p:txBody>
      </p:sp>
      <p:sp>
        <p:nvSpPr>
          <p:cNvPr id="22" name="Shape 20"/>
          <p:cNvSpPr/>
          <p:nvPr/>
        </p:nvSpPr>
        <p:spPr>
          <a:xfrm>
            <a:off x="9125712" y="3127248"/>
            <a:ext cx="2478024" cy="914400"/>
          </a:xfrm>
          <a:prstGeom prst="roundRect">
            <a:avLst>
              <a:gd name="adj" fmla="val 6000"/>
            </a:avLst>
          </a:prstGeom>
          <a:solidFill>
            <a:srgbClr val="FFFFFF"/>
          </a:solidFill>
          <a:ln w="12700">
            <a:solidFill>
              <a:srgbClr val="CFE9DA"/>
            </a:solidFill>
            <a:prstDash val="solid"/>
          </a:ln>
        </p:spPr>
      </p:sp>
      <p:sp>
        <p:nvSpPr>
          <p:cNvPr id="23" name="Text 21"/>
          <p:cNvSpPr/>
          <p:nvPr/>
        </p:nvSpPr>
        <p:spPr>
          <a:xfrm>
            <a:off x="9217152" y="3182112"/>
            <a:ext cx="2295144" cy="822960"/>
          </a:xfrm>
          <a:prstGeom prst="rect">
            <a:avLst/>
          </a:prstGeom>
          <a:noFill/>
          <a:ln/>
        </p:spPr>
        <p:txBody>
          <a:bodyPr wrap="square" lIns="0" tIns="0" rIns="0" bIns="0" rtlCol="0" anchor="t"/>
          <a:lstStyle/>
          <a:p>
            <a:pPr indent="0" marL="0">
              <a:buNone/>
            </a:pPr>
            <a:r>
              <a:rPr lang="en-US" sz="800" b="1" dirty="0">
                <a:solidFill>
                  <a:srgbClr val="1E9A5B"/>
                </a:solidFill>
                <a:latin typeface="Arial" pitchFamily="34" charset="0"/>
                <a:ea typeface="Arial" pitchFamily="34" charset="-122"/>
                <a:cs typeface="Arial" pitchFamily="34" charset="-120"/>
              </a:rPr>
              <a:t>Used for: </a:t>
            </a:r>
            <a:pPr indent="0" marL="0">
              <a:buNone/>
            </a:pPr>
            <a:r>
              <a:rPr lang="en-US" sz="800" dirty="0">
                <a:solidFill>
                  <a:srgbClr val="1B2A24"/>
                </a:solidFill>
                <a:latin typeface="Arial" pitchFamily="34" charset="0"/>
                <a:ea typeface="Arial" pitchFamily="34" charset="-122"/>
                <a:cs typeface="Arial" pitchFamily="34" charset="-120"/>
              </a:rPr>
              <a:t>One command per project: specify bundle install &lt;corp-bundle&gt;; role bundles for BA, architect, developer, QA, release; domain fragments per business line.</a:t>
            </a:r>
            <a:endParaRPr lang="en-US" sz="800" dirty="0"/>
          </a:p>
        </p:txBody>
      </p:sp>
      <p:sp>
        <p:nvSpPr>
          <p:cNvPr id="24" name="Text 22"/>
          <p:cNvSpPr/>
          <p:nvPr/>
        </p:nvSpPr>
        <p:spPr>
          <a:xfrm>
            <a:off x="457200" y="4343400"/>
            <a:ext cx="2926080" cy="219456"/>
          </a:xfrm>
          <a:prstGeom prst="rect">
            <a:avLst/>
          </a:prstGeom>
          <a:noFill/>
          <a:ln/>
        </p:spPr>
        <p:txBody>
          <a:bodyPr wrap="square" lIns="0" tIns="0" rIns="0" bIns="0" rtlCol="0" anchor="ctr"/>
          <a:lstStyle/>
          <a:p>
            <a:pPr indent="0" marL="0">
              <a:buNone/>
            </a:pPr>
            <a:r>
              <a:rPr lang="en-US" sz="900" b="1" dirty="0">
                <a:solidFill>
                  <a:srgbClr val="0B3F2C"/>
                </a:solidFill>
                <a:latin typeface="Arial" pitchFamily="34" charset="0"/>
                <a:ea typeface="Arial" pitchFamily="34" charset="-122"/>
                <a:cs typeface="Arial" pitchFamily="34" charset="-120"/>
              </a:rPr>
              <a:t>Template resolution (first match wins):</a:t>
            </a:r>
            <a:endParaRPr lang="en-US" sz="900" dirty="0"/>
          </a:p>
        </p:txBody>
      </p:sp>
      <p:sp>
        <p:nvSpPr>
          <p:cNvPr id="25" name="Shape 23"/>
          <p:cNvSpPr/>
          <p:nvPr/>
        </p:nvSpPr>
        <p:spPr>
          <a:xfrm>
            <a:off x="3429000" y="4325112"/>
            <a:ext cx="1920240" cy="274320"/>
          </a:xfrm>
          <a:prstGeom prst="roundRect">
            <a:avLst>
              <a:gd name="adj" fmla="val 16667"/>
            </a:avLst>
          </a:prstGeom>
          <a:solidFill>
            <a:srgbClr val="FFFFFF"/>
          </a:solidFill>
          <a:ln w="12700">
            <a:solidFill>
              <a:srgbClr val="0E6B45"/>
            </a:solidFill>
            <a:prstDash val="solid"/>
          </a:ln>
        </p:spPr>
      </p:sp>
      <p:sp>
        <p:nvSpPr>
          <p:cNvPr id="26" name="Text 24"/>
          <p:cNvSpPr/>
          <p:nvPr/>
        </p:nvSpPr>
        <p:spPr>
          <a:xfrm>
            <a:off x="3483864" y="4325112"/>
            <a:ext cx="1810512" cy="274320"/>
          </a:xfrm>
          <a:prstGeom prst="rect">
            <a:avLst/>
          </a:prstGeom>
          <a:noFill/>
          <a:ln/>
        </p:spPr>
        <p:txBody>
          <a:bodyPr wrap="square" lIns="0" tIns="0" rIns="0" bIns="0" rtlCol="0" anchor="ctr"/>
          <a:lstStyle/>
          <a:p>
            <a:pPr algn="ctr" indent="0" marL="0">
              <a:buNone/>
            </a:pPr>
            <a:r>
              <a:rPr lang="en-US" sz="700" dirty="0">
                <a:solidFill>
                  <a:srgbClr val="1B2A24"/>
                </a:solidFill>
                <a:latin typeface="Arial" pitchFamily="34" charset="0"/>
                <a:ea typeface="Arial" pitchFamily="34" charset="-122"/>
                <a:cs typeface="Arial" pitchFamily="34" charset="-120"/>
              </a:rPr>
              <a:t>project overrides  .specify/templates/overrides/</a:t>
            </a:r>
            <a:endParaRPr lang="en-US" sz="700" dirty="0"/>
          </a:p>
        </p:txBody>
      </p:sp>
      <p:sp>
        <p:nvSpPr>
          <p:cNvPr id="27" name="Shape 25"/>
          <p:cNvSpPr/>
          <p:nvPr/>
        </p:nvSpPr>
        <p:spPr>
          <a:xfrm>
            <a:off x="5367528" y="4462272"/>
            <a:ext cx="146304" cy="0"/>
          </a:xfrm>
          <a:prstGeom prst="line">
            <a:avLst/>
          </a:prstGeom>
          <a:noFill/>
          <a:ln w="15875">
            <a:solidFill>
              <a:srgbClr val="0E6B45"/>
            </a:solidFill>
            <a:prstDash val="solid"/>
            <a:tailEnd type="triangle"/>
          </a:ln>
        </p:spPr>
      </p:sp>
      <p:sp>
        <p:nvSpPr>
          <p:cNvPr id="28" name="Shape 26"/>
          <p:cNvSpPr/>
          <p:nvPr/>
        </p:nvSpPr>
        <p:spPr>
          <a:xfrm>
            <a:off x="5532120" y="4325112"/>
            <a:ext cx="1920240" cy="274320"/>
          </a:xfrm>
          <a:prstGeom prst="roundRect">
            <a:avLst>
              <a:gd name="adj" fmla="val 16667"/>
            </a:avLst>
          </a:prstGeom>
          <a:solidFill>
            <a:srgbClr val="FFFFFF"/>
          </a:solidFill>
          <a:ln w="12700">
            <a:solidFill>
              <a:srgbClr val="0E6B45"/>
            </a:solidFill>
            <a:prstDash val="solid"/>
          </a:ln>
        </p:spPr>
      </p:sp>
      <p:sp>
        <p:nvSpPr>
          <p:cNvPr id="29" name="Text 27"/>
          <p:cNvSpPr/>
          <p:nvPr/>
        </p:nvSpPr>
        <p:spPr>
          <a:xfrm>
            <a:off x="5586984" y="4325112"/>
            <a:ext cx="1810512" cy="274320"/>
          </a:xfrm>
          <a:prstGeom prst="rect">
            <a:avLst/>
          </a:prstGeom>
          <a:noFill/>
          <a:ln/>
        </p:spPr>
        <p:txBody>
          <a:bodyPr wrap="square" lIns="0" tIns="0" rIns="0" bIns="0" rtlCol="0" anchor="ctr"/>
          <a:lstStyle/>
          <a:p>
            <a:pPr algn="ctr" indent="0" marL="0">
              <a:buNone/>
            </a:pPr>
            <a:r>
              <a:rPr lang="en-US" sz="700" dirty="0">
                <a:solidFill>
                  <a:srgbClr val="1B2A24"/>
                </a:solidFill>
                <a:latin typeface="Arial" pitchFamily="34" charset="0"/>
                <a:ea typeface="Arial" pitchFamily="34" charset="-122"/>
                <a:cs typeface="Arial" pitchFamily="34" charset="-120"/>
              </a:rPr>
              <a:t>presets  .specify/presets/&lt;id&gt;/</a:t>
            </a:r>
            <a:endParaRPr lang="en-US" sz="700" dirty="0"/>
          </a:p>
        </p:txBody>
      </p:sp>
      <p:sp>
        <p:nvSpPr>
          <p:cNvPr id="30" name="Shape 28"/>
          <p:cNvSpPr/>
          <p:nvPr/>
        </p:nvSpPr>
        <p:spPr>
          <a:xfrm>
            <a:off x="7470648" y="4462272"/>
            <a:ext cx="146304" cy="0"/>
          </a:xfrm>
          <a:prstGeom prst="line">
            <a:avLst/>
          </a:prstGeom>
          <a:noFill/>
          <a:ln w="15875">
            <a:solidFill>
              <a:srgbClr val="0E6B45"/>
            </a:solidFill>
            <a:prstDash val="solid"/>
            <a:tailEnd type="triangle"/>
          </a:ln>
        </p:spPr>
      </p:sp>
      <p:sp>
        <p:nvSpPr>
          <p:cNvPr id="31" name="Shape 29"/>
          <p:cNvSpPr/>
          <p:nvPr/>
        </p:nvSpPr>
        <p:spPr>
          <a:xfrm>
            <a:off x="7635240" y="4325112"/>
            <a:ext cx="1920240" cy="274320"/>
          </a:xfrm>
          <a:prstGeom prst="roundRect">
            <a:avLst>
              <a:gd name="adj" fmla="val 16667"/>
            </a:avLst>
          </a:prstGeom>
          <a:solidFill>
            <a:srgbClr val="FFFFFF"/>
          </a:solidFill>
          <a:ln w="12700">
            <a:solidFill>
              <a:srgbClr val="0E6B45"/>
            </a:solidFill>
            <a:prstDash val="solid"/>
          </a:ln>
        </p:spPr>
      </p:sp>
      <p:sp>
        <p:nvSpPr>
          <p:cNvPr id="32" name="Text 30"/>
          <p:cNvSpPr/>
          <p:nvPr/>
        </p:nvSpPr>
        <p:spPr>
          <a:xfrm>
            <a:off x="7690104" y="4325112"/>
            <a:ext cx="1810512" cy="274320"/>
          </a:xfrm>
          <a:prstGeom prst="rect">
            <a:avLst/>
          </a:prstGeom>
          <a:noFill/>
          <a:ln/>
        </p:spPr>
        <p:txBody>
          <a:bodyPr wrap="square" lIns="0" tIns="0" rIns="0" bIns="0" rtlCol="0" anchor="ctr"/>
          <a:lstStyle/>
          <a:p>
            <a:pPr algn="ctr" indent="0" marL="0">
              <a:buNone/>
            </a:pPr>
            <a:r>
              <a:rPr lang="en-US" sz="700" dirty="0">
                <a:solidFill>
                  <a:srgbClr val="1B2A24"/>
                </a:solidFill>
                <a:latin typeface="Arial" pitchFamily="34" charset="0"/>
                <a:ea typeface="Arial" pitchFamily="34" charset="-122"/>
                <a:cs typeface="Arial" pitchFamily="34" charset="-120"/>
              </a:rPr>
              <a:t>extensions  .specify/extensions/&lt;id&gt;/</a:t>
            </a:r>
            <a:endParaRPr lang="en-US" sz="700" dirty="0"/>
          </a:p>
        </p:txBody>
      </p:sp>
      <p:sp>
        <p:nvSpPr>
          <p:cNvPr id="33" name="Shape 31"/>
          <p:cNvSpPr/>
          <p:nvPr/>
        </p:nvSpPr>
        <p:spPr>
          <a:xfrm>
            <a:off x="9573768" y="4462272"/>
            <a:ext cx="146304" cy="0"/>
          </a:xfrm>
          <a:prstGeom prst="line">
            <a:avLst/>
          </a:prstGeom>
          <a:noFill/>
          <a:ln w="15875">
            <a:solidFill>
              <a:srgbClr val="0E6B45"/>
            </a:solidFill>
            <a:prstDash val="solid"/>
            <a:tailEnd type="triangle"/>
          </a:ln>
        </p:spPr>
      </p:sp>
      <p:sp>
        <p:nvSpPr>
          <p:cNvPr id="34" name="Shape 32"/>
          <p:cNvSpPr/>
          <p:nvPr/>
        </p:nvSpPr>
        <p:spPr>
          <a:xfrm>
            <a:off x="9738360" y="4325112"/>
            <a:ext cx="1920240" cy="274320"/>
          </a:xfrm>
          <a:prstGeom prst="roundRect">
            <a:avLst>
              <a:gd name="adj" fmla="val 16667"/>
            </a:avLst>
          </a:prstGeom>
          <a:solidFill>
            <a:srgbClr val="0E6B45"/>
          </a:solidFill>
          <a:ln w="12700">
            <a:solidFill>
              <a:srgbClr val="0E6B45"/>
            </a:solidFill>
            <a:prstDash val="solid"/>
          </a:ln>
        </p:spPr>
      </p:sp>
      <p:sp>
        <p:nvSpPr>
          <p:cNvPr id="35" name="Text 33"/>
          <p:cNvSpPr/>
          <p:nvPr/>
        </p:nvSpPr>
        <p:spPr>
          <a:xfrm>
            <a:off x="9793224" y="4325112"/>
            <a:ext cx="1810512" cy="274320"/>
          </a:xfrm>
          <a:prstGeom prst="rect">
            <a:avLst/>
          </a:prstGeom>
          <a:noFill/>
          <a:ln/>
        </p:spPr>
        <p:txBody>
          <a:bodyPr wrap="square" lIns="0" tIns="0" rIns="0" bIns="0"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core  .specify/templates/</a:t>
            </a:r>
            <a:endParaRPr lang="en-US" sz="700" dirty="0"/>
          </a:p>
        </p:txBody>
      </p:sp>
      <p:sp>
        <p:nvSpPr>
          <p:cNvPr id="36" name="Shape 34"/>
          <p:cNvSpPr/>
          <p:nvPr/>
        </p:nvSpPr>
        <p:spPr>
          <a:xfrm>
            <a:off x="457200" y="4800600"/>
            <a:ext cx="11274552" cy="1325880"/>
          </a:xfrm>
          <a:prstGeom prst="roundRect">
            <a:avLst>
              <a:gd name="adj" fmla="val 5517"/>
            </a:avLst>
          </a:prstGeom>
          <a:solidFill>
            <a:srgbClr val="0B3F2C"/>
          </a:solidFill>
          <a:ln w="12700">
            <a:solidFill>
              <a:srgbClr val="0B3F2C"/>
            </a:solidFill>
            <a:prstDash val="solid"/>
          </a:ln>
        </p:spPr>
      </p:sp>
      <p:sp>
        <p:nvSpPr>
          <p:cNvPr id="37" name="Text 35"/>
          <p:cNvSpPr/>
          <p:nvPr/>
        </p:nvSpPr>
        <p:spPr>
          <a:xfrm>
            <a:off x="685800" y="4901184"/>
            <a:ext cx="3657600" cy="237744"/>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Guardrail principle</a:t>
            </a:r>
            <a:endParaRPr lang="en-US" sz="1100" dirty="0"/>
          </a:p>
        </p:txBody>
      </p:sp>
      <p:sp>
        <p:nvSpPr>
          <p:cNvPr id="38" name="Text 36"/>
          <p:cNvSpPr/>
          <p:nvPr/>
        </p:nvSpPr>
        <p:spPr>
          <a:xfrm>
            <a:off x="685800" y="5175504"/>
            <a:ext cx="10835640" cy="914400"/>
          </a:xfrm>
          <a:prstGeom prst="rect">
            <a:avLst/>
          </a:prstGeom>
          <a:noFill/>
          <a:ln/>
        </p:spPr>
        <p:txBody>
          <a:bodyPr wrap="square" lIns="0" tIns="0" rIns="0" bIns="0" rtlCol="0" anchor="t"/>
          <a:lstStyle/>
          <a:p>
            <a:pPr indent="0" marL="0">
              <a:spcAft>
                <a:spcPts val="600"/>
              </a:spcAft>
              <a:buNone/>
            </a:pPr>
            <a:r>
              <a:rPr lang="en-US" sz="900" b="1" dirty="0">
                <a:solidFill>
                  <a:srgbClr val="FFFFFF"/>
                </a:solidFill>
                <a:latin typeface="Arial" pitchFamily="34" charset="0"/>
                <a:ea typeface="Arial" pitchFamily="34" charset="-122"/>
                <a:cs typeface="Arial" pitchFamily="34" charset="-120"/>
              </a:rPr>
              <a:t>Prompt rules are advisory. </a:t>
            </a:r>
            <a:pPr indent="0" marL="0">
              <a:spcAft>
                <a:spcPts val="600"/>
              </a:spcAft>
              <a:buNone/>
            </a:pPr>
            <a:r>
              <a:rPr lang="en-US" sz="900" dirty="0">
                <a:solidFill>
                  <a:srgbClr val="FFFFFF"/>
                </a:solidFill>
                <a:latin typeface="Arial" pitchFamily="34" charset="0"/>
                <a:ea typeface="Arial" pitchFamily="34" charset="-122"/>
                <a:cs typeface="Arial" pitchFamily="34" charset="-120"/>
              </a:rPr>
              <a:t>Every guardrail is a script with a JSON verdict, run three ways: as an extension hook (convenience), as a workflow shell gate (orchestration) and in CI on the pull request (the hard line). Only audited, human-gated code ships.</a:t>
            </a:r>
            <a:endParaRPr lang="en-US" sz="900" dirty="0"/>
          </a:p>
          <a:p>
            <a:pPr indent="0" marL="0">
              <a:spcAft>
                <a:spcPts val="600"/>
              </a:spcAft>
              <a:buNone/>
            </a:pPr>
            <a:r>
              <a:rPr lang="en-US" sz="900" b="1" dirty="0">
                <a:solidFill>
                  <a:srgbClr val="FFFFFF"/>
                </a:solidFill>
                <a:latin typeface="Arial" pitchFamily="34" charset="0"/>
                <a:ea typeface="Arial" pitchFamily="34" charset="-122"/>
                <a:cs typeface="Arial" pitchFamily="34" charset="-120"/>
              </a:rPr>
              <a:t>Providers swap behind a contract seam. </a:t>
            </a:r>
            <a:pPr indent="0" marL="0">
              <a:spcAft>
                <a:spcPts val="600"/>
              </a:spcAft>
              <a:buNone/>
            </a:pPr>
            <a:r>
              <a:rPr lang="en-US" sz="900" dirty="0">
                <a:solidFill>
                  <a:srgbClr val="FFFFFF"/>
                </a:solidFill>
                <a:latin typeface="Arial" pitchFamily="34" charset="0"/>
                <a:ea typeface="Arial" pitchFamily="34" charset="-122"/>
                <a:cs typeface="Arial" pitchFamily="34" charset="-120"/>
              </a:rPr>
              <a:t>ShAIping ↔ another spec authoring tool, Graphify ↔ AST for the code graph, ISO / cloud packs: config + data + one contract test — never a change to gate code. A finding is waived only through a live, evidence-bearing exception that the ledger records.</a:t>
            </a:r>
            <a:endParaRPr lang="en-US" sz="900" dirty="0"/>
          </a:p>
        </p:txBody>
      </p:sp>
      <p:sp>
        <p:nvSpPr>
          <p:cNvPr id="39" name="Text 37"/>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Sandbox-verified mechanisms   ·   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Appendix · Guardrails inside the steps</a:t>
            </a:r>
            <a:endParaRPr lang="en-US" sz="2400" dirty="0"/>
          </a:p>
        </p:txBody>
      </p:sp>
      <p:sp>
        <p:nvSpPr>
          <p:cNvPr id="3" name="Text 1"/>
          <p:cNvSpPr/>
          <p:nvPr/>
        </p:nvSpPr>
        <p:spPr>
          <a:xfrm>
            <a:off x="457200" y="804672"/>
            <a:ext cx="11247120" cy="365760"/>
          </a:xfrm>
          <a:prstGeom prst="rect">
            <a:avLst/>
          </a:prstGeom>
          <a:noFill/>
          <a:ln/>
        </p:spPr>
        <p:txBody>
          <a:bodyPr wrap="square" lIns="0" tIns="0" rIns="0" bIns="0" rtlCol="0" anchor="t"/>
          <a:lstStyle/>
          <a:p>
            <a:pPr indent="0" marL="0">
              <a:buNone/>
            </a:pPr>
            <a:r>
              <a:rPr lang="en-US" sz="1100" dirty="0">
                <a:solidFill>
                  <a:srgbClr val="5F6B66"/>
                </a:solidFill>
                <a:latin typeface="Arial" pitchFamily="34" charset="0"/>
                <a:ea typeface="Arial" pitchFamily="34" charset="-122"/>
                <a:cs typeface="Arial" pitchFamily="34" charset="-120"/>
              </a:rPr>
              <a:t>The scripted checks agents must pass between two human decisions. They support the loop; they do not define it. Each is (or becomes) a script with a JSON verdict, run as hook, workflow shell gate and CI check.</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1463040"/>
                <a:gridCol w="7223760"/>
                <a:gridCol w="2560320"/>
              </a:tblGrid>
              <a:tr h="274320">
                <a:tc>
                  <a:txBody>
                    <a:bodyPr/>
                    <a:lstStyle/>
                    <a:p>
                      <a:pPr indent="0" marL="0">
                        <a:buNone/>
                      </a:pPr>
                      <a:r>
                        <a:rPr lang="en-US" sz="900" b="1" dirty="0">
                          <a:solidFill>
                            <a:srgbClr val="FFFFFF"/>
                          </a:solidFill>
                          <a:latin typeface="Arial" pitchFamily="34" charset="0"/>
                          <a:ea typeface="Arial" pitchFamily="34" charset="-122"/>
                          <a:cs typeface="Arial" pitchFamily="34" charset="-120"/>
                        </a:rPr>
                        <a:t>Step</a:t>
                      </a:r>
                      <a:endParaRPr lang="en-US" sz="90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Scripted checks (native today or to build)</a:t>
                      </a:r>
                      <a:endParaRPr lang="en-US" sz="90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Feeds the decision</a:t>
                      </a:r>
                      <a:endParaRPr lang="en-US" sz="900" dirty="0">
                        <a:latin typeface="Arial" charset="0"/>
                        <a:ea typeface="Arial" charset="0"/>
                        <a:cs typeface="Arial" charset="0"/>
                      </a:endParaRPr>
                    </a:p>
                  </a:txBody>
                  <a:tcPr marL="63500" marR="63500" marT="38100" marB="38100" anchor="ctr">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0B3F2C"/>
                    </a:solidFill>
                  </a:tcPr>
                </a:tc>
              </a:tr>
              <a:tr h="502920">
                <a:tc>
                  <a:txBody>
                    <a:bodyPr/>
                    <a:lstStyle/>
                    <a:p>
                      <a:pPr indent="0" marL="0">
                        <a:buNone/>
                      </a:pPr>
                      <a:r>
                        <a:rPr lang="en-US" sz="800" b="1" dirty="0">
                          <a:solidFill>
                            <a:srgbClr val="0B3F2C"/>
                          </a:solidFill>
                          <a:latin typeface="Arial" pitchFamily="34" charset="0"/>
                          <a:ea typeface="Arial" pitchFamily="34" charset="-122"/>
                          <a:cs typeface="Arial" pitchFamily="34" charset="-120"/>
                        </a:rPr>
                        <a:t>0 · Domain master design</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domain-map version pinned by every spec / plan; stale pin blocks plan and implement  ·  no feature without a context; context change re-validates dependents  ·  structural change → ADR in the ledger</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b="1" dirty="0">
                          <a:solidFill>
                            <a:srgbClr val="3E4F48"/>
                          </a:solidFill>
                          <a:latin typeface="Arial" pitchFamily="34" charset="0"/>
                          <a:ea typeface="Arial" pitchFamily="34" charset="-122"/>
                          <a:cs typeface="Arial" pitchFamily="34" charset="-120"/>
                        </a:rPr>
                        <a:t>Domain change approved</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502920">
                <a:tc>
                  <a:txBody>
                    <a:bodyPr/>
                    <a:lstStyle/>
                    <a:p>
                      <a:pPr indent="0" marL="0">
                        <a:buNone/>
                      </a:pPr>
                      <a:r>
                        <a:rPr lang="en-US" sz="800" b="1" dirty="0">
                          <a:solidFill>
                            <a:srgbClr val="0B3F2C"/>
                          </a:solidFill>
                          <a:latin typeface="Arial" pitchFamily="34" charset="0"/>
                          <a:ea typeface="Arial" pitchFamily="34" charset="-122"/>
                          <a:cs typeface="Arial" pitchFamily="34" charset="-120"/>
                        </a:rPr>
                        <a:t>1 · Requirements</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every requirement carries a bounded context and an owner  ·  durable IDs — deprecate, never renumber  ·  traceable to its source: business, regulation, incident, finding  ·  no open clarification at baseline</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b="1" dirty="0">
                          <a:solidFill>
                            <a:srgbClr val="3E4F48"/>
                          </a:solidFill>
                          <a:latin typeface="Arial" pitchFamily="34" charset="0"/>
                          <a:ea typeface="Arial" pitchFamily="34" charset="-122"/>
                          <a:cs typeface="Arial" pitchFamily="34" charset="-120"/>
                        </a:rPr>
                        <a:t>Requirements baseline approved</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502920">
                <a:tc>
                  <a:txBody>
                    <a:bodyPr/>
                    <a:lstStyle/>
                    <a:p>
                      <a:pPr indent="0" marL="0">
                        <a:buNone/>
                      </a:pPr>
                      <a:r>
                        <a:rPr lang="en-US" sz="800" b="1" dirty="0">
                          <a:solidFill>
                            <a:srgbClr val="0B3F2C"/>
                          </a:solidFill>
                          <a:latin typeface="Arial" pitchFamily="34" charset="0"/>
                          <a:ea typeface="Arial" pitchFamily="34" charset="-122"/>
                          <a:cs typeface="Arial" pitchFamily="34" charset="-120"/>
                        </a:rPr>
                        <a:t>2 · Plan</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scope only from the approved baseline  ·  every item has a context and an owner  ·  architecture-debt items included with evidence  ·  decision recorded: who, when, evidence</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b="1" dirty="0">
                          <a:solidFill>
                            <a:srgbClr val="3E4F48"/>
                          </a:solidFill>
                          <a:latin typeface="Arial" pitchFamily="34" charset="0"/>
                          <a:ea typeface="Arial" pitchFamily="34" charset="-122"/>
                          <a:cs typeface="Arial" pitchFamily="34" charset="-120"/>
                        </a:rPr>
                        <a:t>Start the next iteration (master gate)</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566928">
                <a:tc>
                  <a:txBody>
                    <a:bodyPr/>
                    <a:lstStyle/>
                    <a:p>
                      <a:pPr indent="0" marL="0">
                        <a:buNone/>
                      </a:pPr>
                      <a:r>
                        <a:rPr lang="en-US" sz="800" b="1" dirty="0">
                          <a:solidFill>
                            <a:srgbClr val="0B3F2C"/>
                          </a:solidFill>
                          <a:latin typeface="Arial" pitchFamily="34" charset="0"/>
                          <a:ea typeface="Arial" pitchFamily="34" charset="-122"/>
                          <a:cs typeface="Arial" pitchFamily="34" charset="-120"/>
                        </a:rPr>
                        <a:t>3 · Design</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ShAIping’s scripted checks pass before the import ✓  ·  import complete: every UC / SC / AC / BR / D item with its ID (contract test to confirm)  ·  A0: domain-map version pinned; one context per feature  ·  A3: Constitution Check + Architecture Conformance table, verified by script  ·  analyze CRITICAL = 0; tasks carry IDs; fitness-test tasks present</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b="1" dirty="0">
                          <a:solidFill>
                            <a:srgbClr val="3E4F48"/>
                          </a:solidFill>
                          <a:latin typeface="Arial" pitchFamily="34" charset="0"/>
                          <a:ea typeface="Arial" pitchFamily="34" charset="-122"/>
                          <a:cs typeface="Arial" pitchFamily="34" charset="-120"/>
                        </a:rPr>
                        <a:t>Design authority sign-off</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502920">
                <a:tc>
                  <a:txBody>
                    <a:bodyPr/>
                    <a:lstStyle/>
                    <a:p>
                      <a:pPr indent="0" marL="0">
                        <a:buNone/>
                      </a:pPr>
                      <a:r>
                        <a:rPr lang="en-US" sz="800" b="1" dirty="0">
                          <a:solidFill>
                            <a:srgbClr val="0B3F2C"/>
                          </a:solidFill>
                          <a:latin typeface="Arial" pitchFamily="34" charset="0"/>
                          <a:ea typeface="Arial" pitchFamily="34" charset="-122"/>
                          <a:cs typeface="Arial" pitchFamily="34" charset="-120"/>
                        </a:rPr>
                        <a:t>4 · Implement</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native: analyze CRITICAL = 0 · every checklist in checklists/ PASS (STOP-gate)  ·  native: test tasks and fitness-test tasks executed first; halt on failure  ·  A4: fitness runner green (rulebook) — after_implement / after_converge  ·  native converge: no unbuilt work left; no phantom completions; commits carry IDs</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b="1" dirty="0">
                          <a:solidFill>
                            <a:srgbClr val="3E4F48"/>
                          </a:solidFill>
                          <a:latin typeface="Arial" pitchFamily="34" charset="0"/>
                          <a:ea typeface="Arial" pitchFamily="34" charset="-122"/>
                          <a:cs typeface="Arial" pitchFamily="34" charset="-120"/>
                        </a:rPr>
                        <a:t>PR approval</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502920">
                <a:tc>
                  <a:txBody>
                    <a:bodyPr/>
                    <a:lstStyle/>
                    <a:p>
                      <a:pPr indent="0" marL="0">
                        <a:buNone/>
                      </a:pPr>
                      <a:r>
                        <a:rPr lang="en-US" sz="800" b="1" dirty="0">
                          <a:solidFill>
                            <a:srgbClr val="0B3F2C"/>
                          </a:solidFill>
                          <a:latin typeface="Arial" pitchFamily="34" charset="0"/>
                          <a:ea typeface="Arial" pitchFamily="34" charset="-122"/>
                          <a:cs typeface="Arial" pitchFamily="34" charset="-120"/>
                        </a:rPr>
                        <a:t>5 · Test</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every test task executed; verdict is an exit code, not an opinion  ·  every Must requirement has ≥ 1 passing test; no orphan tests  ·  A5: architecture fitness re-run green; NFR tests for measurable Success Criteria  ·  red → back to implement (workflow do-while), never a manual bypass</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b="1" dirty="0">
                          <a:solidFill>
                            <a:srgbClr val="3E4F48"/>
                          </a:solidFill>
                          <a:latin typeface="Arial" pitchFamily="34" charset="0"/>
                          <a:ea typeface="Arial" pitchFamily="34" charset="-122"/>
                          <a:cs typeface="Arial" pitchFamily="34" charset="-120"/>
                        </a:rPr>
                        <a:t>Test exit → code enters CI</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502920">
                <a:tc>
                  <a:txBody>
                    <a:bodyPr/>
                    <a:lstStyle/>
                    <a:p>
                      <a:pPr indent="0" marL="0">
                        <a:buNone/>
                      </a:pPr>
                      <a:r>
                        <a:rPr lang="en-US" sz="800" b="1" dirty="0">
                          <a:solidFill>
                            <a:srgbClr val="0B3F2C"/>
                          </a:solidFill>
                          <a:latin typeface="Arial" pitchFamily="34" charset="0"/>
                          <a:ea typeface="Arial" pitchFamily="34" charset="-122"/>
                          <a:cs typeface="Arial" pitchFamily="34" charset="-120"/>
                        </a:rPr>
                        <a:t>6 · Deploy</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existing pipeline checks — unchanged by the loop  ·  tested code arrives with the fitness verdict and requirement IDs attached</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b="1" dirty="0">
                          <a:solidFill>
                            <a:srgbClr val="3E4F48"/>
                          </a:solidFill>
                          <a:latin typeface="Arial" pitchFamily="34" charset="0"/>
                          <a:ea typeface="Arial" pitchFamily="34" charset="-122"/>
                          <a:cs typeface="Arial" pitchFamily="34" charset="-120"/>
                        </a:rPr>
                        <a:t>Release approval — existing pipeline</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r h="566928">
                <a:tc>
                  <a:txBody>
                    <a:bodyPr/>
                    <a:lstStyle/>
                    <a:p>
                      <a:pPr indent="0" marL="0">
                        <a:buNone/>
                      </a:pPr>
                      <a:r>
                        <a:rPr lang="en-US" sz="800" b="1" dirty="0">
                          <a:solidFill>
                            <a:srgbClr val="0B3F2C"/>
                          </a:solidFill>
                          <a:latin typeface="Arial" pitchFamily="34" charset="0"/>
                          <a:ea typeface="Arial" pitchFamily="34" charset="-122"/>
                          <a:cs typeface="Arial" pitchFamily="34" charset="-120"/>
                        </a:rPr>
                        <a:t>7 · Operate &amp; assess</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EAF5EE"/>
                    </a:solidFill>
                  </a:tcPr>
                </a:tc>
                <a:tc>
                  <a:txBody>
                    <a:bodyPr/>
                    <a:lstStyle/>
                    <a:p>
                      <a:pPr indent="0" marL="0">
                        <a:buNone/>
                      </a:pPr>
                      <a:r>
                        <a:rPr lang="en-US" sz="800" dirty="0">
                          <a:solidFill>
                            <a:srgbClr val="1B2A24"/>
                          </a:solidFill>
                          <a:latin typeface="Arial" pitchFamily="34" charset="0"/>
                          <a:ea typeface="Arial" pitchFamily="34" charset="-122"/>
                          <a:cs typeface="Arial" pitchFamily="34" charset="-120"/>
                        </a:rPr>
                        <a:t>every finding carries rule ID + evidence + context  ·  proposals never touch a spec directly — they enter the requirements repository or Step 0  ·  waivers have owner + expiry; expired waivers reopen findings  ·  operations untouched: the Assessor reads, it does not change</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c>
                  <a:txBody>
                    <a:bodyPr/>
                    <a:lstStyle/>
                    <a:p>
                      <a:pPr indent="0" marL="0">
                        <a:buNone/>
                      </a:pPr>
                      <a:r>
                        <a:rPr lang="en-US" sz="800" b="1" dirty="0">
                          <a:solidFill>
                            <a:srgbClr val="3E4F48"/>
                          </a:solidFill>
                          <a:latin typeface="Arial" pitchFamily="34" charset="0"/>
                          <a:ea typeface="Arial" pitchFamily="34" charset="-122"/>
                          <a:cs typeface="Arial" pitchFamily="34" charset="-120"/>
                        </a:rPr>
                        <a:t>Findings accepted into Requirements / domain change</a:t>
                      </a:r>
                      <a:endParaRPr lang="en-US" sz="800" dirty="0">
                        <a:latin typeface="Arial" charset="0"/>
                        <a:ea typeface="Arial" charset="0"/>
                        <a:cs typeface="Arial" charset="0"/>
                      </a:endParaRPr>
                    </a:p>
                  </a:txBody>
                  <a:tcPr marL="63500" marR="63500" marT="50800" marB="50800" anchor="t">
                    <a:lnL w="9525" cap="flat" cmpd="sng" algn="ctr">
                      <a:solidFill>
                        <a:srgbClr val="E9ECEA"/>
                      </a:solidFill>
                      <a:prstDash val="solid"/>
                      <a:round/>
                      <a:headEnd type="none" w="med" len="med"/>
                      <a:tailEnd type="none" w="med" len="med"/>
                    </a:lnL>
                    <a:lnR w="9525" cap="flat" cmpd="sng" algn="ctr">
                      <a:solidFill>
                        <a:srgbClr val="E9ECEA"/>
                      </a:solidFill>
                      <a:prstDash val="solid"/>
                      <a:round/>
                      <a:headEnd type="none" w="med" len="med"/>
                      <a:tailEnd type="none" w="med" len="med"/>
                    </a:lnR>
                    <a:lnT w="9525" cap="flat" cmpd="sng" algn="ctr">
                      <a:solidFill>
                        <a:srgbClr val="E9ECEA"/>
                      </a:solidFill>
                      <a:prstDash val="solid"/>
                      <a:round/>
                      <a:headEnd type="none" w="med" len="med"/>
                      <a:tailEnd type="none" w="med" len="med"/>
                    </a:lnT>
                    <a:lnB w="9525" cap="flat" cmpd="sng" algn="ctr">
                      <a:solidFill>
                        <a:srgbClr val="E9ECEA"/>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11247120" cy="502920"/>
          </a:xfrm>
          <a:prstGeom prst="rect">
            <a:avLst/>
          </a:prstGeom>
          <a:noFill/>
          <a:ln/>
        </p:spPr>
        <p:txBody>
          <a:bodyPr wrap="square" lIns="0" tIns="0" rIns="0" bIns="0" rtlCol="0" anchor="t"/>
          <a:lstStyle/>
          <a:p>
            <a:pPr indent="0" marL="0">
              <a:buNone/>
            </a:pPr>
            <a:r>
              <a:rPr lang="en-US" sz="2400" b="1" dirty="0">
                <a:solidFill>
                  <a:srgbClr val="0B3F2C"/>
                </a:solidFill>
                <a:latin typeface="Arial" pitchFamily="34" charset="0"/>
                <a:ea typeface="Arial" pitchFamily="34" charset="-122"/>
                <a:cs typeface="Arial" pitchFamily="34" charset="-120"/>
              </a:rPr>
              <a:t>Appendix · Coverage at a glance</a:t>
            </a:r>
            <a:endParaRPr lang="en-US" sz="2400" dirty="0"/>
          </a:p>
        </p:txBody>
      </p:sp>
      <p:sp>
        <p:nvSpPr>
          <p:cNvPr id="3" name="Text 1"/>
          <p:cNvSpPr/>
          <p:nvPr/>
        </p:nvSpPr>
        <p:spPr>
          <a:xfrm>
            <a:off x="457200" y="804672"/>
            <a:ext cx="11247120" cy="365760"/>
          </a:xfrm>
          <a:prstGeom prst="rect">
            <a:avLst/>
          </a:prstGeom>
          <a:noFill/>
          <a:ln/>
        </p:spPr>
        <p:txBody>
          <a:bodyPr wrap="square" lIns="0" tIns="0" rIns="0" bIns="0" rtlCol="0" anchor="t"/>
          <a:lstStyle/>
          <a:p>
            <a:pPr indent="0" marL="0">
              <a:buNone/>
            </a:pPr>
            <a:r>
              <a:rPr lang="en-US" sz="1100" dirty="0">
                <a:solidFill>
                  <a:srgbClr val="5F6B66"/>
                </a:solidFill>
                <a:latin typeface="Arial" pitchFamily="34" charset="0"/>
                <a:ea typeface="Arial" pitchFamily="34" charset="-122"/>
                <a:cs typeface="Arial" pitchFamily="34" charset="-120"/>
              </a:rPr>
              <a:t>Native = Spec Kit core commands and first-party extensions. In-house = ShAIping, its Spec Kit integration, the architecture standards as skills, the Architecture Assessor. Ecosystem = community extensions / presets in the Spec Kit catalog (154 / 31 on 17 Aug 2026), advisory unless a script backs them.</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1234440"/>
                <a:gridCol w="1554480"/>
                <a:gridCol w="2240280"/>
                <a:gridCol w="1737360"/>
                <a:gridCol w="2194560"/>
                <a:gridCol w="2286000"/>
              </a:tblGrid>
              <a:tr h="274320">
                <a:tc>
                  <a:txBody>
                    <a:bodyPr/>
                    <a:lstStyle/>
                    <a:p>
                      <a:pPr indent="0" marL="0">
                        <a:buNone/>
                      </a:pPr>
                      <a:r>
                        <a:rPr lang="en-US" sz="900" b="1" dirty="0">
                          <a:solidFill>
                            <a:srgbClr val="FFFFFF"/>
                          </a:solidFill>
                          <a:latin typeface="Arial" pitchFamily="34" charset="0"/>
                          <a:ea typeface="Arial" pitchFamily="34" charset="-122"/>
                          <a:cs typeface="Arial" pitchFamily="34" charset="-120"/>
                        </a:rPr>
                        <a:t>Step</a:t>
                      </a:r>
                      <a:endParaRPr lang="en-US" sz="900" dirty="0">
                        <a:latin typeface="Arial" charset="0"/>
                        <a:ea typeface="Arial" charset="0"/>
                        <a:cs typeface="Arial" charset="0"/>
                      </a:endParaRPr>
                    </a:p>
                  </a:txBody>
                  <a:tcPr marL="63500" marR="635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3F2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Accountable</a:t>
                      </a:r>
                      <a:endParaRPr lang="en-US" sz="900" dirty="0">
                        <a:latin typeface="Arial" charset="0"/>
                        <a:ea typeface="Arial" charset="0"/>
                        <a:cs typeface="Arial" charset="0"/>
                      </a:endParaRPr>
                    </a:p>
                  </a:txBody>
                  <a:tcPr marL="63500" marR="635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3F2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Spec Kit native</a:t>
                      </a:r>
                      <a:endParaRPr lang="en-US" sz="900" dirty="0">
                        <a:latin typeface="Arial" charset="0"/>
                        <a:ea typeface="Arial" charset="0"/>
                        <a:cs typeface="Arial" charset="0"/>
                      </a:endParaRPr>
                    </a:p>
                  </a:txBody>
                  <a:tcPr marL="63500" marR="635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3F2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In-house agents</a:t>
                      </a:r>
                      <a:endParaRPr lang="en-US" sz="900" dirty="0">
                        <a:latin typeface="Arial" charset="0"/>
                        <a:ea typeface="Arial" charset="0"/>
                        <a:cs typeface="Arial" charset="0"/>
                      </a:endParaRPr>
                    </a:p>
                  </a:txBody>
                  <a:tcPr marL="63500" marR="635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3F2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Ecosystem (examples)</a:t>
                      </a:r>
                      <a:endParaRPr lang="en-US" sz="900" dirty="0">
                        <a:latin typeface="Arial" charset="0"/>
                        <a:ea typeface="Arial" charset="0"/>
                        <a:cs typeface="Arial" charset="0"/>
                      </a:endParaRPr>
                    </a:p>
                  </a:txBody>
                  <a:tcPr marL="63500" marR="635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3F2C"/>
                    </a:solidFill>
                  </a:tcPr>
                </a:tc>
                <a:tc>
                  <a:txBody>
                    <a:bodyPr/>
                    <a:lstStyle/>
                    <a:p>
                      <a:pPr indent="0" marL="0">
                        <a:buNone/>
                      </a:pPr>
                      <a:r>
                        <a:rPr lang="en-US" sz="900" b="1" dirty="0">
                          <a:solidFill>
                            <a:srgbClr val="FFFFFF"/>
                          </a:solidFill>
                          <a:latin typeface="Arial" pitchFamily="34" charset="0"/>
                          <a:ea typeface="Arial" pitchFamily="34" charset="-122"/>
                          <a:cs typeface="Arial" pitchFamily="34" charset="-120"/>
                        </a:rPr>
                        <a:t>To build</a:t>
                      </a:r>
                      <a:endParaRPr lang="en-US" sz="900" dirty="0">
                        <a:latin typeface="Arial" charset="0"/>
                        <a:ea typeface="Arial" charset="0"/>
                        <a:cs typeface="Arial" charset="0"/>
                      </a:endParaRPr>
                    </a:p>
                  </a:txBody>
                  <a:tcPr marL="63500" marR="63500" marT="38100" marB="3810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B3F2C"/>
                    </a:solidFill>
                  </a:tcPr>
                </a:tc>
              </a:tr>
              <a:tr h="548640">
                <a:tc>
                  <a:txBody>
                    <a:bodyPr/>
                    <a:lstStyle/>
                    <a:p>
                      <a:pPr indent="0" marL="0">
                        <a:buNone/>
                      </a:pPr>
                      <a:r>
                        <a:rPr lang="en-US" sz="850" b="1" dirty="0">
                          <a:solidFill>
                            <a:srgbClr val="0B3F2C"/>
                          </a:solidFill>
                          <a:latin typeface="Arial" pitchFamily="34" charset="0"/>
                          <a:ea typeface="Arial" pitchFamily="34" charset="-122"/>
                          <a:cs typeface="Arial" pitchFamily="34" charset="-120"/>
                        </a:rPr>
                        <a:t>0 · Domain master design</a:t>
                      </a:r>
                      <a:endParaRPr lang="en-US" sz="8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Lead architect · domain owners · architecture review board</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3D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constitution + memory folder as host; hooks</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EA"/>
                    </a:solidFill>
                  </a:tcPr>
                </a:tc>
                <a:tc>
                  <a:txBody>
                    <a:bodyPr/>
                    <a:lstStyle/>
                    <a:p>
                      <a:pPr indent="0" marL="0">
                        <a:buNone/>
                      </a:pPr>
                      <a:r>
                        <a:rPr lang="en-US" sz="750" dirty="0">
                          <a:solidFill>
                            <a:srgbClr val="5F6B66"/>
                          </a:solidFill>
                          <a:latin typeface="Arial" pitchFamily="34" charset="0"/>
                          <a:ea typeface="Arial" pitchFamily="34" charset="-122"/>
                          <a:cs typeface="Arial" pitchFamily="34" charset="-120"/>
                        </a:rPr>
                        <a:t>— (ShAIping does feature-level DDD inside a context)</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EA"/>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charter · memory-loader · mde preset</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FD2"/>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Artifact set + versioning · change control · glossary guard</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DEDB"/>
                    </a:solidFill>
                  </a:tcPr>
                </a:tc>
              </a:tr>
              <a:tr h="548640">
                <a:tc>
                  <a:txBody>
                    <a:bodyPr/>
                    <a:lstStyle/>
                    <a:p>
                      <a:pPr indent="0" marL="0">
                        <a:buNone/>
                      </a:pPr>
                      <a:r>
                        <a:rPr lang="en-US" sz="850" b="1" dirty="0">
                          <a:solidFill>
                            <a:srgbClr val="0B3F2C"/>
                          </a:solidFill>
                          <a:latin typeface="Arial" pitchFamily="34" charset="0"/>
                          <a:ea typeface="Arial" pitchFamily="34" charset="-122"/>
                          <a:cs typeface="Arial" pitchFamily="34" charset="-120"/>
                        </a:rPr>
                        <a:t>1 · Requirements</a:t>
                      </a:r>
                      <a:endParaRPr lang="en-US" sz="8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Business / product owner (architect co-signs contexts)</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3D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assess ext (intake → decide); constitution</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EA"/>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Architecture Assessor → findings (proposals to build)</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F2E5"/>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roadmap · keel · intake presets</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FD2"/>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Requirements repo (context, owner, IDs, change control) · Proposer</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DEDB"/>
                    </a:solidFill>
                  </a:tcPr>
                </a:tc>
              </a:tr>
              <a:tr h="548640">
                <a:tc>
                  <a:txBody>
                    <a:bodyPr/>
                    <a:lstStyle/>
                    <a:p>
                      <a:pPr indent="0" marL="0">
                        <a:buNone/>
                      </a:pPr>
                      <a:r>
                        <a:rPr lang="en-US" sz="850" b="1" dirty="0">
                          <a:solidFill>
                            <a:srgbClr val="0B3F2C"/>
                          </a:solidFill>
                          <a:latin typeface="Arial" pitchFamily="34" charset="0"/>
                          <a:ea typeface="Arial" pitchFamily="34" charset="-122"/>
                          <a:cs typeface="Arial" pitchFamily="34" charset="-120"/>
                        </a:rPr>
                        <a:t>2 · Plan</a:t>
                      </a:r>
                      <a:endParaRPr lang="en-US" sz="8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Steering / product board + lead architect</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3D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workflow inputs, gate + shell steps, resume</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EA"/>
                    </a:solidFill>
                  </a:tcPr>
                </a:tc>
                <a:tc>
                  <a:txBody>
                    <a:bodyPr/>
                    <a:lstStyle/>
                    <a:p>
                      <a:pPr indent="0" marL="0">
                        <a:buNone/>
                      </a:pPr>
                      <a:r>
                        <a:rPr lang="en-US" sz="750" dirty="0">
                          <a:solidFill>
                            <a:srgbClr val="5F6B66"/>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EA"/>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roadmap · scope · whatif</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FD2"/>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Iteration charter + decision record · cross-context dependency check</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DEDB"/>
                    </a:solidFill>
                  </a:tcPr>
                </a:tc>
              </a:tr>
              <a:tr h="548640">
                <a:tc>
                  <a:txBody>
                    <a:bodyPr/>
                    <a:lstStyle/>
                    <a:p>
                      <a:pPr indent="0" marL="0">
                        <a:buNone/>
                      </a:pPr>
                      <a:r>
                        <a:rPr lang="en-US" sz="850" b="1" dirty="0">
                          <a:solidFill>
                            <a:srgbClr val="0B3F2C"/>
                          </a:solidFill>
                          <a:latin typeface="Arial" pitchFamily="34" charset="0"/>
                          <a:ea typeface="Arial" pitchFamily="34" charset="-122"/>
                          <a:cs typeface="Arial" pitchFamily="34" charset="-120"/>
                        </a:rPr>
                        <a:t>3 · Design</a:t>
                      </a:r>
                      <a:endParaRPr lang="en-US" sz="8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Lead architect (plan) · BA (spec)</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3D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specify (import) · clarify · plan (Constitution Check) · tasks · analyze (CRITICAL)</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5EBDD"/>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ShAIping (12 checks) · ShAIping ↔ Spec Kit integration · standards as skills (binding in progress)</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F2E5"/>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adrkit · architect-preview · arch-governance · api-evolve</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FD2"/>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A3 conformance script · context loader · decision ledger · task guard</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DEDB"/>
                    </a:solidFill>
                  </a:tcPr>
                </a:tc>
              </a:tr>
              <a:tr h="548640">
                <a:tc>
                  <a:txBody>
                    <a:bodyPr/>
                    <a:lstStyle/>
                    <a:p>
                      <a:pPr indent="0" marL="0">
                        <a:buNone/>
                      </a:pPr>
                      <a:r>
                        <a:rPr lang="en-US" sz="850" b="1" dirty="0">
                          <a:solidFill>
                            <a:srgbClr val="0B3F2C"/>
                          </a:solidFill>
                          <a:latin typeface="Arial" pitchFamily="34" charset="0"/>
                          <a:ea typeface="Arial" pitchFamily="34" charset="-122"/>
                          <a:cs typeface="Arial" pitchFamily="34" charset="-120"/>
                        </a:rPr>
                        <a:t>4 · Implement</a:t>
                      </a:r>
                      <a:endParaRPr lang="en-US" sz="8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Tech lead</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3D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tasks · taskstoissues · analyze · implement (checklist STOP-gate, tests-first) ⇄ converge · git ext · hooks — all available</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5EBDD"/>
                    </a:solidFill>
                  </a:tcPr>
                </a:tc>
                <a:tc>
                  <a:txBody>
                    <a:bodyPr/>
                    <a:lstStyle/>
                    <a:p>
                      <a:pPr indent="0" marL="0">
                        <a:buNone/>
                      </a:pPr>
                      <a:r>
                        <a:rPr lang="en-US" sz="750" dirty="0">
                          <a:solidFill>
                            <a:srgbClr val="5F6B66"/>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EA"/>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verify · verify-tasks · staff-review · worktrees · architecture-guard · blueprint-index</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FD2"/>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A4 fitness runner · architecture checklist writer · code-graph provider · audit ledger</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DEDB"/>
                    </a:solidFill>
                  </a:tcPr>
                </a:tc>
              </a:tr>
              <a:tr h="548640">
                <a:tc>
                  <a:txBody>
                    <a:bodyPr/>
                    <a:lstStyle/>
                    <a:p>
                      <a:pPr indent="0" marL="0">
                        <a:buNone/>
                      </a:pPr>
                      <a:r>
                        <a:rPr lang="en-US" sz="850" b="1" dirty="0">
                          <a:solidFill>
                            <a:srgbClr val="0B3F2C"/>
                          </a:solidFill>
                          <a:latin typeface="Arial" pitchFamily="34" charset="0"/>
                          <a:ea typeface="Arial" pitchFamily="34" charset="-122"/>
                          <a:cs typeface="Arial" pitchFamily="34" charset="-120"/>
                        </a:rPr>
                        <a:t>5 · Test</a:t>
                      </a:r>
                      <a:endParaRPr lang="en-US" sz="8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QA lead + tech lead</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3D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Orchestration only: workflow shell + do-while back to implement; test tasks run first</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5EBDD"/>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AC / SC authored in ShAIping are the test source</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F2E5"/>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bdd · tdd · spectest · trace · v-model · golden-demo · qa</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FD2"/>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Evidence gate (JSON verdict) · NFR tests from Success Criteria</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DEDB"/>
                    </a:solidFill>
                  </a:tcPr>
                </a:tc>
              </a:tr>
              <a:tr h="548640">
                <a:tc>
                  <a:txBody>
                    <a:bodyPr/>
                    <a:lstStyle/>
                    <a:p>
                      <a:pPr indent="0" marL="0">
                        <a:buNone/>
                      </a:pPr>
                      <a:r>
                        <a:rPr lang="en-US" sz="850" b="1" dirty="0">
                          <a:solidFill>
                            <a:srgbClr val="0B3F2C"/>
                          </a:solidFill>
                          <a:latin typeface="Arial" pitchFamily="34" charset="0"/>
                          <a:ea typeface="Arial" pitchFamily="34" charset="-122"/>
                          <a:cs typeface="Arial" pitchFamily="34" charset="-120"/>
                        </a:rPr>
                        <a:t>6 · Deploy</a:t>
                      </a:r>
                      <a:endParaRPr lang="en-US" sz="8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Release / change manager (existing process)</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3D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None — out of scope</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5EBDD"/>
                    </a:solidFill>
                  </a:tcPr>
                </a:tc>
                <a:tc>
                  <a:txBody>
                    <a:bodyPr/>
                    <a:lstStyle/>
                    <a:p>
                      <a:pPr indent="0" marL="0">
                        <a:buNone/>
                      </a:pPr>
                      <a:r>
                        <a:rPr lang="en-US" sz="750" dirty="0">
                          <a:solidFill>
                            <a:srgbClr val="5F6B66"/>
                          </a:solidFill>
                          <a:latin typeface="Arial" pitchFamily="34" charset="0"/>
                          <a:ea typeface="Arial" pitchFamily="34" charset="-122"/>
                          <a:cs typeface="Arial" pitchFamily="34" charset="-120"/>
                        </a:rPr>
                        <a:t>—</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9ECEA"/>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 (ship · ci-guard · gates exist if ever needed)</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FD2"/>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Nothing now — the pipeline stays as it is</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DEDB"/>
                    </a:solidFill>
                  </a:tcPr>
                </a:tc>
              </a:tr>
              <a:tr h="548640">
                <a:tc>
                  <a:txBody>
                    <a:bodyPr/>
                    <a:lstStyle/>
                    <a:p>
                      <a:pPr indent="0" marL="0">
                        <a:buNone/>
                      </a:pPr>
                      <a:r>
                        <a:rPr lang="en-US" sz="850" b="1" dirty="0">
                          <a:solidFill>
                            <a:srgbClr val="0B3F2C"/>
                          </a:solidFill>
                          <a:latin typeface="Arial" pitchFamily="34" charset="0"/>
                          <a:ea typeface="Arial" pitchFamily="34" charset="-122"/>
                          <a:cs typeface="Arial" pitchFamily="34" charset="-120"/>
                        </a:rPr>
                        <a:t>7 · Operate &amp; assess</a:t>
                      </a:r>
                      <a:endParaRPr lang="en-US" sz="8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AF5EE"/>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Ops (existing) + lead architect</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CE3DF"/>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None — out of scope</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5EBDD"/>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Architecture Assessor (findings.json)</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DF2E5"/>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architecture-guard · retrospective · sync · reconcile</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BEFD2"/>
                    </a:solidFill>
                  </a:tcPr>
                </a:tc>
                <a:tc>
                  <a:txBody>
                    <a:bodyPr/>
                    <a:lstStyle/>
                    <a:p>
                      <a:pPr indent="0" marL="0">
                        <a:buNone/>
                      </a:pPr>
                      <a:r>
                        <a:rPr lang="en-US" sz="750" dirty="0">
                          <a:solidFill>
                            <a:srgbClr val="1B2A24"/>
                          </a:solidFill>
                          <a:latin typeface="Arial" pitchFamily="34" charset="0"/>
                          <a:ea typeface="Arial" pitchFamily="34" charset="-122"/>
                          <a:cs typeface="Arial" pitchFamily="34" charset="-120"/>
                        </a:rPr>
                        <a:t>Proposer · re-entry workflow · waiver ledger · KPIs</a:t>
                      </a:r>
                      <a:endParaRPr lang="en-US" sz="750" dirty="0">
                        <a:latin typeface="Arial" charset="0"/>
                        <a:ea typeface="Arial" charset="0"/>
                        <a:cs typeface="Arial" charset="0"/>
                      </a:endParaRPr>
                    </a:p>
                  </a:txBody>
                  <a:tcPr marL="63500" marR="63500" marT="38100" marB="38100" anchor="t">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8DEDB"/>
                    </a:solidFill>
                  </a:tcPr>
                </a:tc>
              </a:tr>
            </a:tbl>
          </a:graphicData>
        </a:graphic>
      </p:graphicFrame>
      <p:sp>
        <p:nvSpPr>
          <p:cNvPr id="5" name="Text 2"/>
          <p:cNvSpPr/>
          <p:nvPr/>
        </p:nvSpPr>
        <p:spPr>
          <a:xfrm>
            <a:off x="457200" y="6172200"/>
            <a:ext cx="11247120" cy="228600"/>
          </a:xfrm>
          <a:prstGeom prst="rect">
            <a:avLst/>
          </a:prstGeom>
          <a:noFill/>
          <a:ln/>
        </p:spPr>
        <p:txBody>
          <a:bodyPr wrap="square" lIns="0" tIns="0" rIns="0" bIns="0" rtlCol="0" anchor="t"/>
          <a:lstStyle/>
          <a:p>
            <a:pPr indent="0" marL="0">
              <a:buNone/>
            </a:pPr>
            <a:r>
              <a:rPr lang="en-US" sz="750" dirty="0">
                <a:solidFill>
                  <a:srgbClr val="5F6B66"/>
                </a:solidFill>
                <a:latin typeface="Arial" pitchFamily="34" charset="0"/>
                <a:ea typeface="Arial" pitchFamily="34" charset="-122"/>
                <a:cs typeface="Arial" pitchFamily="34" charset="-120"/>
              </a:rPr>
              <a:t>Ecosystem entries are named exactly as they appear in the Spec Kit community catalogs; each still needs a corporate fit check before it counts as a guardrail.</a:t>
            </a:r>
            <a:endParaRPr lang="en-US" sz="750" dirty="0"/>
          </a:p>
        </p:txBody>
      </p:sp>
      <p:sp>
        <p:nvSpPr>
          <p:cNvPr id="6" name="Text 3"/>
          <p:cNvSpPr/>
          <p:nvPr/>
        </p:nvSpPr>
        <p:spPr>
          <a:xfrm>
            <a:off x="457200" y="6537960"/>
            <a:ext cx="11247120" cy="201168"/>
          </a:xfrm>
          <a:prstGeom prst="rect">
            <a:avLst/>
          </a:prstGeom>
          <a:noFill/>
          <a:ln/>
        </p:spPr>
        <p:txBody>
          <a:bodyPr wrap="square" lIns="0" tIns="0" rIns="0" bIns="0" rtlCol="0" anchor="ctr"/>
          <a:lstStyle/>
          <a:p>
            <a:pPr indent="0" marL="0">
              <a:buNone/>
            </a:pPr>
            <a:r>
              <a:rPr lang="en-US" sz="700" dirty="0">
                <a:solidFill>
                  <a:srgbClr val="5F6B66"/>
                </a:solidFill>
                <a:latin typeface="Arial" pitchFamily="34" charset="0"/>
                <a:ea typeface="Arial" pitchFamily="34" charset="-122"/>
                <a:cs typeface="Arial" pitchFamily="34" charset="-120"/>
              </a:rPr>
              <a:t>Spec Kit facts verified against github/spec-kit main @ e4895d1 (17 Aug 2026) · in-house status (ShAIping, its Spec Kit integration, standards as skills, Assessor) as stated by UltraSDLC · "to build" = proposal · 6–7 = existing CI/CD &amp; ops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big loop on Spec Kit — architecture guardrails injected into Spec Kit</dc:title>
  <dc:subject>PptxGenJS Presentation</dc:subject>
  <dc:creator>Roman / UltraSDLC</dc:creator>
  <cp:lastModifiedBy>Roman / UltraSDLC</cp:lastModifiedBy>
  <cp:revision>1</cp:revision>
  <dcterms:created xsi:type="dcterms:W3CDTF">2026-08-18T18:41:10Z</dcterms:created>
  <dcterms:modified xsi:type="dcterms:W3CDTF">2026-08-18T18:41:10Z</dcterms:modified>
</cp:coreProperties>
</file>