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A-gates – what is a gate. Anatomy: policy → maker → checker → control. Maker · checker pairing in the band. Composition tree for the two gates on the Spec Kit spine: A3 plan conformance (context loader · check-plan · task guard · design authority sign-off) and A4 fitness functions (checklist STOP-gate · edit guard · fitness runner · PR approval / test exit); teal leaves = the corporate architecture standards as skills (ARCH-### rules) read by the guardrails; other leaves = scripts with a JSON verdict, hooks, presets, MCPs, CI required checks, workflow gate steps, Spec Kit native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A0–A7 for management, ordered by the roadmap rather than by loop step: A7 Architecture Assessor available today; A3 plan conformance and A4 fitness functions in progress and closest (waves 1–2); then A0 (wave 2), A1 (wave 3), A5/A6/A2 (wave 4). Wave tags follow slide 9. Deciders in deck vocabulary: lead architect, design authority (tech lead), delivery team, QA lead, steering / product board, business / product owner, architecture review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Design in detail — v4 slide 9 content on steps 3.1–3.5. Guardrails band removed (the scripted checks are listed in the A3 blocks). A3 wording aligned: A3 = plan conformance, reads the architecture standards as skills (ARCH-### rules) through the context loader, verified by the check-plan script; to wire: context loader, preset wrap, check-plan, task guard, decision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Implement in detail — v4 slide 10 content on steps 4.1–4.6. Guardrails band removed. Bottom blocks reviewed: A4 is in progress (edit guard + fitness runner exist on the rulebook), what is still to build is the code-graph provider (Graphify) for graph-level rules, the agent audit ledger + permission policy, the compliance report renderer + Jira push, and the A5 test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Spec Kit as the spine — three panels: reuse the proven standard, how we attach without forking (preset · extension · workflow · bundle, sandbox-verified), why it can change (policy and checkers have no Spec Kit dependency; control points exist in any SDD host; providers behind the contract seam; exit cost = re-binding).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spine in one picture, regrouped: WHAT WE BUILD (our four packages — corp-ba-hierarchy preset, arch-guard extension, corp-sdlc-loop workflow, corp-ba-sdlc bundle) plug into SPEC KIT OFFERS (the entry points: template composition append / wrap, 20 lifecycle hooks, workflow step types, catalogs + bundles) on top of the command chain; WHAT WE OWN (rulebook, domain master design, decision ledger, ShAIping, Graphify) underneath with no Spec Kit dependency; the dashed ghost spine shows the same plugs fitting any SDD process with the same seams. Package names from the verified sandbox spike (17 Aug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missing agentic suite in four waves (v4 slide 15 items, sequenced by dependency and leverage). A-gate strip per column = status after the wave; item → gate mapping derived from the v4 roadmap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guardrail is — definition, anatomy (policy + artefact → guardrail → verdict → three control points) and the composition: Spec Kit native out of the box + our components inside the gates = company-specific guardrails. Follow-ups: red verdict → bounded loop, never a manual bypass; waiver only via the ledger; rulebook owned by the lead architect, enforcement by the standards repository; hooks are convenience, workflow gate + CI check are the guarantee; tests prove the feature, guardrails prove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– what is a gate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A-gate is not a review slot. It is an agentic suite — agents, skills, MCPs, scripts, hooks and workflow steps assembled for one goal on one loop step — that turns the architecture rulebook into a scripted verdict, enforced at control points and signed by a named human at the boundary.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078992"/>
            <a:ext cx="11439144" cy="2029968"/>
          </a:xfrm>
          <a:prstGeom prst="roundRect">
            <a:avLst>
              <a:gd name="adj" fmla="val 3604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124712"/>
            <a:ext cx="11219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Anatomy of an A-gate — </a:t>
            </a:r>
            <a:pPr indent="0" marL="0"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agentic suite per loop step: policy elements feed both the maker and the checker; control elements make the verdict binding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353312"/>
            <a:ext cx="26060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07208" y="1417320"/>
            <a:ext cx="219456" cy="219456"/>
          </a:xfrm>
          <a:prstGeom prst="ellipse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07208" y="1417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14081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— what the suite obeys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166420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rulebook: the corporate standards as skills → ARCH-### rules with severity, scope and a check binding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design: bounded contexts, context map, glossary, owners — every spec and plan pins domain-map@version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Constitution: the rulebook is NON-NEGOTIABLE; features live in one bounded context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ledger: ADRs; waivers only with owner, evidence and expiry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18104" y="2185416"/>
            <a:ext cx="29260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35224" y="19110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same rules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410712" y="1353312"/>
            <a:ext cx="26060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05856" y="1417320"/>
            <a:ext cx="219456" cy="219456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05856" y="1417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14081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— agents that produce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166420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commands on the coding agent: specify (import) · plan · tasks · implement ⇄ converge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agents: ShAIping (authoring), Proposer (findings → [PROPOSED])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Presets shape what plan / tasks must contain; the context loader puts rulebook, domain map and ADRs in front of the agent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 via MCP: Bitbucket · Jira (Speckit2Jira) · Graphify (code graph)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16752" y="2185416"/>
            <a:ext cx="29260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833872" y="19110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artefact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309360" y="1353312"/>
            <a:ext cx="26060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04504" y="1417320"/>
            <a:ext cx="219456" cy="219456"/>
          </a:xfrm>
          <a:prstGeom prst="ellipse">
            <a:avLst/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04504" y="1417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4081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B4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 — the guardrails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166420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 command + deterministic script → JSON verdict (satisfied · waiver · violations · rules_skipped)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ShAIping's 12 checks · handover validator · A3 check-plan + task guard · A4 edit guard + fitness runner · A5 evidence gate · A7 Assessor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verdict is an exit code, not an opinion; a waiver counts only from the ledger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915400" y="2185416"/>
            <a:ext cx="29260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732520" y="19110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verdict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208008" y="1353312"/>
            <a:ext cx="26060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503152" y="1417320"/>
            <a:ext cx="219456" cy="219456"/>
          </a:xfrm>
          <a:prstGeom prst="ellipse">
            <a:avLst/>
          </a:prstGeom>
          <a:solidFill>
            <a:srgbClr val="B36B00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03152" y="1417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299448" y="14081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CONTROL — where it binds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99448" y="166420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 — agent-dispatched, convenient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shell gate — orchestration, hard (do-while, max N)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required status check — the property line (A6), pipeline unchanged</a:t>
            </a:r>
            <a:endParaRPr lang="en-US" sz="8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gate at the boundary — named role, evidence in front of them, decision recorded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2336" y="3200400"/>
            <a:ext cx="11439144" cy="420624"/>
          </a:xfrm>
          <a:prstGeom prst="roundRect">
            <a:avLst>
              <a:gd name="adj" fmla="val 13043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3200400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· CHECKER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agent produces the artefact under the policy; a deterministic script verifies it against the same policy; the verdict binds at up to three control points and is put in front of a named human at the boundary — inside the iteration no human waits, between iterations no agent decides.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2336" y="3712464"/>
            <a:ext cx="11439144" cy="186537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12064" y="375818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gate, many guardrails — </a:t>
            </a:r>
            <a:pPr indent="0" marL="0"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two gates on the Spec Kit spine, each built from guardrails that read the architecture standards (skills) and the tools that already exist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15084" y="3986784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815084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8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A-gate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plan conformance — step 3 · Design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78124" y="4242816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2144" y="4370832"/>
            <a:ext cx="21259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214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1206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206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 loader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before_plan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5214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206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skill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standards as skills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1206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206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 · </a:t>
            </a:r>
            <a:pPr algn="ctr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before_plan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569464" y="4370832"/>
            <a:ext cx="70866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946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92938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92938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check-plan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after_plan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56946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938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92938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skill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ARCH-### rules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92938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9525">
            <a:solidFill>
              <a:srgbClr val="00915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92938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script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conformance verdict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278124" y="4370832"/>
            <a:ext cx="70866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8678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34670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34670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task guard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after_tasks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98678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4670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0915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34670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· </a:t>
            </a:r>
            <a:pPr algn="ctr" indent="0" marL="0">
              <a:buNone/>
            </a:pPr>
            <a:r>
              <a:rPr lang="en-US" sz="7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Carries: IDs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34670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9525">
            <a:solidFill>
              <a:srgbClr val="00915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34670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script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JSON verdict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278124" y="4370832"/>
            <a:ext cx="21259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0410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76402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76402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design authority sign-off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0410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402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F2B84B"/>
          </a:solidFill>
          <a:ln w="9525">
            <a:solidFill>
              <a:srgbClr val="B36B0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76402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· </a:t>
            </a:r>
            <a:pPr algn="ctr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gate step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76402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76402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 · Speckit2Jira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575804" y="3986784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575804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8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A-gate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 functions — step 4 · Implement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038844" y="4242816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12864" y="4370832"/>
            <a:ext cx="21259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1286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627278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27278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checklist STOP-gate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start of implement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91286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7278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E6B45"/>
          </a:solidFill>
          <a:ln w="9525">
            <a:solidFill>
              <a:srgbClr val="0E6B4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27278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/speckit.implement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27278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27278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skill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checklists/architecture.md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330184" y="4370832"/>
            <a:ext cx="70866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3018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769010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69010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edit guard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PostToolUse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33018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9010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69010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skill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ARCH-### rules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69010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69010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 · </a:t>
            </a:r>
            <a:pPr algn="ctr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PostToolUse · exit 2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038844" y="4370832"/>
            <a:ext cx="70866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4750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910742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910742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fitness runner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after_implement / converge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74750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0742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10742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skill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standards as skills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910742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10742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verdict · required check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9038844" y="4370832"/>
            <a:ext cx="21259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164824" y="4370832"/>
            <a:ext cx="0" cy="12801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10524744" y="449884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0524744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PR approval · test exit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QA lead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1164824" y="4864608"/>
            <a:ext cx="0" cy="493776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524744" y="497433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F2B84B"/>
          </a:solidFill>
          <a:ln w="9525">
            <a:solidFill>
              <a:srgbClr val="B36B0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0524744" y="49743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· </a:t>
            </a:r>
            <a:pPr algn="ctr" indent="0" marL="0">
              <a:buNone/>
            </a:pPr>
            <a:r>
              <a:rPr lang="en-US" sz="7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gate step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10524744" y="524865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0B5C3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0524744" y="52486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 · 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 PR · Jira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6126480" y="3986784"/>
            <a:ext cx="0" cy="1499616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15" name="Text 113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·   teal = architecture standards (skills) inside the guardrail   ·   one guardrail can serve several gates</a:t>
            </a:r>
            <a:endParaRPr lang="en-US" sz="750" dirty="0"/>
          </a:p>
        </p:txBody>
      </p:sp>
      <p:sp>
        <p:nvSpPr>
          <p:cNvPr id="116" name="Text 114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– A7 · what each gate is for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architecture checkpoint per step of the loop, in roadmap order: what we have today (A7), what is closest (A3 · A4, in progress), then the gates to build wave by wave. Scripts check inside the step, people sign at the boundary.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0" y="146304"/>
            <a:ext cx="868680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0" y="1463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076688" y="146304"/>
            <a:ext cx="86868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76688" y="1463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1009376" y="146304"/>
            <a:ext cx="832104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09376" y="14630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 named person decides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" y="109728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1188720"/>
            <a:ext cx="347472" cy="347472"/>
          </a:xfrm>
          <a:prstGeom prst="diamond">
            <a:avLst/>
          </a:prstGeom>
          <a:solidFill>
            <a:srgbClr val="1E9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9424" y="125272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49424" y="1252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 today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" y="15910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running system is measured against the same rules — findings become proposals.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" y="199339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delivered system, the rulebook and the domain map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findings with evidence, turned into [PROPOSED] requirement or domain changes that people accept or reject at the next turn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 with the business owner of the context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45536" y="2084832"/>
            <a:ext cx="155448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00984" y="109728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92424" y="1188720"/>
            <a:ext cx="347472" cy="347472"/>
          </a:xfrm>
          <a:prstGeom prst="diamond">
            <a:avLst/>
          </a:prstGeom>
          <a:solidFill>
            <a:srgbClr val="D28E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92424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813048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48072" y="125272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48072" y="1252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1 · next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3392424" y="15910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plan follows the architecture standards before any code exists.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392424" y="199339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specification signed by the business analyst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plan with a conformance verdict, decisions recorded as ADRs, tasks traceable to requirements; exceptions only as recorded waivers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(tech lead) signs the plan on the evidence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44184" y="2084832"/>
            <a:ext cx="155448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99632" y="109728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1188720"/>
            <a:ext cx="347472" cy="347472"/>
          </a:xfrm>
          <a:prstGeom prst="diamond">
            <a:avLst/>
          </a:prstGeom>
          <a:solidFill>
            <a:srgbClr val="D28E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91072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711696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125272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1252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2 · next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15910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the boundaries the rules forbid.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291072" y="199339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approved plan and its tasks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built test-first, checked at every edit, with a fitness verdict green or waived; every commit traceable to a task and a requirement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nobody waits — automatic; the delivery team only if the checklist stops the run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942832" y="2084832"/>
            <a:ext cx="155448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098280" y="109728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89720" y="1188720"/>
            <a:ext cx="347472" cy="347472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8972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610344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945368" y="125272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945368" y="1252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2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9189720" y="15910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Everyone builds inside one agreed map of the business domains.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199339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business capability map, owners, the architecture rulebook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versioned domain map every requirement, specification and plan refers to; a domain change is a controlled change with a known impact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 with the domain owner; the architecture review board for structural changes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2336" y="320040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3776" y="3291840"/>
            <a:ext cx="347472" cy="347472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93776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914400" y="3291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249424" y="335584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249424" y="3355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3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493776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requirement without a home and an owner.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93776" y="409651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needs, regulation, feedback and findings from the running system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requirements assigned to a bounded context and an owner, with durable IDs; the Assessor's proposals accepted or rejected — never applied silently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/ product owner; the lead architect co-signs the context assignment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145536" y="4187952"/>
            <a:ext cx="155448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300984" y="320040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392424" y="3291840"/>
            <a:ext cx="347472" cy="347472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392424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3813048" y="3291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148072" y="335584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48072" y="3355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4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3392424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Proof, not opinion, at test exit.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3392424" y="409651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built code and its tests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deterministic test verdict with a requirement → test matrix; the architecture fitness re-run attached to the pull request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QA lead with the tech lead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44184" y="4187952"/>
            <a:ext cx="155448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199632" y="320040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291072" y="3291840"/>
            <a:ext cx="347472" cy="347472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91072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711696" y="3291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46720" y="335584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046720" y="3355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4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6291072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Nothing enters the pipeline without the same checks green.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6291072" y="409651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pull request with its evidence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required checks passed on the pull request — the same scripts as inside the loop; the delivery pipeline itself is unchanged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approves the pull request; release approval as today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942832" y="4187952"/>
            <a:ext cx="155448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9098280" y="3200400"/>
            <a:ext cx="274320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189720" y="3291840"/>
            <a:ext cx="347472" cy="347472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18972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9610344" y="3291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945368" y="3355848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945368" y="3355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4</a:t>
            </a:r>
            <a:endParaRPr lang="en-US" sz="700" dirty="0"/>
          </a:p>
        </p:txBody>
      </p:sp>
      <p:sp>
        <p:nvSpPr>
          <p:cNvPr id="79" name="Text 77"/>
          <p:cNvSpPr txBox="1"/>
          <p:nvPr/>
        </p:nvSpPr>
        <p:spPr>
          <a:xfrm>
            <a:off x="9189720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Start an iteration knowing its architecture debt and dependencies.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9189720" y="4096512"/>
            <a:ext cx="2560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approved requirements, capacity, debt items found in operations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iteration charter: scope by bounded context, owners, debt items with evidence, exit criteria — the master gate that starts the next turn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steering / product board with the lead architect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02336" y="5285232"/>
            <a:ext cx="11439144" cy="310896"/>
          </a:xfrm>
          <a:prstGeom prst="roundRect">
            <a:avLst>
              <a:gd name="adj" fmla="val 17647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30352" y="5285232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one-line answer: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is checked by scripts at every step and signed by named people at the boundaries — nothing built inside the loop can drift from the rules without a recorded, expiring exception.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order = the roadmap (slide 9): A7 available · A3, A4 in progress · then waves 2–4 · diamond colour = status · A-gate number = loop step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a business specification to a signed plan — checked by scripts, signed by people.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10424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we are in the loop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93776" y="1263015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225296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3776" y="1448181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410462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3776" y="1633347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1595628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" y="1789938"/>
            <a:ext cx="1737360" cy="166878"/>
          </a:xfrm>
          <a:prstGeom prst="roundRect">
            <a:avLst>
              <a:gd name="adj" fmla="val 2739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818513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1780794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" y="2003679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" y="1965960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" y="2188845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" y="2151126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2374011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" y="2336292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" y="2559177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" y="2521458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39696" y="1873377"/>
            <a:ext cx="192024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31720" y="1225296"/>
            <a:ext cx="174101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23160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23160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1517904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specification creation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1920240"/>
            <a:ext cx="1558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authors in ShAIping. Twelve scripted checks loop until green. Released as version N, hashed, stored in the specification repository.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72738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73906" y="1225296"/>
            <a:ext cx="174101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65346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65346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365346" y="1517904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ShAIping → Spec Kit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365346" y="1920240"/>
            <a:ext cx="1558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Export → spec.md + handover record, contract test, then the validator. Red goes back to ShAIping — spec.md is never hand-edited.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14923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16091" y="1225296"/>
            <a:ext cx="174101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7531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7531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307531" y="1517904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plan creation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307531" y="1920240"/>
            <a:ext cx="1558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domain check before planning, A3 standards conformance after — both scripted, no owner in the loop. Plan (epic), tasks + analyze land on the feature branch.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73061" y="1069848"/>
            <a:ext cx="310896" cy="310896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73061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07301" y="1069848"/>
            <a:ext cx="310896" cy="310896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07301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957109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158277" y="1225296"/>
            <a:ext cx="174101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49717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49717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249717" y="1517904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249717" y="1920240"/>
            <a:ext cx="1558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moves to ‘Design review’ in Jira with the evidence links. The tech lead, as design authority, decides — the workflow gate waits.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899294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100462" y="1225296"/>
            <a:ext cx="174101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191902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191902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10191902" y="1517904"/>
            <a:ext cx="1558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</a:t>
            </a:r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Jira integration via MCP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10191902" y="1920240"/>
            <a:ext cx="1558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via MCP: phases → Stories under the Epic, join file jira-mapping.json. One-way, evidence-only. Approved plan = signed plan + ADRs on the branch, spec hash unchanged, Epic ‘Design approved’ — the resume point for step 4.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045306" y="1837944"/>
            <a:ext cx="256032" cy="256032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350362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releases version 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987491" y="1837944"/>
            <a:ext cx="256032" cy="256032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292547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6263640" y="2907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authority: waiver → ADR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871862" y="1837944"/>
            <a:ext cx="256032" cy="256032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176918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lead: design sign-off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10148011" y="2907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management informed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144414" y="1005840"/>
            <a:ext cx="0" cy="219456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3202229" y="1005840"/>
            <a:ext cx="1942186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3202229" y="1005840"/>
            <a:ext cx="0" cy="219456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2653589" y="822960"/>
            <a:ext cx="30394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02336" y="3163824"/>
            <a:ext cx="11439144" cy="53401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3163824"/>
            <a:ext cx="82296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02336" y="3697834"/>
            <a:ext cx="11439144" cy="5340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3697834"/>
            <a:ext cx="82296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02336" y="4231843"/>
            <a:ext cx="11439144" cy="400507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7200" y="4231843"/>
            <a:ext cx="82296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02336" y="4632350"/>
            <a:ext cx="11439144" cy="4005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57200" y="4632350"/>
            <a:ext cx="82296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02336" y="5032858"/>
            <a:ext cx="11439144" cy="133502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5032858"/>
            <a:ext cx="8229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955341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97526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39712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81898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724083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261872" y="3163824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142793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142793" y="317113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084978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084978" y="317113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027164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69350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911535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261872" y="3297326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142793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084978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084978" y="330464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7027164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027164" y="330464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969350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911535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911535" y="330464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1261872" y="3430829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142793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84978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27164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69350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911535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261872" y="3564331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QA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142793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084978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27164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969350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969350" y="357164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10911535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261872" y="3697834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3142793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142793" y="370514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5084978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084978" y="370514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7027164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027164" y="370514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8969350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911535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261872" y="3831336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3142793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84978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084978" y="383865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7027164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7027164" y="383865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8969350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911535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1261872" y="3964838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3142793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084978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027164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969350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969350" y="397215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911535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0911535" y="397215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38" name="Text 136"/>
          <p:cNvSpPr txBox="1"/>
          <p:nvPr/>
        </p:nvSpPr>
        <p:spPr>
          <a:xfrm>
            <a:off x="1261872" y="4098341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3142793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84978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027164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969350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911535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1261872" y="4231843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3142793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3142793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5084978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084978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7027164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7027164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969350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911535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0911535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54" name="Text 152"/>
          <p:cNvSpPr txBox="1"/>
          <p:nvPr/>
        </p:nvSpPr>
        <p:spPr>
          <a:xfrm>
            <a:off x="1261872" y="4365346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3142793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084978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027164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969350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8969350" y="437266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10911535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0911535" y="437266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62" name="Text 160"/>
          <p:cNvSpPr txBox="1"/>
          <p:nvPr/>
        </p:nvSpPr>
        <p:spPr>
          <a:xfrm>
            <a:off x="1261872" y="4498848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3142793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084978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027164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969350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911535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261872" y="4632350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3142793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3142793" y="463966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5084978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27164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969350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911535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1261872" y="4765853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3142793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084978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5084978" y="477316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7027164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969350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8969350" y="477316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10911535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10911535" y="477316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84" name="Text 182"/>
          <p:cNvSpPr txBox="1"/>
          <p:nvPr/>
        </p:nvSpPr>
        <p:spPr>
          <a:xfrm>
            <a:off x="1261872" y="4899355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3142793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084978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027164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7027164" y="490667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8969350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911535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1261872" y="5032858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850" dirty="0"/>
          </a:p>
        </p:txBody>
      </p:sp>
      <p:sp>
        <p:nvSpPr>
          <p:cNvPr id="192" name="Text 190"/>
          <p:cNvSpPr txBox="1"/>
          <p:nvPr/>
        </p:nvSpPr>
        <p:spPr>
          <a:xfrm>
            <a:off x="2927909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000" dirty="0"/>
          </a:p>
        </p:txBody>
      </p:sp>
      <p:sp>
        <p:nvSpPr>
          <p:cNvPr id="193" name="Text 191"/>
          <p:cNvSpPr txBox="1"/>
          <p:nvPr/>
        </p:nvSpPr>
        <p:spPr>
          <a:xfrm>
            <a:off x="4870094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000" dirty="0"/>
          </a:p>
        </p:txBody>
      </p:sp>
      <p:sp>
        <p:nvSpPr>
          <p:cNvPr id="194" name="Text 192"/>
          <p:cNvSpPr txBox="1"/>
          <p:nvPr/>
        </p:nvSpPr>
        <p:spPr>
          <a:xfrm>
            <a:off x="6812280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000" dirty="0"/>
          </a:p>
        </p:txBody>
      </p:sp>
      <p:sp>
        <p:nvSpPr>
          <p:cNvPr id="195" name="Text 193"/>
          <p:cNvSpPr txBox="1"/>
          <p:nvPr/>
        </p:nvSpPr>
        <p:spPr>
          <a:xfrm>
            <a:off x="8754466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000" dirty="0"/>
          </a:p>
        </p:txBody>
      </p:sp>
      <p:sp>
        <p:nvSpPr>
          <p:cNvPr id="196" name="Text 194"/>
          <p:cNvSpPr txBox="1"/>
          <p:nvPr/>
        </p:nvSpPr>
        <p:spPr>
          <a:xfrm>
            <a:off x="10696651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000" dirty="0"/>
          </a:p>
        </p:txBody>
      </p:sp>
      <p:sp>
        <p:nvSpPr>
          <p:cNvPr id="197" name="Shape 195"/>
          <p:cNvSpPr/>
          <p:nvPr/>
        </p:nvSpPr>
        <p:spPr>
          <a:xfrm>
            <a:off x="402336" y="5266944"/>
            <a:ext cx="11439144" cy="292608"/>
          </a:xfrm>
          <a:prstGeom prst="roundRect">
            <a:avLst>
              <a:gd name="adj" fmla="val 18750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512064" y="526694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A0 · A3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 — scripted, same script in hook · workflow · CI     </a:t>
            </a:r>
            <a:pPr indent="0" marL="0"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000" dirty="0"/>
          </a:p>
        </p:txBody>
      </p:sp>
      <p:sp>
        <p:nvSpPr>
          <p:cNvPr id="199" name="Text 197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to build · A3 in progress · Speckit2Jira to confirm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Kit’s core step — and where most is already done: ShAIping authors, the built ShAIping </a:t>
            </a:r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 imports, the architecture standards (skills) feed the plan; A3 makes conformance a scripted verdict and the design authority signs.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973568" y="146304"/>
            <a:ext cx="1097280" cy="182880"/>
          </a:xfrm>
          <a:prstGeom prst="roundRect">
            <a:avLst>
              <a:gd name="adj" fmla="val 55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73568" y="146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0" y="146304"/>
            <a:ext cx="1298448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1463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515600" y="146304"/>
            <a:ext cx="132588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1463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973568" y="384048"/>
            <a:ext cx="1234440" cy="182880"/>
          </a:xfrm>
          <a:prstGeom prst="roundRect">
            <a:avLst>
              <a:gd name="adj" fmla="val 5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73568" y="3840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281160" y="384048"/>
            <a:ext cx="12801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02336" y="1280160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" y="1325880"/>
            <a:ext cx="16422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specification creation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1700784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— EventStorming inside a context · D ← BR ← AC ← SC ← UC · 12 scripted checks ✓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29230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30398" y="1280160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03550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03550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160166" y="1325880"/>
            <a:ext cx="16422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ShAIping → Spec Kit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803550" y="1700784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 ✓ imports the spec (hardening: contract test) · /speckit.specify in import mode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57293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58461" y="1280160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31613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31613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488229" y="1325880"/>
            <a:ext cx="10021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plan creation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31613" y="1700784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before_plan: A0 domain check + context loader (standards skills) · /speckit.plan (wrapped) · after_plan: A3 conformance script + ADR draft · analyze (constitution = CRITICAL) · /speckit.tasks (wrapped) + after_tasks task guard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92747" y="1152144"/>
            <a:ext cx="256032" cy="25603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92747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600139" y="1152144"/>
            <a:ext cx="256032" cy="25603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00139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85355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6523" y="1280160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59675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59675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816291" y="1325880"/>
            <a:ext cx="16422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459675" y="1700784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 on evidence: plan.md with Constitution Check + Architecture Conformance table, analyze report, ADRs · Epic → ‘Design review’ in Jira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513418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714586" y="1280160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787738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87738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0144354" y="1325880"/>
            <a:ext cx="16422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</a:t>
            </a:r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Jira integration via MCP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787738" y="1700784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via MCP: phases → Stories under the Epic · one-way, evidence-only · Epic ‘Design approved’ = the resume point for step 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10942" y="1664208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806854" y="2322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releases version 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39005" y="1664208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34917" y="2322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298948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authority: waiver → ADR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495130" y="1664208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91042" y="2322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lead: design sign-off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955073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management informed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793846" y="1060704"/>
            <a:ext cx="0" cy="219456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465783" y="1060704"/>
            <a:ext cx="2328062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465783" y="1060704"/>
            <a:ext cx="0" cy="219456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917143" y="886968"/>
            <a:ext cx="342534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402336" y="27980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Agents &amp; tools on this step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02336" y="3035808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493776" y="309981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— specification authoring · ShAIping </a:t>
            </a:r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31089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542032" y="31089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493776" y="3502152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DDD / EventStorming inside a bounded context; golden rule D ← BR ← AC ← SC ← UC; 12 deterministic authoring checks (FAIL blocks, WARN advises); the integration into Spec Kit is built — ShAIping stays the golden source, spec.md is what gets planned. Hardening to confirm: contract test, handover record, hash check.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133088" y="3035808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4224528" y="309981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standards as skills → the rulebook A3 reads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72784" y="31089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272784" y="31089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4224528" y="3502152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corporate architecture standards exist as a skills repository (available). A3 · plan conformance reads them as ARCH-### rules with severity, scope and a check binding: loaded by the context loader before plan, referenced by the plan / tasks presets, verified by the check-plan script after plan. The binding is in progress.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02336" y="42976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493776" y="43616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/speckit.plan · /speckit.tasks · /speckit.analyze — the native levers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542032" y="43708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542032" y="4370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493776" y="4764024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plan.md carries a Constitution Check ("GATE: must pass before Phase 0 research, re-check after Phase 1 design", gates determined from the constitution); analyze marks constitution conflicts and missing mandated sections CRITICAL; tasks.md by user story with [P] markers — all three read the constitution, so rules placed there are seen natively.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133088" y="42976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4224528" y="43616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plan conformance — the guardrails still to wire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272784" y="43708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272784" y="4370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4224528" y="4764024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 loader (before_plan); preset wrap that puts the Architecture Conformance table into plan.md; check-plan script (after_plan) → JSON verdict + checklists/architecture.md; decision ledger for ADRs and waivers; task guard (after_tasks) for Carries: IDs and mandated fitness-test tasks. Patterns: adrkit, architect-preview, arch-governance.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02336" y="548640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Tools: Bitbucket (specification + code repositories) · Jira via MCP (Epic, Stories, gate notification) · CIB skill repo (specification · integration · architecture skills)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7909560" y="2798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909560" y="3035808"/>
            <a:ext cx="3931920" cy="676656"/>
          </a:xfrm>
          <a:prstGeom prst="roundRect">
            <a:avLst>
              <a:gd name="adj" fmla="val 8108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019288" y="307238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8019288" y="321868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8019288" y="343814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tech lead, as design authority, signs the plan; the business analyst signs the specification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7909560" y="376732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BA releases version N of the specification (after the 12 checks)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BA gate — hierarchy approved after the handover validator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 design authority — only if a waiver is raised → ADR in the ledger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tech lead — design sign-off on evidence → signed plan + ADRs, Epic ‘Design approved’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 management informed through the Jira projection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909560" y="4572000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90956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plan conformance — in progress: standards as skills available, scripted verdict to wire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909560" y="4809744"/>
            <a:ext cx="393192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909560" y="48097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for the guardrails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7909560" y="5029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A3 wiring: context loader (before_plan) · Architecture Conformance preset wrap · check-plan script (after_plan) · task guard (after_tasks)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Decision ledger (ADR per significant decision, waivers with owner and expiry)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Handover hardening if not already in the integration: contract test, handover record, hash check on spec.md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◇ only if raised   ▲ human acts   ○ informed   ⟲ bounded loop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loops inside, humans at the boundaries — nothing merges without the same scripts green.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10424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we are in the loop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93776" y="1263015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225296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3776" y="1448181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1410462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3776" y="1633347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1595628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" y="1818513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" y="1780794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2336" y="1975104"/>
            <a:ext cx="1737360" cy="166878"/>
          </a:xfrm>
          <a:prstGeom prst="roundRect">
            <a:avLst>
              <a:gd name="adj" fmla="val 2739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2003679"/>
            <a:ext cx="109728" cy="10972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" y="1965960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" y="2188845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" y="2151126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2374011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" y="2336292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" y="2559177"/>
            <a:ext cx="109728" cy="109728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" y="2521458"/>
            <a:ext cx="14264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39696" y="2058543"/>
            <a:ext cx="192024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31720" y="1225296"/>
            <a:ext cx="1417320" cy="14813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23160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23160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1517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checkout · Graphify code graph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1920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Clone, checkout the branch NNN-slug (Epic key in the name). Graphify refresh so the agent queries the graph instead of reading files.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49040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50208" y="1225296"/>
            <a:ext cx="1417320" cy="14813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41648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41648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041648" y="1517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implement ⇄ converge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041648" y="1920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Tests first, task by task. Every edit checked by the edit guard; fitness verdict after implement and converge. Checklist STOP if items are open.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83480" y="1069848"/>
            <a:ext cx="310896" cy="310896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83480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67528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568696" y="1225296"/>
            <a:ext cx="1417320" cy="14813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60136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0136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660136" y="1517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Deterministic test loop 4⇄5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660136" y="1920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Unit · acceptance · fitness run as a workflow step. Red → back to implement, max N. The same command runs again as CI required checks.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986016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187184" y="1225296"/>
            <a:ext cx="1417320" cy="14813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78624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78624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7278624" y="1517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7278624" y="1920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verdicts and waivers, graph-level checks via Graphify calls, posted to the Jira Epic and the PR. Tech lead and lead architect are informed — the decision comes later.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604504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805672" y="1225296"/>
            <a:ext cx="1417320" cy="14813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897112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897112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897112" y="1517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pull request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897112" y="1920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Commits carry task + Carries: IDs. PR opened in Bitbucket, draft → ready. Push policy (agent identity vs DEV) to settle.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222992" y="1965960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424160" y="1225296"/>
            <a:ext cx="1417320" cy="14813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515600" y="1298448"/>
            <a:ext cx="512064" cy="182880"/>
          </a:xfrm>
          <a:prstGeom prst="roundRect">
            <a:avLst>
              <a:gd name="adj" fmla="val 25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515600" y="12984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10515600" y="1517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10515600" y="19202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tech lead approves the PR on evidence, QA signs the test exit. Epic ‘Verified’; code enters the existing CI/CD.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2217420" y="2907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starts the run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3835908" y="2907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at the checklist STOP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5454396" y="2907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 at the loop bound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7072884" y="2907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+ lead architect informed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195560" y="1837944"/>
            <a:ext cx="256032" cy="256032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500616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PR · QA test exit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277356" y="1005840"/>
            <a:ext cx="0" cy="219456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658868" y="1005840"/>
            <a:ext cx="161848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4658868" y="1005840"/>
            <a:ext cx="0" cy="219456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4110228" y="822960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02336" y="3163824"/>
            <a:ext cx="11439144" cy="53401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3163824"/>
            <a:ext cx="82296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02336" y="3697834"/>
            <a:ext cx="11439144" cy="5340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7200" y="3697834"/>
            <a:ext cx="82296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02336" y="4231843"/>
            <a:ext cx="11439144" cy="400507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57200" y="4231843"/>
            <a:ext cx="82296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02336" y="4632350"/>
            <a:ext cx="11439144" cy="4005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4632350"/>
            <a:ext cx="82296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02336" y="5032858"/>
            <a:ext cx="11439144" cy="133502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57200" y="5032858"/>
            <a:ext cx="82296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793492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411980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30468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48956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67444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85932" y="3136392"/>
            <a:ext cx="493776" cy="2057400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261872" y="3163824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980944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99432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17920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836408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54896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073384" y="317113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261872" y="3297326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980944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980944" y="330464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4599432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599432" y="330464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217920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217920" y="330464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836408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454896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454896" y="330464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1073384" y="3304642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261872" y="3430829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2980944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599432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217920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836408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836408" y="343814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9454896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073384" y="34381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261872" y="3564331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QA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2980944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99432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17920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836408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54896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73384" y="357164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1073384" y="357164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20" name="Text 118"/>
          <p:cNvSpPr txBox="1"/>
          <p:nvPr/>
        </p:nvSpPr>
        <p:spPr>
          <a:xfrm>
            <a:off x="1261872" y="3697834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2980944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99432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599432" y="370514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217920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6217920" y="370514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7836408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7836408" y="370514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9454896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73384" y="3705149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1261872" y="3831336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2980944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2980944" y="383865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599432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4599432" y="383865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6217920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217920" y="383865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836408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454896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9454896" y="383865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11073384" y="383865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261872" y="3964838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2980944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599432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17920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836408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7836408" y="397215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9454896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073384" y="397215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1073384" y="397215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50" name="Text 148"/>
          <p:cNvSpPr txBox="1"/>
          <p:nvPr/>
        </p:nvSpPr>
        <p:spPr>
          <a:xfrm>
            <a:off x="1261872" y="4098341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2980944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980944" y="410565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4599432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4599432" y="410565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217920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836408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7836408" y="410565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9454896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1073384" y="41056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1261872" y="4231843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2980944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2980944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4599432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4599432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6217920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6217920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7836408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7836408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9454896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9454896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11073384" y="423915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1073384" y="423915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73" name="Text 171"/>
          <p:cNvSpPr txBox="1"/>
          <p:nvPr/>
        </p:nvSpPr>
        <p:spPr>
          <a:xfrm>
            <a:off x="1261872" y="4365346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2980944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599432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17920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836408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7836408" y="437266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9454896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073384" y="4372661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11073384" y="437266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82" name="Text 180"/>
          <p:cNvSpPr txBox="1"/>
          <p:nvPr/>
        </p:nvSpPr>
        <p:spPr>
          <a:xfrm>
            <a:off x="1261872" y="4498848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2980944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2980944" y="4506163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4599432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4599432" y="4506163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6217920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836408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7836408" y="4506163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9454896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073384" y="4506163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1261872" y="4632350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2980944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599432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217920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6217920" y="463966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7836408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454896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1073384" y="463966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1261872" y="4765853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2980944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599432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217920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836408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7836408" y="477316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9454896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073384" y="477316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11073384" y="477316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209" name="Text 207"/>
          <p:cNvSpPr txBox="1"/>
          <p:nvPr/>
        </p:nvSpPr>
        <p:spPr>
          <a:xfrm>
            <a:off x="1261872" y="4899355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2980944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599432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4599432" y="490667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213" name="Shape 211"/>
          <p:cNvSpPr/>
          <p:nvPr/>
        </p:nvSpPr>
        <p:spPr>
          <a:xfrm>
            <a:off x="6217920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836408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7836408" y="490667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700" dirty="0"/>
          </a:p>
        </p:txBody>
      </p:sp>
      <p:sp>
        <p:nvSpPr>
          <p:cNvPr id="216" name="Shape 214"/>
          <p:cNvSpPr/>
          <p:nvPr/>
        </p:nvSpPr>
        <p:spPr>
          <a:xfrm>
            <a:off x="9454896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1073384" y="490667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1261872" y="5032858"/>
            <a:ext cx="102412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850" dirty="0"/>
          </a:p>
        </p:txBody>
      </p:sp>
      <p:sp>
        <p:nvSpPr>
          <p:cNvPr id="219" name="Text 217"/>
          <p:cNvSpPr txBox="1"/>
          <p:nvPr/>
        </p:nvSpPr>
        <p:spPr>
          <a:xfrm>
            <a:off x="2766060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000" dirty="0"/>
          </a:p>
        </p:txBody>
      </p:sp>
      <p:sp>
        <p:nvSpPr>
          <p:cNvPr id="220" name="Text 218"/>
          <p:cNvSpPr txBox="1"/>
          <p:nvPr/>
        </p:nvSpPr>
        <p:spPr>
          <a:xfrm>
            <a:off x="4384548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000" dirty="0"/>
          </a:p>
        </p:txBody>
      </p:sp>
      <p:sp>
        <p:nvSpPr>
          <p:cNvPr id="221" name="Text 219"/>
          <p:cNvSpPr txBox="1"/>
          <p:nvPr/>
        </p:nvSpPr>
        <p:spPr>
          <a:xfrm>
            <a:off x="6003036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000" dirty="0"/>
          </a:p>
        </p:txBody>
      </p:sp>
      <p:sp>
        <p:nvSpPr>
          <p:cNvPr id="222" name="Text 220"/>
          <p:cNvSpPr txBox="1"/>
          <p:nvPr/>
        </p:nvSpPr>
        <p:spPr>
          <a:xfrm>
            <a:off x="7621524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000" dirty="0"/>
          </a:p>
        </p:txBody>
      </p:sp>
      <p:sp>
        <p:nvSpPr>
          <p:cNvPr id="223" name="Text 221"/>
          <p:cNvSpPr txBox="1"/>
          <p:nvPr/>
        </p:nvSpPr>
        <p:spPr>
          <a:xfrm>
            <a:off x="9240012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</a:t>
            </a:r>
            <a:endParaRPr lang="en-US" sz="1000" dirty="0"/>
          </a:p>
        </p:txBody>
      </p:sp>
      <p:sp>
        <p:nvSpPr>
          <p:cNvPr id="224" name="Text 222"/>
          <p:cNvSpPr txBox="1"/>
          <p:nvPr/>
        </p:nvSpPr>
        <p:spPr>
          <a:xfrm>
            <a:off x="10858500" y="5032858"/>
            <a:ext cx="5486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000" dirty="0"/>
          </a:p>
        </p:txBody>
      </p:sp>
      <p:sp>
        <p:nvSpPr>
          <p:cNvPr id="225" name="Shape 223"/>
          <p:cNvSpPr/>
          <p:nvPr/>
        </p:nvSpPr>
        <p:spPr>
          <a:xfrm>
            <a:off x="402336" y="5266944"/>
            <a:ext cx="11439144" cy="292608"/>
          </a:xfrm>
          <a:prstGeom prst="roundRect">
            <a:avLst>
              <a:gd name="adj" fmla="val 18750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512064" y="526694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A4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 — scripted, same script in hook · workflow · CI     </a:t>
            </a:r>
            <a:pPr indent="0" marL="0"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000" dirty="0"/>
          </a:p>
        </p:txBody>
      </p:sp>
      <p:sp>
        <p:nvSpPr>
          <p:cNvPr id="227" name="Text 225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in progress · compliance report + test agent to build · push policy open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native Spec Kit agents are already here: implement ⇄ converge build the spec tests-first, with the checklist STOP-gate at the start; A4 adds the fitness-function runner at the end — the same script runs again in the test loop and on the pull request.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973568" y="146304"/>
            <a:ext cx="1097280" cy="182880"/>
          </a:xfrm>
          <a:prstGeom prst="roundRect">
            <a:avLst>
              <a:gd name="adj" fmla="val 55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73568" y="146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0" y="146304"/>
            <a:ext cx="1298448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1463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515600" y="146304"/>
            <a:ext cx="132588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1463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973568" y="384048"/>
            <a:ext cx="1234440" cy="182880"/>
          </a:xfrm>
          <a:prstGeom prst="roundRect">
            <a:avLst>
              <a:gd name="adj" fmla="val 5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73568" y="3840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281160" y="384048"/>
            <a:ext cx="12801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02336" y="1280160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" y="1325880"/>
            <a:ext cx="1254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checkout · Graphify code graph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1700784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before_implement: A0 pin check · context loader (standards) · checkout NNN-slug (Epic key in the name) · Graphify code graph refresh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41220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42388" y="1280160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15540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15540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2772156" y="1325880"/>
            <a:ext cx="906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implement ⇄ converge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415540" y="1700784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/speckit.implement ✓ checklist STOP-gate (checklists/architecture.md) · tasks tests-first ✓ incl. fitness test tasks · after_implement: A4 fitness runner · /speckit.converge ✓ appends unbuilt work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88664" y="1152144"/>
            <a:ext cx="256032" cy="25603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88664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81272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82440" y="1280160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5592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55592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712208" y="1325880"/>
            <a:ext cx="1254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Deterministic test loop 4⇄5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355592" y="1700784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script runs again in the 4 ⇄ 5 workflow loop (shell + do-while, max N) · red verdict → back to implement · required checks on the PR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21324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22492" y="1280160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95644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95644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652260" y="1325880"/>
            <a:ext cx="1254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295644" y="1700784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verdicts, waivers, graph checks (Graphify calls) → compliance report on the Jira Epic and the PR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61376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62544" y="1280160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35696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35696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592312" y="1325880"/>
            <a:ext cx="1254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pull request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235696" y="1700784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(IDs on commits) · commits carry task + Carries: IDs · PR opened in Bitbucket, draft → ready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901428" y="1783080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102596" y="1280160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175748" y="1344168"/>
            <a:ext cx="310896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75748" y="1344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10532364" y="1325880"/>
            <a:ext cx="12542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0175748" y="1700784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approval → 5 · fitness results, review, security scan attached · QA test exit · code enters the existing CI/CD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48818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starts the run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2388870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at the checklist STOP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4328922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 at the loop bound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268974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+ lead architect informed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883140" y="1664208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79052" y="2322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PR · QA test exit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51882" y="1060704"/>
            <a:ext cx="0" cy="219456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3211830" y="1060704"/>
            <a:ext cx="1940052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211830" y="1060704"/>
            <a:ext cx="0" cy="219456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2663190" y="886968"/>
            <a:ext cx="30373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402336" y="27980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Agents &amp; tools on this step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02336" y="3035808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493776" y="309981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Spec Kit agents — all here today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542032" y="31089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542032" y="31089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 — available today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493776" y="3502152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/speckit.tasks: dependency-ordered tasks.md by story ([P] parallel) · /speckit.taskstoissues: GitHub issues · /speckit.analyze: read-only cross-artifact report (constitution conflicts CRITICAL) · /speckit.implement: scans every file in checklists/ and STOPs on unchecked items, runs test tasks first, halts on failure · /speckit.converge: appends unbuilt work · git ext: branch + auto-commit hooks. All verified in the repo — nothing to build.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33088" y="3035808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4224528" y="3099816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verify · verify-tasks · staff-review · worktrees · architecture-guard · blueprint-index · Graphify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72784" y="31089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272784" y="31089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4224528" y="3648456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vs spec artifacts; phantom-completion detection; spec-aware review; worktree isolation for parallel agents; architectural drift detection with refactor tasks; living architecture map with a deterministic CI gate — patterns for A4. Graphify as the code-graph provider: refresh at checkout, graph queries via MCP for the agent and the fitness checks.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02336" y="42976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493776" y="43616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 functions — edit guard + fitness runner on the rulebook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542032" y="43708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542032" y="4370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493776" y="4764024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edit guard checks every edit against the architecture standards (skills) as ARCH-### rules; the fitness runner gives a JSON verdict after implement / converge and ticks [FITNESS] in checklists/architecture.md — hook, workflow loop and CI run the same script. Graph-level rules (dependency direction, boundary crossings against the context map, layering, coupling) wait for the code-graph provider.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33088" y="42976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8" name="Text 76"/>
          <p:cNvSpPr txBox="1"/>
          <p:nvPr/>
        </p:nvSpPr>
        <p:spPr>
          <a:xfrm>
            <a:off x="4224528" y="4361688"/>
            <a:ext cx="2011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Still to build around A4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72784" y="43708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72784" y="4370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4224528" y="4617720"/>
            <a:ext cx="34015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Code-graph provider behind the contract seam (Graphify for large / brownfield repos) so the fitness runner can judge boundaries and dependencies; agent audit ledger + permission policy — who (which agent, under which task) changed what, permissions bounded per task, every commit carrying task and requirement IDs; compliance report renderer and its Jira push (Speckit2Jira); test agent with the traceability manifest (A5).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402336" y="548640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Tools: Bitbucket (repository, PR, required checks) · Jira via MCP (Epic evidence, PR-approval-ready) · Graphify MCP (graph queries) · mvn / gradle / npm test · CIB skill repo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7909560" y="2798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909560" y="3035808"/>
            <a:ext cx="3931920" cy="676656"/>
          </a:xfrm>
          <a:prstGeom prst="roundRect">
            <a:avLst>
              <a:gd name="adj" fmla="val 8108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019288" y="307238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8019288" y="321868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8019288" y="343814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lead, with fitness results, review and security scan attached; QA lead on the deterministic verdict and the requirement → test matrix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7909560" y="376732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 DEV starts or resumes the run (specify workflow resume)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 DEV at the native checklist STOP — resolve or confirm open items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 DEV escalates to the tech lead when the loop bound is hit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 tech lead + lead architect informed by the compliance report on the Epic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tech lead — PR approval on evidence · ◆ QA — test exit → PR + test report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909560" y="4572000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90956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 functions — in progress: edit guard + fitness runner on the rulebook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909560" y="4809744"/>
            <a:ext cx="393192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909560" y="48097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for the guardrails</a:t>
            </a:r>
            <a:endParaRPr lang="en-US" sz="800" dirty="0"/>
          </a:p>
        </p:txBody>
      </p:sp>
      <p:sp>
        <p:nvSpPr>
          <p:cNvPr id="93" name="Text 91"/>
          <p:cNvSpPr txBox="1"/>
          <p:nvPr/>
        </p:nvSpPr>
        <p:spPr>
          <a:xfrm>
            <a:off x="7909560" y="5029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Code-graph provider behind the seam (Graphify) → graph-level fitness rules in hook, workflow loop and CI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Agent audit ledger + permission policy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Compliance report renderer + Jira push (Speckit2Jira) · test agent with the traceability manifest (A5)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◇ only if raised   ▲ human acts   ○ informed   ⟲ bounded loop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Spec Kit as the spine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Reuse the proven standard for spec-driven development and attach to it — build the policy and the gates, not another SDLC engine. And nothing in the A-gates is married to the spine: the same agentic suite re-binds to any SDD process that exposes the same seams.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097280"/>
            <a:ext cx="3657600" cy="39136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17043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Reuse the proven standard — not rebuild it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481328"/>
            <a:ext cx="343814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Proven and open.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GitHub Spec Kit: 10 core commands delivered to 30+ agent integrations; facts verified against the repository; an ecosystem of 154 community extensions and 31 presets as patterns.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levers reused as-is.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Check gate · analyze (constitution conflicts CRITICAL) · checklist STOP-gate · tests-first implement · converge · git extension · workflows with human gates and resumable state — nothing to build where the spine already has it.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Done today rides on it.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and the built ShAIping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F5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integration, the architecture standards as a skills repository, the Architecture Assessor (A7) — all attach to the spine instead of replacing it.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Upgrade-safe. </a:t>
            </a:r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requires.speckit_version pinned + a conformance test on upgrade; there is no fork, so there is no fork cost.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346704" cy="3913632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15968" y="11704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we attach — without forking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499616"/>
            <a:ext cx="1600200" cy="219456"/>
          </a:xfrm>
          <a:prstGeom prst="roundRect">
            <a:avLst>
              <a:gd name="adj" fmla="val 4583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5968" y="149961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315968" y="1755648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composes templates and commands (append · wrap around {CORE_TEMPLATE}) — shapes what plan and tasks must contain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5968" y="2267712"/>
            <a:ext cx="1600200" cy="219456"/>
          </a:xfrm>
          <a:prstGeom prst="roundRect">
            <a:avLst>
              <a:gd name="adj" fmla="val 4583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5968" y="22677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523744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commands + deterministic scripts + config, attached to 20 lifecycle hooks (before / after × 10 commands)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15968" y="3035808"/>
            <a:ext cx="1600200" cy="219456"/>
          </a:xfrm>
          <a:prstGeom prst="roundRect">
            <a:avLst>
              <a:gd name="adj" fmla="val 4583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15968" y="30358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329184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orchestration: gate · shell · if · do-while steps, state persisted, resumable (specify workflow resume)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15968" y="3803904"/>
            <a:ext cx="1600200" cy="219456"/>
          </a:xfrm>
          <a:prstGeom prst="roundRect">
            <a:avLst>
              <a:gd name="adj" fmla="val 4583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15968" y="38039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Bundle + private catalog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4059936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+ extension + workflow installed in one step, versions pinned (sha256), air-gap friendly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4443984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Everything corporate ships as our own packages — verified in the sandbox (17 Aug 2026): preset composition, extension hooks, workflow with gates, offline bundle.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99248" y="1097280"/>
            <a:ext cx="4142232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08976" y="1170432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it can change — the A-gates are portable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27264" y="1481328"/>
            <a:ext cx="3886200" cy="347472"/>
          </a:xfrm>
          <a:prstGeom prst="roundRect">
            <a:avLst>
              <a:gd name="adj" fmla="val 15789"/>
            </a:avLst>
          </a:prstGeom>
          <a:solidFill>
            <a:srgbClr val="EEF4F1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27264" y="14813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suite = policy · maker · checker · control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84464" y="1828800"/>
            <a:ext cx="0" cy="292608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330184" y="18836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lifecycle hook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10344" y="1828800"/>
            <a:ext cx="0" cy="292608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9656064" y="18836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gate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0936224" y="1828800"/>
            <a:ext cx="0" cy="292608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0981944" y="18836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required check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827264" y="2139696"/>
            <a:ext cx="3886200" cy="274320"/>
          </a:xfrm>
          <a:prstGeom prst="roundRect">
            <a:avLst>
              <a:gd name="adj" fmla="val 16667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27264" y="21396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— the spine today (hooks · workflow · PR)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27264" y="2487168"/>
            <a:ext cx="38862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B5C3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827264" y="2487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any SDD process with the same seams: lifecycle hooks · pipeline steps · PR checks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827264" y="2907792"/>
            <a:ext cx="38862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is ours, host-free. 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rulebook (standards as skills), the domain master design, the constitution article and the decision ledger live in our repositories — no Spec Kit dependency.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Checkers run anywhere. 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are deterministic scripts with a JSON verdict — the same script in a hook, a workflow step or a CI job.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Providers behind the contract seam. 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 authoring (ShAIping) and the code graph (Graphify) swap independently of the spine.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 cost = re-binding the control points </a:t>
            </a:r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not rebuilding policy, checkers or evidence.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2336" y="5120640"/>
            <a:ext cx="11439144" cy="457200"/>
          </a:xfrm>
          <a:prstGeom prst="roundRect">
            <a:avLst>
              <a:gd name="adj" fmla="val 12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0352" y="512064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owns what: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owns the specification and its checks · Spec Kit owns plan, tasks, analyze, implement ⇄ converge and the workflow with the human gates · the architecture rulebook is ours and applies to the plan, not the specification · CI/CD and operations stay unchanged.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A0–A7 = architecture gates · the suite = policy + maker + checker + control (slide 1)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Spec Kit as the spine — in one picture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groups, one spine: the entry points Spec Kit offers out of the box, the packages we build to plug into them, and the policy and providers we own underneath — the same plugs fit any SDD process with the same seams.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115568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02336" y="1115568"/>
            <a:ext cx="1051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WE BUILD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our packages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591056" y="1115568"/>
            <a:ext cx="145618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645920" y="1115568"/>
            <a:ext cx="13464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corp-ba-hierarchy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73427" y="1773936"/>
            <a:ext cx="91440" cy="237744"/>
          </a:xfrm>
          <a:prstGeom prst="rect">
            <a:avLst/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93542" y="1115568"/>
            <a:ext cx="145618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48406" y="1115568"/>
            <a:ext cx="13464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arch-guard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 · scripts + hooks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75913" y="1773936"/>
            <a:ext cx="91440" cy="237744"/>
          </a:xfrm>
          <a:prstGeom prst="rect">
            <a:avLst/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6028" y="1115568"/>
            <a:ext cx="145618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50892" y="1115568"/>
            <a:ext cx="13464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corp-sdlc-loop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· human gates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78399" y="1773936"/>
            <a:ext cx="91440" cy="237744"/>
          </a:xfrm>
          <a:prstGeom prst="rect">
            <a:avLst/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8514" y="1115568"/>
            <a:ext cx="145618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53378" y="1115568"/>
            <a:ext cx="13464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corp-ba-sdlc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bundle · pinned install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0885" y="1773936"/>
            <a:ext cx="91440" cy="237744"/>
          </a:xfrm>
          <a:prstGeom prst="rect">
            <a:avLst/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029968"/>
            <a:ext cx="1051560" cy="987552"/>
          </a:xfrm>
          <a:prstGeom prst="roundRect">
            <a:avLst>
              <a:gd name="adj" fmla="val 5556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" y="2029968"/>
            <a:ext cx="105156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OFFERS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entry points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91056" y="2029968"/>
            <a:ext cx="1456182" cy="347472"/>
          </a:xfrm>
          <a:prstGeom prst="roundRect">
            <a:avLst>
              <a:gd name="adj" fmla="val 13158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91056" y="2029968"/>
            <a:ext cx="14561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template composition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append · wrap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93542" y="2029968"/>
            <a:ext cx="1456182" cy="347472"/>
          </a:xfrm>
          <a:prstGeom prst="roundRect">
            <a:avLst>
              <a:gd name="adj" fmla="val 13158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93542" y="2029968"/>
            <a:ext cx="14561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 lifecycle hooks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 / after × 10 commands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96028" y="2029968"/>
            <a:ext cx="1456182" cy="347472"/>
          </a:xfrm>
          <a:prstGeom prst="roundRect">
            <a:avLst>
              <a:gd name="adj" fmla="val 13158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96028" y="2029968"/>
            <a:ext cx="14561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step types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gate · shell · do-while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398514" y="2029968"/>
            <a:ext cx="1456182" cy="347472"/>
          </a:xfrm>
          <a:prstGeom prst="roundRect">
            <a:avLst>
              <a:gd name="adj" fmla="val 13158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8514" y="2029968"/>
            <a:ext cx="14561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catalogs + bundles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private HTTPS, sha256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591056" y="2377440"/>
            <a:ext cx="6263640" cy="475488"/>
          </a:xfrm>
          <a:prstGeom prst="roundRect">
            <a:avLst>
              <a:gd name="adj" fmla="val 11538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9105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228701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specify (import)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701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8297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clarify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8297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7893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7893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7489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tasks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37489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7085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analyze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7085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681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implement ⇄ converge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6681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6277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tests (shell)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46277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58736" y="2377440"/>
            <a:ext cx="69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· CI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158736" y="2468880"/>
            <a:ext cx="0" cy="292608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" y="3218688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2336" y="3218688"/>
            <a:ext cx="1051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WE OWN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· providers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173529" y="2852928"/>
            <a:ext cx="0" cy="365760"/>
          </a:xfrm>
          <a:prstGeom prst="line">
            <a:avLst/>
          </a:prstGeom>
          <a:noFill/>
          <a:ln w="19050">
            <a:solidFill>
              <a:srgbClr val="1E9A5B"/>
            </a:solidFill>
            <a:prstDash val="solid"/>
            <a:headEnd type="triangle"/>
          </a:ln>
        </p:spPr>
      </p:sp>
      <p:sp>
        <p:nvSpPr>
          <p:cNvPr id="49" name="Shape 47"/>
          <p:cNvSpPr/>
          <p:nvPr/>
        </p:nvSpPr>
        <p:spPr>
          <a:xfrm>
            <a:off x="1591056" y="3218688"/>
            <a:ext cx="116494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1636776" y="3218688"/>
            <a:ext cx="1073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standards as skills → ARCH-### rules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48202" y="2852928"/>
            <a:ext cx="0" cy="365760"/>
          </a:xfrm>
          <a:prstGeom prst="line">
            <a:avLst/>
          </a:prstGeom>
          <a:noFill/>
          <a:ln w="19050">
            <a:solidFill>
              <a:srgbClr val="1E9A5B"/>
            </a:solidFill>
            <a:prstDash val="solid"/>
            <a:headEnd type="triangle"/>
          </a:ln>
        </p:spPr>
      </p:sp>
      <p:sp>
        <p:nvSpPr>
          <p:cNvPr id="52" name="Shape 50"/>
          <p:cNvSpPr/>
          <p:nvPr/>
        </p:nvSpPr>
        <p:spPr>
          <a:xfrm>
            <a:off x="2865730" y="3218688"/>
            <a:ext cx="116494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2911450" y="3218688"/>
            <a:ext cx="1073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contexts · map · glossary · owners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22876" y="2852928"/>
            <a:ext cx="0" cy="365760"/>
          </a:xfrm>
          <a:prstGeom prst="line">
            <a:avLst/>
          </a:prstGeom>
          <a:noFill/>
          <a:ln w="19050">
            <a:solidFill>
              <a:srgbClr val="1E9A5B"/>
            </a:solidFill>
            <a:prstDash val="solid"/>
            <a:headEnd type="triangle"/>
          </a:ln>
        </p:spPr>
      </p:sp>
      <p:sp>
        <p:nvSpPr>
          <p:cNvPr id="55" name="Shape 53"/>
          <p:cNvSpPr/>
          <p:nvPr/>
        </p:nvSpPr>
        <p:spPr>
          <a:xfrm>
            <a:off x="4140403" y="3218688"/>
            <a:ext cx="116494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4186123" y="3218688"/>
            <a:ext cx="1073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ledger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ADRs · waivers with expiry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997550" y="2852928"/>
            <a:ext cx="0" cy="365760"/>
          </a:xfrm>
          <a:prstGeom prst="line">
            <a:avLst/>
          </a:prstGeom>
          <a:noFill/>
          <a:ln w="19050">
            <a:solidFill>
              <a:srgbClr val="1E9A5B"/>
            </a:solidFill>
            <a:prstDash val="solid"/>
            <a:headEnd type="triangle"/>
          </a:ln>
        </p:spPr>
      </p:sp>
      <p:sp>
        <p:nvSpPr>
          <p:cNvPr id="58" name="Shape 56"/>
          <p:cNvSpPr/>
          <p:nvPr/>
        </p:nvSpPr>
        <p:spPr>
          <a:xfrm>
            <a:off x="5415077" y="3218688"/>
            <a:ext cx="116494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5460797" y="3218688"/>
            <a:ext cx="1073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 authoring · 12 checks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272223" y="2852928"/>
            <a:ext cx="0" cy="365760"/>
          </a:xfrm>
          <a:prstGeom prst="line">
            <a:avLst/>
          </a:prstGeom>
          <a:noFill/>
          <a:ln w="19050">
            <a:solidFill>
              <a:srgbClr val="1E9A5B"/>
            </a:solidFill>
            <a:prstDash val="solid"/>
            <a:headEnd type="triangle"/>
          </a:ln>
        </p:spPr>
      </p:sp>
      <p:sp>
        <p:nvSpPr>
          <p:cNvPr id="61" name="Shape 59"/>
          <p:cNvSpPr/>
          <p:nvPr/>
        </p:nvSpPr>
        <p:spPr>
          <a:xfrm>
            <a:off x="6689750" y="3218688"/>
            <a:ext cx="116494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E9A5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2" name="Text 60"/>
          <p:cNvSpPr txBox="1"/>
          <p:nvPr/>
        </p:nvSpPr>
        <p:spPr>
          <a:xfrm>
            <a:off x="6735470" y="3218688"/>
            <a:ext cx="1073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graph behind the seam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591056" y="4133088"/>
            <a:ext cx="6263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5C3F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1591056" y="4133088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ANY SDD PROCESS with the same seams — lifecycle hooks · pipeline steps · PR checks — takes the same plugs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18511" y="3877056"/>
            <a:ext cx="0" cy="256032"/>
          </a:xfrm>
          <a:prstGeom prst="line">
            <a:avLst/>
          </a:prstGeom>
          <a:noFill/>
          <a:ln w="12700">
            <a:solidFill>
              <a:srgbClr val="0B5C3F"/>
            </a:solidFill>
            <a:prstDash val="sysDot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722876" y="3877056"/>
            <a:ext cx="0" cy="256032"/>
          </a:xfrm>
          <a:prstGeom prst="line">
            <a:avLst/>
          </a:prstGeom>
          <a:noFill/>
          <a:ln w="12700">
            <a:solidFill>
              <a:srgbClr val="0B5C3F"/>
            </a:solidFill>
            <a:prstDash val="sysDot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727241" y="3877056"/>
            <a:ext cx="0" cy="256032"/>
          </a:xfrm>
          <a:prstGeom prst="line">
            <a:avLst/>
          </a:prstGeom>
          <a:noFill/>
          <a:ln w="12700">
            <a:solidFill>
              <a:srgbClr val="0B5C3F"/>
            </a:solidFill>
            <a:prstDash val="sysDot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1591056" y="4498848"/>
            <a:ext cx="6263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 cost = re-binding three control points (hook · workflow gate · CI check) — policy, checkers, providers and evidence unchanged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02336" y="4681728"/>
            <a:ext cx="1417320" cy="182880"/>
          </a:xfrm>
          <a:prstGeom prst="roundRect">
            <a:avLst>
              <a:gd name="adj" fmla="val 55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02336" y="46817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911096" y="4681728"/>
            <a:ext cx="1417320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911096" y="46817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we build / own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3419856" y="468172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plug = our package · socket = the entry point Spec Kit exposes · nothing forked, versions pinned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402336" y="4901184"/>
            <a:ext cx="7452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spine = the Spec Kit command chain on steps 3 – 4 · native levers reused as-is: Constitution Check gate · analyze CRITICAL · checklist STOP-gate · tests-first implement · converge · git extension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092440" y="1133856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092440" y="1133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8567928" y="111556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Proven and open</a:t>
            </a:r>
            <a:endParaRPr lang="en-US" sz="1250" dirty="0"/>
          </a:p>
        </p:txBody>
      </p:sp>
      <p:sp>
        <p:nvSpPr>
          <p:cNvPr id="78" name="Text 76"/>
          <p:cNvSpPr txBox="1"/>
          <p:nvPr/>
        </p:nvSpPr>
        <p:spPr>
          <a:xfrm>
            <a:off x="8567928" y="1444752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GitHub Spec Kit: 10 core commands, 30+ agent integrations, 154 community extensions and 31 presets as patterns — facts verified against the repository.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092440" y="2505456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09244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8567928" y="248716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Attach, don't fork</a:t>
            </a:r>
            <a:endParaRPr lang="en-US" sz="1250" dirty="0"/>
          </a:p>
        </p:txBody>
      </p:sp>
      <p:sp>
        <p:nvSpPr>
          <p:cNvPr id="82" name="Text 80"/>
          <p:cNvSpPr txBox="1"/>
          <p:nvPr/>
        </p:nvSpPr>
        <p:spPr>
          <a:xfrm>
            <a:off x="8567928" y="2816352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Our four packages plug into the entry points Spec Kit exposes; requires.speckit_version pinned, a conformance test on upgrade — no fork, no fork cost.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092440" y="3877056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09244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8567928" y="385876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Portable by design</a:t>
            </a:r>
            <a:endParaRPr lang="en-US" sz="1250" dirty="0"/>
          </a:p>
        </p:txBody>
      </p:sp>
      <p:sp>
        <p:nvSpPr>
          <p:cNvPr id="86" name="Text 84"/>
          <p:cNvSpPr txBox="1"/>
          <p:nvPr/>
        </p:nvSpPr>
        <p:spPr>
          <a:xfrm>
            <a:off x="8567928" y="4187952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artifacts and checkers have no Spec Kit dependency; the three control points exist in any SDD host; providers sit behind the contract seam.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02336" y="5175504"/>
            <a:ext cx="11439144" cy="420624"/>
          </a:xfrm>
          <a:prstGeom prst="roundRect">
            <a:avLst>
              <a:gd name="adj" fmla="val 13043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30352" y="5175504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owns what: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owns the specification and its checks · Spec Kit owns plan, tasks, analyze, implement ⇄ converge and the workflow with the human gates · the architecture rulebook is ours and applies to the plan, not the specification · CI/CD and operations stay unchanged.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suite = policy + maker + checker + control (slide 1) · A0–A7 = architecture gates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· four waves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eight roadmap items grouped by what each wave unlocks — and the A-gates turning from red to amber to green as the waves land.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92640" y="146304"/>
            <a:ext cx="12801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0" y="1463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3840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chip = which gate the item completes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02336" y="1097280"/>
            <a:ext cx="1828800" cy="3675888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1704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 today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40817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baseline we attach to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1737360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ShAIping + its Spec Kit integration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architecture standards as skills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Architecture Assessor (A7)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Spec Kit spine on 3 – 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402336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today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8932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001268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1268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1403604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03604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805940" y="4224528"/>
            <a:ext cx="228600" cy="228600"/>
          </a:xfrm>
          <a:prstGeom prst="diamond">
            <a:avLst/>
          </a:prstGeom>
          <a:solidFill>
            <a:srgbClr val="D28E1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0594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98932" y="4480560"/>
            <a:ext cx="228600" cy="228600"/>
          </a:xfrm>
          <a:prstGeom prst="diamond">
            <a:avLst/>
          </a:prstGeom>
          <a:solidFill>
            <a:srgbClr val="D28E1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1001268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1268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403604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03604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1805940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05940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377440" y="1097280"/>
            <a:ext cx="2256282" cy="367588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487168" y="1170432"/>
            <a:ext cx="2036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1 · a verdict on the plan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487168" y="1408176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turns what is available into a scripted A3 verdict fastest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87168" y="173736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181965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1819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2852928" y="177393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 binding + A3 wiring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066794" y="183794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66794" y="18379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2560320" y="210312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constrains the plan before code exists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33722" y="2935224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2487168" y="4023360"/>
            <a:ext cx="20368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27471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27471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136678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136678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645884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645884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155091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155091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627471" y="4480560"/>
            <a:ext cx="228600" cy="228600"/>
          </a:xfrm>
          <a:prstGeom prst="diamond">
            <a:avLst/>
          </a:prstGeom>
          <a:solidFill>
            <a:srgbClr val="D28E1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627471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136678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136678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645884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645884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155091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155091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780026" y="1097280"/>
            <a:ext cx="2256282" cy="367588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4889754" y="1170432"/>
            <a:ext cx="2036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2 · domains and code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4889754" y="1408176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map and the code obey the same rulebook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89754" y="173736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62906" y="181965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962906" y="1819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5255514" y="177393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 + A0 guard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69380" y="183794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69380" y="18379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4962906" y="210312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“where are the domains”; no orphan features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889754" y="246888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62906" y="255117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962906" y="2551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255514" y="250545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fitness runner + code graph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69380" y="256946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469380" y="25694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72" name="Text 70"/>
          <p:cNvSpPr txBox="1"/>
          <p:nvPr/>
        </p:nvSpPr>
        <p:spPr>
          <a:xfrm>
            <a:off x="4962906" y="283464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boundaries the map forbids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036308" y="2935224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74" name="Text 72"/>
          <p:cNvSpPr txBox="1"/>
          <p:nvPr/>
        </p:nvSpPr>
        <p:spPr>
          <a:xfrm>
            <a:off x="4889754" y="4023360"/>
            <a:ext cx="20368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030057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030057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5539264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539264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048470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04847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6557677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557677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5030057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030057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5539264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539264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6048470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048470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6557677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557677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7182612" y="1097280"/>
            <a:ext cx="2256282" cy="367588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92" name="Text 90"/>
          <p:cNvSpPr txBox="1"/>
          <p:nvPr/>
        </p:nvSpPr>
        <p:spPr>
          <a:xfrm>
            <a:off x="7292340" y="1170432"/>
            <a:ext cx="2036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3 · close the loop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7292340" y="1408176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change control, re-entry and waivers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292340" y="173736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5492" y="181965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365492" y="1819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7658100" y="177393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change control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8871966" y="183794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871966" y="18379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100" name="Text 98"/>
          <p:cNvSpPr txBox="1"/>
          <p:nvPr/>
        </p:nvSpPr>
        <p:spPr>
          <a:xfrm>
            <a:off x="7365492" y="210312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“what happens when we change them”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7292340" y="246888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365492" y="255117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365492" y="2551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950" dirty="0"/>
          </a:p>
        </p:txBody>
      </p:sp>
      <p:sp>
        <p:nvSpPr>
          <p:cNvPr id="104" name="Text 102"/>
          <p:cNvSpPr txBox="1"/>
          <p:nvPr/>
        </p:nvSpPr>
        <p:spPr>
          <a:xfrm>
            <a:off x="7658100" y="250545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 → A1 Proposer re-entry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871966" y="256946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871966" y="25694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A7→A1</a:t>
            </a:r>
            <a:endParaRPr lang="en-US" sz="650" dirty="0"/>
          </a:p>
        </p:txBody>
      </p:sp>
      <p:sp>
        <p:nvSpPr>
          <p:cNvPr id="107" name="Text 105"/>
          <p:cNvSpPr txBox="1"/>
          <p:nvPr/>
        </p:nvSpPr>
        <p:spPr>
          <a:xfrm>
            <a:off x="7365492" y="283464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findings become requirements, never silent debt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7292340" y="320040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365492" y="328269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7365492" y="3282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950" dirty="0"/>
          </a:p>
        </p:txBody>
      </p:sp>
      <p:sp>
        <p:nvSpPr>
          <p:cNvPr id="111" name="Text 109"/>
          <p:cNvSpPr txBox="1"/>
          <p:nvPr/>
        </p:nvSpPr>
        <p:spPr>
          <a:xfrm>
            <a:off x="7658100" y="323697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Waiver agent + audit ledger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871966" y="330098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8871966" y="33009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</a:t>
            </a:r>
            <a:endParaRPr lang="en-US" sz="650" dirty="0"/>
          </a:p>
        </p:txBody>
      </p:sp>
      <p:sp>
        <p:nvSpPr>
          <p:cNvPr id="114" name="Text 112"/>
          <p:cNvSpPr txBox="1"/>
          <p:nvPr/>
        </p:nvSpPr>
        <p:spPr>
          <a:xfrm>
            <a:off x="7365492" y="356616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exceptions are explicit and expire; every change is attributable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9438894" y="2935224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16" name="Text 114"/>
          <p:cNvSpPr txBox="1"/>
          <p:nvPr/>
        </p:nvSpPr>
        <p:spPr>
          <a:xfrm>
            <a:off x="7292340" y="4023360"/>
            <a:ext cx="20368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7432643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7432643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7941850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794185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8451056" y="4224528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8451056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8960263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960263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7432643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432643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7941850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7941850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8451056" y="4480560"/>
            <a:ext cx="228600" cy="228600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451056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8960263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8960263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9585198" y="1097280"/>
            <a:ext cx="2256282" cy="367588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34" name="Text 132"/>
          <p:cNvSpPr txBox="1"/>
          <p:nvPr/>
        </p:nvSpPr>
        <p:spPr>
          <a:xfrm>
            <a:off x="9694926" y="1170432"/>
            <a:ext cx="2036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4 · harden the evidence</a:t>
            </a:r>
            <a:endParaRPr lang="en-US" sz="1050" dirty="0"/>
          </a:p>
        </p:txBody>
      </p:sp>
      <p:sp>
        <p:nvSpPr>
          <p:cNvPr id="135" name="Text 133"/>
          <p:cNvSpPr txBox="1"/>
          <p:nvPr/>
        </p:nvSpPr>
        <p:spPr>
          <a:xfrm>
            <a:off x="9694926" y="1408176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proof at test exit, the master gate with numbers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9694926" y="173736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768078" y="181965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9768078" y="1819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950" dirty="0"/>
          </a:p>
        </p:txBody>
      </p:sp>
      <p:sp>
        <p:nvSpPr>
          <p:cNvPr id="139" name="Text 137"/>
          <p:cNvSpPr txBox="1"/>
          <p:nvPr/>
        </p:nvSpPr>
        <p:spPr>
          <a:xfrm>
            <a:off x="10060686" y="177393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/ A6 evidence + PR checks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1274552" y="183794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1274552" y="18379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A5·A6</a:t>
            </a:r>
            <a:endParaRPr lang="en-US" sz="650" dirty="0"/>
          </a:p>
        </p:txBody>
      </p:sp>
      <p:sp>
        <p:nvSpPr>
          <p:cNvPr id="142" name="Text 140"/>
          <p:cNvSpPr txBox="1"/>
          <p:nvPr/>
        </p:nvSpPr>
        <p:spPr>
          <a:xfrm>
            <a:off x="9768078" y="210312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architecture’s promises are proven before the pipeline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9694926" y="2468880"/>
            <a:ext cx="2036826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768078" y="255117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9768078" y="2551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endParaRPr lang="en-US" sz="950" dirty="0"/>
          </a:p>
        </p:txBody>
      </p:sp>
      <p:sp>
        <p:nvSpPr>
          <p:cNvPr id="146" name="Text 144"/>
          <p:cNvSpPr txBox="1"/>
          <p:nvPr/>
        </p:nvSpPr>
        <p:spPr>
          <a:xfrm>
            <a:off x="10060686" y="2505456"/>
            <a:ext cx="1104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 charter check · KPIs · handover hardening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11274552" y="256946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11274552" y="25694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50" dirty="0"/>
          </a:p>
        </p:txBody>
      </p:sp>
      <p:sp>
        <p:nvSpPr>
          <p:cNvPr id="149" name="Text 147"/>
          <p:cNvSpPr txBox="1"/>
          <p:nvPr/>
        </p:nvSpPr>
        <p:spPr>
          <a:xfrm>
            <a:off x="9768078" y="2834640"/>
            <a:ext cx="1890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master gate has evidence; the lead architect has numbers</a:t>
            </a:r>
            <a:endParaRPr lang="en-US" sz="750" dirty="0"/>
          </a:p>
        </p:txBody>
      </p:sp>
      <p:sp>
        <p:nvSpPr>
          <p:cNvPr id="150" name="Text 148"/>
          <p:cNvSpPr txBox="1"/>
          <p:nvPr/>
        </p:nvSpPr>
        <p:spPr>
          <a:xfrm>
            <a:off x="9694926" y="4023360"/>
            <a:ext cx="20368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9835229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9835229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00" dirty="0"/>
          </a:p>
        </p:txBody>
      </p:sp>
      <p:sp>
        <p:nvSpPr>
          <p:cNvPr id="153" name="Shape 151"/>
          <p:cNvSpPr/>
          <p:nvPr/>
        </p:nvSpPr>
        <p:spPr>
          <a:xfrm>
            <a:off x="10344436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10344436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00" dirty="0"/>
          </a:p>
        </p:txBody>
      </p:sp>
      <p:sp>
        <p:nvSpPr>
          <p:cNvPr id="155" name="Shape 153"/>
          <p:cNvSpPr/>
          <p:nvPr/>
        </p:nvSpPr>
        <p:spPr>
          <a:xfrm>
            <a:off x="10853642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10853642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00" dirty="0"/>
          </a:p>
        </p:txBody>
      </p:sp>
      <p:sp>
        <p:nvSpPr>
          <p:cNvPr id="157" name="Shape 155"/>
          <p:cNvSpPr/>
          <p:nvPr/>
        </p:nvSpPr>
        <p:spPr>
          <a:xfrm>
            <a:off x="11362849" y="4224528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1362849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00" dirty="0"/>
          </a:p>
        </p:txBody>
      </p:sp>
      <p:sp>
        <p:nvSpPr>
          <p:cNvPr id="159" name="Shape 157"/>
          <p:cNvSpPr/>
          <p:nvPr/>
        </p:nvSpPr>
        <p:spPr>
          <a:xfrm>
            <a:off x="9835229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9835229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00" dirty="0"/>
          </a:p>
        </p:txBody>
      </p:sp>
      <p:sp>
        <p:nvSpPr>
          <p:cNvPr id="161" name="Shape 159"/>
          <p:cNvSpPr/>
          <p:nvPr/>
        </p:nvSpPr>
        <p:spPr>
          <a:xfrm>
            <a:off x="10344436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0344436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00" dirty="0"/>
          </a:p>
        </p:txBody>
      </p:sp>
      <p:sp>
        <p:nvSpPr>
          <p:cNvPr id="163" name="Shape 161"/>
          <p:cNvSpPr/>
          <p:nvPr/>
        </p:nvSpPr>
        <p:spPr>
          <a:xfrm>
            <a:off x="10853642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0853642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00" dirty="0"/>
          </a:p>
        </p:txBody>
      </p:sp>
      <p:sp>
        <p:nvSpPr>
          <p:cNvPr id="165" name="Shape 163"/>
          <p:cNvSpPr/>
          <p:nvPr/>
        </p:nvSpPr>
        <p:spPr>
          <a:xfrm>
            <a:off x="11362849" y="4480560"/>
            <a:ext cx="228600" cy="228600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11362849" y="4480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00" dirty="0"/>
          </a:p>
        </p:txBody>
      </p:sp>
      <p:sp>
        <p:nvSpPr>
          <p:cNvPr id="167" name="Shape 165"/>
          <p:cNvSpPr/>
          <p:nvPr/>
        </p:nvSpPr>
        <p:spPr>
          <a:xfrm>
            <a:off x="512064" y="4864608"/>
            <a:ext cx="164592" cy="164592"/>
          </a:xfrm>
          <a:prstGeom prst="diamond">
            <a:avLst/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731520" y="4864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1700784" y="4864608"/>
            <a:ext cx="164592" cy="164592"/>
          </a:xfrm>
          <a:prstGeom prst="diamond">
            <a:avLst/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920240" y="4864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2889504" y="4864608"/>
            <a:ext cx="164592" cy="164592"/>
          </a:xfrm>
          <a:prstGeom prst="diamond">
            <a:avLst/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3108960" y="4864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800" dirty="0"/>
          </a:p>
        </p:txBody>
      </p:sp>
      <p:sp>
        <p:nvSpPr>
          <p:cNvPr id="173" name="Text 171"/>
          <p:cNvSpPr txBox="1"/>
          <p:nvPr/>
        </p:nvSpPr>
        <p:spPr>
          <a:xfrm>
            <a:off x="4206240" y="4846320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→ gate mapping follows the item chips (1 → A3, 2 → A0, 3 → A4, 4 → A0, 5 → A7 → A1, 6 → all gates, 7 → A5 · A6, 8 → A2) · sequenced by dependency and leverage, no effort estimates by design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402336" y="5138928"/>
            <a:ext cx="11439144" cy="420624"/>
          </a:xfrm>
          <a:prstGeom prst="roundRect">
            <a:avLst>
              <a:gd name="adj" fmla="val 13043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530352" y="5138928"/>
            <a:ext cx="11201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item =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script with a verdict plus the artifact humans decide on; ecosystem pieces reused where they fit — the gate code is ours.  Done today and reused throughout: ShAIping (12 scripted checks) · ShAIping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 · architecture standards as a skills repository · Architecture Assessor (A7) · Spec Kit spine on 3–4 · existing CI/CD and operations, untouched.</a:t>
            </a:r>
            <a:endParaRPr lang="en-US" sz="800" dirty="0"/>
          </a:p>
        </p:txBody>
      </p:sp>
      <p:sp>
        <p:nvSpPr>
          <p:cNvPr id="176" name="Text 174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→ 8 = the roadmap items · Build / Protects / Builds on details in the project note</a:t>
            </a:r>
            <a:endParaRPr lang="en-US" sz="750" dirty="0"/>
          </a:p>
        </p:txBody>
      </p:sp>
      <p:sp>
        <p:nvSpPr>
          <p:cNvPr id="177" name="Text 175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2801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a guardrail 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66928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“A guardrail is one automated check inside an A-gate: a deterministic script that verifies an artefact against the architecture policy and returns a verdict — pass, violation or waived — and runs by itself, without a person in the loop.”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2336" y="1097280"/>
            <a:ext cx="7269480" cy="3675888"/>
          </a:xfrm>
          <a:prstGeom prst="roundRect">
            <a:avLst>
              <a:gd name="adj" fmla="val 1990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143000"/>
            <a:ext cx="7050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Anatomy of a guardrail — </a:t>
            </a:r>
            <a:pPr indent="0" marL="0"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reads the policy, checks the artefact, emits a verdict; the same script runs at three control points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08176"/>
            <a:ext cx="2148840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5875">
            <a:solidFill>
              <a:srgbClr val="0B5C3F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538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— what we own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64208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rulebook: standards as skills → ARCH-### rules</a:t>
            </a:r>
            <a:endParaRPr lang="en-US" sz="80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 (map, contexts, glossary)</a:t>
            </a:r>
            <a:endParaRPr lang="en-US" sz="80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article</a:t>
            </a:r>
            <a:endParaRPr lang="en-US" sz="80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ledger: ADRs, waivers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21488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679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ARTEFACT — what the agent produced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8950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spec.md · plan.md · tasks.md</a:t>
            </a:r>
            <a:endParaRPr lang="en-US" sz="80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code, commit by commit</a:t>
            </a:r>
            <a:endParaRPr lang="en-US" sz="80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 results, fitness results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99816" y="1554480"/>
            <a:ext cx="2148840" cy="1956816"/>
          </a:xfrm>
          <a:prstGeom prst="roundRect">
            <a:avLst>
              <a:gd name="adj" fmla="val 467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09544" y="1627632"/>
            <a:ext cx="19293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extension command with a deterministic script, attached to a lifecycle hook</a:t>
            </a:r>
            <a:endParaRPr lang="en-US" sz="12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reads the policy → checks the artefact → emits the verdict</a:t>
            </a:r>
            <a:endParaRPr lang="en-US" sz="12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2B8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person in the loop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975104"/>
            <a:ext cx="402336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97480" y="3072384"/>
            <a:ext cx="402336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48656" y="2532888"/>
            <a:ext cx="411480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0136" y="1700784"/>
            <a:ext cx="1865376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751576" y="1700784"/>
            <a:ext cx="16824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VERDICT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satisfied · violations · rules_skipped · waived</a:t>
            </a:r>
            <a:endParaRPr lang="en-US" sz="10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exit code, not an opinion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waiver counts only from the ledger — owner, evidence, expiry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2203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agent-dispatched · convenient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35224" y="4041648"/>
            <a:ext cx="2203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08376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shell gate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hard · inside the bounded loop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21808" y="4041648"/>
            <a:ext cx="2203704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required check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property line · pipeline unchanged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74236" y="3511296"/>
            <a:ext cx="0" cy="256032"/>
          </a:xfrm>
          <a:prstGeom prst="line">
            <a:avLst/>
          </a:prstGeom>
          <a:noFill/>
          <a:ln w="15875">
            <a:solidFill>
              <a:srgbClr val="B36B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50492" y="3767328"/>
            <a:ext cx="2523744" cy="0"/>
          </a:xfrm>
          <a:prstGeom prst="line">
            <a:avLst/>
          </a:prstGeom>
          <a:noFill/>
          <a:ln w="15875">
            <a:solidFill>
              <a:srgbClr val="B36B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50492" y="3767328"/>
            <a:ext cx="0" cy="274320"/>
          </a:xfrm>
          <a:prstGeom prst="line">
            <a:avLst/>
          </a:prstGeom>
          <a:noFill/>
          <a:ln w="15875">
            <a:solidFill>
              <a:srgbClr val="B36B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37076" y="3767328"/>
            <a:ext cx="137160" cy="0"/>
          </a:xfrm>
          <a:prstGeom prst="line">
            <a:avLst/>
          </a:prstGeom>
          <a:noFill/>
          <a:ln w="15875">
            <a:solidFill>
              <a:srgbClr val="B36B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37076" y="3767328"/>
            <a:ext cx="0" cy="274320"/>
          </a:xfrm>
          <a:prstGeom prst="line">
            <a:avLst/>
          </a:prstGeom>
          <a:noFill/>
          <a:ln w="15875">
            <a:solidFill>
              <a:srgbClr val="B36B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174236" y="3767328"/>
            <a:ext cx="2249424" cy="0"/>
          </a:xfrm>
          <a:prstGeom prst="line">
            <a:avLst/>
          </a:prstGeom>
          <a:noFill/>
          <a:ln w="15875">
            <a:solidFill>
              <a:srgbClr val="B36B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3660" y="3767328"/>
            <a:ext cx="0" cy="274320"/>
          </a:xfrm>
          <a:prstGeom prst="line">
            <a:avLst/>
          </a:prstGeom>
          <a:noFill/>
          <a:ln w="15875">
            <a:solidFill>
              <a:srgbClr val="B36B0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2894076" y="3685032"/>
            <a:ext cx="2560320" cy="164592"/>
          </a:xfrm>
          <a:prstGeom prst="rect">
            <a:avLst/>
          </a:prstGeom>
          <a:solidFill>
            <a:srgbClr val="EEF4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script runs at three control points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818120" y="1097280"/>
            <a:ext cx="4023360" cy="3675888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927848" y="114300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Out of the box + ours = company-specific — </a:t>
            </a:r>
            <a:pPr indent="0" marL="0"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our components go inside the gates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927848" y="1389888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6B4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 — OUT OF THE BOX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927848" y="157276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27848" y="157276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Check gate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214104" y="157276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14104" y="157276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analyze · CRITICAL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500360" y="157276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00360" y="157276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checklist STOP-gate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927848" y="181051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27848" y="181051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tests-first implement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214104" y="181051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14104" y="181051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converge · no phantoms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500360" y="181051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500360" y="181051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extension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7818120" y="20482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7927848" y="224942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9A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OUR COMPONENTS — INSIDE THE GATES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927848" y="2432304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927848" y="2432304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standards as skills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214104" y="2432304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14104" y="2432304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500360" y="2432304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500360" y="2432304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article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927848" y="267004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927848" y="267004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ledger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9214104" y="267004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214104" y="267004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· conformance table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0500360" y="267004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500360" y="267004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· Carries: IDs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927848" y="290779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927848" y="290779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check-plan script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9214104" y="290779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214104" y="290779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task guard script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0500360" y="290779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500360" y="290779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fitness runner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927848" y="3145536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927848" y="3145536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handover validator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9214104" y="3145536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214104" y="3145536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hooks · before / after_*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0500360" y="3145536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500360" y="3145536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 · Bitbucket · Jira · Graphify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7818120" y="3383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=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927848" y="3584448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COMPANY-SPECIFIC GUARDRAILS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927848" y="376732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927848" y="376732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· 12 checks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214104" y="376732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214104" y="376732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handover validator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0500360" y="3767328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500360" y="3767328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check-plan + task guard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927848" y="400507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27848" y="400507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edit guard + fitness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214104" y="400507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214104" y="400507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· evidence gate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0500360" y="4005072"/>
            <a:ext cx="1231392" cy="201168"/>
          </a:xfrm>
          <a:prstGeom prst="roundRect">
            <a:avLst>
              <a:gd name="adj" fmla="val 27273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500360" y="4005072"/>
            <a:ext cx="123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 · Assessor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7927848" y="4443984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native levers stay as they are; our policy, presets, scripts, hooks and MCPs sit inside the same gates and make each guardrail specific to our context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02336" y="4882896"/>
            <a:ext cx="11439144" cy="676656"/>
          </a:xfrm>
          <a:prstGeom prst="roundRect">
            <a:avLst>
              <a:gd name="adj" fmla="val 9459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30352" y="4882896"/>
            <a:ext cx="11201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it is not: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a prompt instruction (advisory) · not a review meeting · not a person — the human decision is the gate at the boundary, taken on the guardrails’ evidence · not a gate — an A-gate composes several guardrails, and one guardrail serves several gates.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402336" y="56509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at the gate, on the guardrails’ evidence · ⟲ red verdict → bounded loop back to the maker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5212080" y="5650992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2026-09-03T06:58:21Z</dcterms:created>
  <dcterms:modified xsi:type="dcterms:W3CDTF">2026-09-03T06:58:21Z</dcterms:modified>
</cp:coreProperties>
</file>