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— speaker notes (details behind the flow)
3.1 ShAIping specification creation — Owner BA · Agent in-house (ShAIping) · MCP Bitbucket · Skill repo: specification. BA authors and revises until the 12 checks are green; the release of version N (hashed export) is the human decision.
3.2 Handover to Spec Kit — Owner DEV runs the workflow, BA approves the hierarchy at the gate (ba-review) · Agent in-house handover + Spec Kit specify (import) · MCP Bitbucket · Skill repo: integration. Loop: after_specify validator red → back to ShAIping, max 3; spec.md never hand-edited (hash check).
3.3 Plan creation — Owner DEV; the gates run automatically (Auto), nobody owns the step in the loop. A0 domains check (before_plan hook, to build), A3 standards conformance (after_plan; conformance table + verdict JSON; in progress), plan (epic) on the branch, tasks + analyze (tasks.md phases with IDs feed 3.5; analyze CRITICAL = 0). The design authority decides only if a waiver is raised → ADR.
3.4 Design authority sign-off — Owner tech lead (design authority) · Agent Speckit2Jira + workflow gate · MCP Jira · Skill repo: integration. Epic → 'Design review' + evidence links; the workflow gate records the decision.
3.5 Jira mirror + approved plan — Auto · DEV · Agent Speckit2Jira · MCP Jira (+ Bitbucket read) · Skill repo: integration. Phases from tasks.md → Stories; join file jira-mapping.json; one-way, evidence-only. Exit state (former 3.6): signed plan + ADRs on the branch, spec hash unchanged, conformance green or waived, analyze CRITICAL = 0, tasks carry IDs, Epic 'Design approved' — the resume point for step 4. Open: Stories from phases vs from user stories (20 Aug mirror model).
Status: A0 to build · A3 in progress · Speckit2Jira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— speaker notes (details behind the flow)
4.1 Checkout + code graph — Owner DEV · Agent Spec Kit git extension + git CLI, then Graphify (ecosystem skill) · MCP Bitbucket (repo / branch lookup; clone and checkout are git CLI) + Graphify (graph queries) · Skill repo: no (Graphify is external). Branch NNN-slug exists since specify; the Epic key in the name feeds the Jira development panel. '/graphify . --update' re-extracts only changed files; the agent queries the graph instead of reading files. DEV resumes the workflow here.
4.2 Implement ⇄ converge under A4 — Auto · DEV · Agent Spec Kit + in-house A4 (edit guard on every edit, fitness verdict after implement / converge) · MCP Bitbucket + Graphify · Skill repo: architecture. DEV decides only at the native checklist STOP.
4.3 Bounded test loop — Auto · DEV · Agent Spec Kit (workflow do-while, analyze) + in-house traceability validator · MCP Bitbucket · Skill repo: specification. Bounded loop, max N; DEV escalates to the tech lead at the bound. Same test command again as CI required checks on the PR (the merge line).
4.4 Compliance report — Auto · lead architect · Agent in-house A3+A4 report + Graphify calls (graph-level checks: dependency direction, boundary crossings against the context map) + Speckit2Jira · MCP Jira (Epic comment + fields) + Bitbucket (PR comment) + Graphify (graph queries) · Skill repo: architecture + integration. tech lead and lead architect informed; decision in 4.6.
4.5 Git push — Owner DEV · Agent git extension commit + git CLI push · MCP Bitbucket (open PR). Commits carry task + Carries: IDs. Policy open: agent identity vs DEV pushes.
4.6 Approval → CI/CD — Owner tech lead (PR approval on evidence) + QA (test exit) · Agent Speckit2Jira · MCP Jira + Bitbucket · Skill repo: integration. The workflow gate waits; the PR review in Bitbucket is the actual approval, mirrored one-way to Jira. Epic 'Verified'; code enters the unchanged CI/CD.
Status: A4 in progress · compliance report renderer + test agent to build · push policy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in detail — content from agentic-sdlc-speckit-v4 slide 9 (Step 3 · Design), re-cut onto steps 3.1–3.5. Deviation from v4: the design authority is the tech lead (decision of 31 Aug 2026); v4 said lead architect. Added beyond v4: step 3.5 (Speckit2Jira projection) and the tools line. v4 notes: Spec Kit facts: templates/commands/plan.md and templates/plan-template.md (Constitution Check gate; Phase 0/1 outputs), tasks.md, analyze.md (constitution conflicts CRITICAL). In-house status per Roman (17 Aug 2026): ShAIping available; the ShAIping ↔ Spec Kit integration is built; the architecture standards exist as a skills repository (binding to A-gates in progress); the Architecture Assessor is available. Whether the integration already includes a contract test / handover record / hash check was not stated — shown as “to confirm”. Ecosystem: adrkit, architect-preview, arch-governance, api-evolve.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in detail — content from agentic-sdlc-speckit-v4 slide 10 (Step 4 · Implement), re-cut onto steps 4.1–4.6 (evidence on the Epic = 4.4, after the bounded test loop). Added beyond v4: Graphify as the code-graph provider (ecosystem card, 4.1 and 4.4), the Jira / Bitbucket tools line, and the in-step human decisions. v4 notes: Spec Kit facts: templates/commands/tasks.md, taskstoissues.md, implement.md ("STOP and ask" on unchecked checklist items; test tasks first; halt on failure), converge.md; extensions/git/extension.yml hooks. Ecosystem: verify, verify-tasks, review, staff-review, worktrees, architecture-guard, blueprint-index.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A-gates · the principle. Vocabulary from agentic-sdlc-speckit-v4 (slides 5, 6, 14): every guardrail is an extension command with a script (JSON verdict) attached to a Spec Kit hook, plus a preset that shapes what plan and tasks must contain; hooks are convenient (agent-dispatched), the same scripts run as workflow shell gates and CI checks — the hard line. Policy elements = rulebook (standards as skills → ARCH-### rules with severity, scope, check binding), domain master design, constitution article, decision ledger (ADRs, waivers with owner and expiry). Maker = the agent producing the artefact under the policy (Spec Kit commands, ShAIping, Proposer). Checker = the deterministic script verifying against the same policy. Control = hook → workflow shell gate → CI required check → human gate at the boundary (decision table, slide 2 of v4). Guardrail vs gate: a gate composes several guardrails; one guardrail serves several gates (conformance at A3 and A6, fitness at A4/A5/A6).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A0–A7 for management — plain-language view of the A-gates, from agentic-sdlc-speckit-v4 slides 1, 2 and 14 (wheel, decision table, shift-left). Goals per gate: A0 domain map guard — every feature inside one bounded context, domain changes through change control; A1 architecture intake — context + owner on every requirement, Assessor proposals accepted by humans; A2 architecture in the iteration charter — debt items with evidence, cross-context dependency check; A3 plan conformance — Architecture Conformance table verified by script, ADRs, task guard; A4 fitness functions — checklist gate at the start of implement, fitness runner after implement / converge; A5 evidence at test exit — fitness re-run in the deterministic loop, NFR tests, verdict on the PR; A6 required PR status checks with the same scripts, pipeline unchanged; A7 Architecture Assessor between 7 and 1, findings → Proposer → human acceptance. Statuses as of the v4 deck: A7 available, A3/A4 in progress, the rest to build. Design authority for A3 = tech lead (31 Aug 2026 decision).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Spec Kit as the spine. Sources: speckit-plugin verification (17 Aug 2026 — presets/extensions/workflows/bundles verified in a sandbox against github/spec-kit main @ bf88c9f; 'can be plugged in without forking it'), coverage map v4 (native levers, done-today list, 154 extensions / 31 presets), v4 slide 13 (who owns what). Portability argument: policy artifacts and checkers have no Spec Kit dependency; control points (lifecycle hook · workflow gate · CI required check) exist in any SDD host; providers sit behind the contract seam. Exit cost = re-binding control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missing agentic suite — content verbatim from agentic-sdlc-speckit-v4 slide 15 (Missing but important — the A-gate roadmap), restyled: 8 items sequenced by dependency and leverage; item 1 turns what is already available (standards as skills, built integration) into a scripted A3 verdict fastest; 2–3 extend enforcement to domains and code; 4–6 close the loop with change control, re-entry and waivers; 7–8 harden evidence. Deploy and operations are out of scope by decision. Addition beyond v4: Speckit2Jira named on item 8 as the delivery vehicle of the KPI view (to confirm).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6 — the same A0–A7 goals and deciders on the loop wheel (v4 slide 1 motif) in this deck's identity. Diamond colour = status (A7 available, A3/A4 in progress, rest to build). Right: the manager's 'what is transformed' view per turn of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7 — the spine argument as one picture: attachments above the spine (preset, extension + hooks, workflow, bundle), the Spec Kit command chain as the spine, policy and providers below it (no Spec Kit dependency), and a dashed ghost spine showing the same plugs fitting any SDD process with the same seams. Right: the three reasons in one line each. Sources: speckit-plugin verification, coverage map v4, v4 slides 6 and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8 — the eight roadmap items grouped into four waves by what each unlocks (v4 slide 15 notes: item 1 turns what is available into a scripted A3 verdict fastest; 2–3 extend enforcement to domains and code; 4–6 close the loop with change control, re-entry and waivers; 7–8 harden evidence). The A-gate strip per column shows the status after each wave; the item → gate mapping is derived from the v4 roadmap chips (A0 for items 2 and 4; A1 completed by the Proposer re-entry's repository 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1 — the Design step as a cross-functional flow: lanes for the humans (business analyst, tech lead as design authority, delivery team), the agents (in-house, Spec Kit, Speckit2Jira), the tools reached via MCP (Bitbucket, Jira) and the CIB skill repo; the main path runs ShAIping → handover → Spec Kit plan → design sign-off → Jira projection; loop: after_specify validator red → back to ShAIping (max 3). Content identical to slide 1's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2 — the Implement step as a cross-functional flow. Main path: git ext checkout → /speckit.implement ⇄ converge under A4 → workflow do-while test loop → compliance report → push / PR → tech lead PR approval and QA test exit. Loop: suite red → back to implement, max N. Graphify: graph refresh at checkout, graph queries during implement, graph-level checks in the report. Content identical to slide 2's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3 — the Design step as a sequence (slide cut of the 26 Aug proposal, updated to today's decisions: tech lead = design authority; 3.5 Speckit2Jira projection added). Lifelines grouped by ownership: humans · in-house · Spec Kit + guardrails · Jira · repository. Frames = bounded loops. Right column = entry evidence, scripted guardrails (v4 slide 9 verbatim), exit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to slide 4 — the Implement step as a sequence (slide cut of the 26 Aug proposal, with 4.1 checkout + Graphify and 4.4 compliance report added). Frames = the per-task implement loop and the bounded do-while test loop. Right column = entry evidence, scripted guardrails (v4 slide 10 verbatim), exit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a business specification to a signed plan — checked by scripts, signed by people.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authors in ShAIping. Twelve scripted checks loop until green. Released as version N, hashed, stored in the specification repository.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7273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3906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534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534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65346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65346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Export → spec.md + handover record, contract test, then the validator. Red goes back to ShAIping — spec.md is never hand-edited.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4923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6091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7531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7531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07531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plan creation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7531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domain check before planning, A3 standards conformance after — both scripted, no owner in the loop. Plan (epic), tasks + analyze land on the feature branch.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54773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4773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70725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0725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57109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58277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49717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9717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49717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249717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moves to 'Design review' in Jira with the evidence links. The tech lead, as design authority, decides — the workflow gate waits.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9929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00462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9190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9190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91902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</a:t>
            </a:r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Jira integration via MCP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191902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Epic, join file jira-mapping.json. One-way, evidence-only. Approved plan = signed plan + ADRs on the branch, spec hash unchanged, Epic 'Design approved' — the resume point for step 4.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44414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202229" y="1133856"/>
            <a:ext cx="194218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02229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653589" y="914400"/>
            <a:ext cx="3039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02336" y="1170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" y="143903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4944" y="138988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3776" y="165620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4944" y="160705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3776" y="187337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944" y="182422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02336" y="2050542"/>
            <a:ext cx="1737360" cy="198882"/>
          </a:xfrm>
          <a:prstGeom prst="roundRect">
            <a:avLst>
              <a:gd name="adj" fmla="val 2298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776" y="2090547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4944" y="204139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3776" y="230771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4944" y="225856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3776" y="252488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4944" y="247573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93776" y="274205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944" y="269290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3776" y="295922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4944" y="291007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39696" y="2149983"/>
            <a:ext cx="192024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036162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350362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78347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92547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26364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862718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176918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lead: design sign-off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0148011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955341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97526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39712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81898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24083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124505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124505" y="364297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066690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066690" y="364297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008876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951062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893247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124505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066690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066690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008876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008876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951062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893247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893247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124505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66690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08876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51062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893247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124505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66690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08876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51062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951062" y="413125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0893247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3124505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124505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066690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066690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008876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008876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951062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893247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3124505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66690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066690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008876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008876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951062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893247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3124505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066690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008876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51062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951062" y="46195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10893247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0893247" y="46195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8" name="Text 136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3124505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66690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08876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51062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893247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124505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3124505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5066690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066690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7008876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008876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8951062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893247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0893247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4" name="Text 152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3124505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066690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008876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51062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951062" y="510783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10893247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0893247" y="510783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2" name="Text 160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3124505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066690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008876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951062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893247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3124505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124505" y="543336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5066690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08876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51062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893247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3124505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066690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5066690" y="5596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7008876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51062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8951062" y="5596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10893247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10893247" y="5596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85" name="Shape 183"/>
          <p:cNvSpPr/>
          <p:nvPr/>
        </p:nvSpPr>
        <p:spPr>
          <a:xfrm>
            <a:off x="3124505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066690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08876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7008876" y="575889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8951062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893247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50" dirty="0"/>
          </a:p>
        </p:txBody>
      </p:sp>
      <p:sp>
        <p:nvSpPr>
          <p:cNvPr id="192" name="Text 190"/>
          <p:cNvSpPr txBox="1"/>
          <p:nvPr/>
        </p:nvSpPr>
        <p:spPr>
          <a:xfrm>
            <a:off x="2927909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93" name="Text 191"/>
          <p:cNvSpPr txBox="1"/>
          <p:nvPr/>
        </p:nvSpPr>
        <p:spPr>
          <a:xfrm>
            <a:off x="487009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94" name="Text 192"/>
          <p:cNvSpPr txBox="1"/>
          <p:nvPr/>
        </p:nvSpPr>
        <p:spPr>
          <a:xfrm>
            <a:off x="681228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195" name="Text 193"/>
          <p:cNvSpPr txBox="1"/>
          <p:nvPr/>
        </p:nvSpPr>
        <p:spPr>
          <a:xfrm>
            <a:off x="875446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96" name="Text 194"/>
          <p:cNvSpPr txBox="1"/>
          <p:nvPr/>
        </p:nvSpPr>
        <p:spPr>
          <a:xfrm>
            <a:off x="10696651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199" name="Text 197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to build · A3 in progress · Speckit2Jira to confirm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loops inside, humans at the boundaries — nothing merges without the same scripts green.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Clone, checkout the branch NNN-slug (Epic key in the name). Graphify refresh so the agent queries the graph instead of reading files.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50208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41648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41648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implement ⇄ converge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first, task by task. Every edit checked by the edit guard; fitness verdict after implement and converge. Checklist STOP if items are open.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5192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65192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6752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68696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013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013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660136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0136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Unit · acceptance · fitness run as a workflow step. Red → back to implement, max N. The same command runs again as CI required checks.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86016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78624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 and waivers, graph-level checks via Graphify calls, posted to the Jira Epic and the PR. tech lead and lead architect are informed — the decision comes later.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0450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05672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9711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9711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97112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897112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 carry task + Carries: IDs. PR opened in Bitbucket, draft → ready. Push policy (agent identity vs DEV) to settle.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22992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2416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1560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approves the PR on evidence, QA signs the test exit. Epic 'Verified'; code enters the existing CI/CD.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77356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658868" y="1133856"/>
            <a:ext cx="161848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58868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110228" y="914400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02336" y="1170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3776" y="143903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944" y="138988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3776" y="165620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4944" y="160705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93776" y="187337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" y="182422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3776" y="209054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4944" y="204139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2336" y="2267712"/>
            <a:ext cx="1737360" cy="198882"/>
          </a:xfrm>
          <a:prstGeom prst="roundRect">
            <a:avLst>
              <a:gd name="adj" fmla="val 2298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" y="2307717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944" y="225856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3776" y="252488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4944" y="247573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93776" y="274205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4944" y="269290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3776" y="2959227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4944" y="2910078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139696" y="2367153"/>
            <a:ext cx="192024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221742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3835908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454396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072884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+ lead architect informed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186416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500616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PR · QA test exit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793492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11980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30468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48956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67444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85932" y="3611880"/>
            <a:ext cx="493776" cy="2496312"/>
          </a:xfrm>
          <a:prstGeom prst="roundRect">
            <a:avLst>
              <a:gd name="adj" fmla="val 11111"/>
            </a:avLst>
          </a:prstGeom>
          <a:solidFill>
            <a:srgbClr val="D9E8E0">
              <a:alpha val="55000"/>
            </a:srgbClr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962656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81144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99632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18120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36608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55096" y="364297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962656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62656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581144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581144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99632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199632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818120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436608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36608" y="380573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1055096" y="3805733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2962656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81144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99632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818120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818120" y="39684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9436608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055096" y="39684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962656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81144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199632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818120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36608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55096" y="413125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1055096" y="413125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962656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81144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581144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199632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199632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818120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818120" y="429402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436608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55096" y="429402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2962656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2962656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4581144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4581144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199632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199632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818120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436608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9436608" y="44567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11055096" y="445678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2962656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81144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199632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818120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7818120" y="46195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9436608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055096" y="4619549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1055096" y="46195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0" name="Text 148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2962656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962656" y="47823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4581144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4581144" y="47823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6199632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18120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818120" y="47823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9436608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055096" y="47823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2962656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2962656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4581144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581144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199632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6199632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7818120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7818120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9436608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9436608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11055096" y="494507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1055096" y="494507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2962656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81144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99632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818120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818120" y="510783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436608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055096" y="510783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1055096" y="510783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2962656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2962656" y="527060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4581144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581144" y="527060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6199632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818120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818120" y="527060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9436608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055096" y="527060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193" name="Shape 191"/>
          <p:cNvSpPr/>
          <p:nvPr/>
        </p:nvSpPr>
        <p:spPr>
          <a:xfrm>
            <a:off x="2962656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581144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199632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6199632" y="543336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7818120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436608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1055096" y="5433365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2962656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581144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99632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818120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7818120" y="5596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9436608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055096" y="559612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11055096" y="5596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209" name="Text 207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10" name="Shape 208"/>
          <p:cNvSpPr/>
          <p:nvPr/>
        </p:nvSpPr>
        <p:spPr>
          <a:xfrm>
            <a:off x="2962656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81144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4581144" y="575889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6199632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818120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7818120" y="575889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9436608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055096" y="575889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50" dirty="0"/>
          </a:p>
        </p:txBody>
      </p:sp>
      <p:sp>
        <p:nvSpPr>
          <p:cNvPr id="219" name="Text 217"/>
          <p:cNvSpPr txBox="1"/>
          <p:nvPr/>
        </p:nvSpPr>
        <p:spPr>
          <a:xfrm>
            <a:off x="276606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220" name="Text 218"/>
          <p:cNvSpPr txBox="1"/>
          <p:nvPr/>
        </p:nvSpPr>
        <p:spPr>
          <a:xfrm>
            <a:off x="4384548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221" name="Text 219"/>
          <p:cNvSpPr txBox="1"/>
          <p:nvPr/>
        </p:nvSpPr>
        <p:spPr>
          <a:xfrm>
            <a:off x="600303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222" name="Text 220"/>
          <p:cNvSpPr txBox="1"/>
          <p:nvPr/>
        </p:nvSpPr>
        <p:spPr>
          <a:xfrm>
            <a:off x="762152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223" name="Text 221"/>
          <p:cNvSpPr txBox="1"/>
          <p:nvPr/>
        </p:nvSpPr>
        <p:spPr>
          <a:xfrm>
            <a:off x="9240012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</a:t>
            </a:r>
            <a:endParaRPr lang="en-US" sz="1100" dirty="0"/>
          </a:p>
        </p:txBody>
      </p:sp>
      <p:sp>
        <p:nvSpPr>
          <p:cNvPr id="224" name="Text 222"/>
          <p:cNvSpPr txBox="1"/>
          <p:nvPr/>
        </p:nvSpPr>
        <p:spPr>
          <a:xfrm>
            <a:off x="1085850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227" name="Text 225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in progress · compliance report + test agent to build · push policy open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Kit’s core step — and where most is already done: ShAIping authors, the built ShAIping </a:t>
            </a:r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imports, the architecture standards (skills) feed the plan; A3 makes conformance a scripted verdict and the design authority signs.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73568" y="18288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82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828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0" y="18288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82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73568" y="438912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438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81160" y="438912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438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" y="1444752"/>
            <a:ext cx="212689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865376"/>
            <a:ext cx="1980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EventStorming inside a context · D ← BR ← AC ← SC ← UC · 12 scripted checks ✓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29230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30398" y="1444752"/>
            <a:ext cx="212689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03550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355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242462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803550" y="1865376"/>
            <a:ext cx="1980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✓ imports the spec (hardening: contract test) · /speckit.specify in import mode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57293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58461" y="1444752"/>
            <a:ext cx="212689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31613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31613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570525" y="1490472"/>
            <a:ext cx="8650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plan creation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31613" y="1865376"/>
            <a:ext cx="1980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before_plan: A0 domain check + context loader (standards skills) · /speckit.plan (wrapped) · after_plan: A3 conformance script + ADR draft · analyze (constitution = CRITICAL) · /speckit.tasks (wrapped) + after_tasks task guard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6171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6171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545275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45275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85355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6523" y="1444752"/>
            <a:ext cx="212689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9675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9675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898587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59675" y="1865376"/>
            <a:ext cx="1980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 on evidence: plan.md with Constitution Check + Architecture Conformance table, analyze report, ADRs · Epic → ‘Design review’ in Jira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13418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14586" y="1444752"/>
            <a:ext cx="212689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8773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8773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0226650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</a:t>
            </a:r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Jira integration via MCP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787738" y="1865376"/>
            <a:ext cx="1980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 · one-way, evidence-only · Epic ‘Design approved’ = the resume point for step 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10942" y="187452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06854" y="25786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39005" y="187452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34917" y="25786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298948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495130" y="187452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91042" y="25786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lead: design sign-off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955073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93846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465783" y="1207008"/>
            <a:ext cx="232806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465783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917143" y="1024128"/>
            <a:ext cx="34253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2336" y="2980944"/>
            <a:ext cx="11439144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2064" y="3017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12064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ShAIping’s scripted checks pass before the import ✓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import complete: every UC / SC / AC / BR / D item with its ID (contract test to confirm)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A0: domain-map version pinned; one context per feature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181344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A3: Constitution Check + Architecture Conformance table, verified by script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analyze CRITICAL = 0; tasks carry IDs; fitness-test tasks present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02336" y="3712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02336" y="3950208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493776" y="40142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specification authoring · ShAIping </a:t>
            </a:r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42032" y="40233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542032" y="40233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493776" y="4416552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DDD / EventStorming inside a bounded context; golden rule D ← BR ← AC ← SC ← UC; 12 deterministic authoring checks (FAIL blocks, WARN advises); the integration into Spec Kit is built — ShAIping stays the golden source, spec.md is what gets planned. Hardening to confirm: contract test, handover record, hash check.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33088" y="3950208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4224528" y="40142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standards as skills → rulebook (A3 input)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72784" y="40233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72784" y="40233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4224528" y="4416552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corporate architecture standards exist as a skills repository (available); binding them to the A-gates as ARCH-### rules with check bindings — loaded by the context loader before plan, referenced by the plan / tasks presets — is in progress.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02336" y="5175504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493776" y="5239512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· /speckit.tasks · /speckit.analyze — the native levers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42032" y="5248656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542032" y="52486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493776" y="5788152"/>
            <a:ext cx="3401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plan.md carries a Constitution Check ("GATE: must pass before Phase 0 research, re-check after Phase 1 design", gates determined from the constitution); analyze marks constitution conflicts and missing mandated sections CRITICAL; tasks.md by user story with [P] markers — all three read the constitution, so rules placed there are seen natively.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133088" y="5175504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80" name="Text 78"/>
          <p:cNvSpPr txBox="1"/>
          <p:nvPr/>
        </p:nvSpPr>
        <p:spPr>
          <a:xfrm>
            <a:off x="4224528" y="5239512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wiring to build: conformance script · decision ledger · task guard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72784" y="5248656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272784" y="52486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4224528" y="5788152"/>
            <a:ext cx="3401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wraps plan with an Architecture Conformance table; after_plan script verifies it (JSON verdict) and writes checklists/architecture.md; ADR drafted into the ledger; after_tasks script checks Carries: IDs and mandated fitness-test tasks. Patterns: adrkit, architect-preview, arch-governance.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402336" y="632764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(specification + code repositories) · Jira via MCP (Epic, Stories, gate notification) · CIB skill repo (specification · integration · architecture skills)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790956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909560" y="395020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019288" y="398678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8019288" y="41330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8019288" y="435254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tech lead, as design authority, signs the plan; the BA signs the specification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7909560" y="470001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releases version N of the specification (after the 12 checks)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gate — hierarchy approved after the handover validator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design authority — only if a waiver is raised → ADR in the ledger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 lead — design sign-off on evidence → signed plan + ADRs, Epic ‘Design approved’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management informed through the Jira projection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909560" y="550468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909560" y="5504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in progress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909560" y="5742432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909560" y="5742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7909560" y="5943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Handover hardening if not already in the integration: contract test, handover record, hash check on spec.md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A3 wiring: context loader (before_plan), Architecture Conformance preset wrap, conformance script (after_plan)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Decision ledger (ADR per significant decision) and task guard (after_tasks)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402336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4114800" y="64922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native Spec Kit agents are already here: implement ⇄ converge build the spec tests-first, with the checklist STOP-gate at the start; A4 adds the fitness-function runner at the end — the same script runs again in the test loop and on the pull request.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73568" y="18288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82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828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0" y="18288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82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73568" y="438912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438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81160" y="438912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438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before_implement: A0 pin check · context loader (standards) · checkout NNN-slug (Epic key in the name) · Graphify code graph refresh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41220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42388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15540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1554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854452" y="1490472"/>
            <a:ext cx="7879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implement ⇄ converge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415540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 ✓ checklist STOP-gate (checklists/architecture.md) · tasks tests-first ✓ incl. fitness test tasks · after_implement: A4 fitness runner · /speckit.converge ✓ appends unbuilt work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52088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52088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81272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82440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5592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55592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794504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355592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script runs again in the 4 ⇄ 5 workflow loop (shell + do-while, max N) · red verdict → back to implement · required checks on the PR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21324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22492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95644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95644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734556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95644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verdicts, waivers, graph checks (Graphify calls) → compliance report on the Jira Epic and the PR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61376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62544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35696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35696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674608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235696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(IDs on commits) · commits carry task + Carries: IDs · PR opened in Bitbucket, draft → ready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901428" y="199339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2596" y="1444752"/>
            <a:ext cx="173888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7574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7574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614660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175748" y="1865376"/>
            <a:ext cx="1592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approval → 5 · fitness results, review, security scan attached · QA test exit · code enters the existing CI/CD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48818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2388870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328922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268974" y="275234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+ lead architect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83140" y="187452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79052" y="25786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PR · QA test exit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51882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3211830" y="1207008"/>
            <a:ext cx="194005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211830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2663190" y="1024128"/>
            <a:ext cx="3037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02336" y="2980944"/>
            <a:ext cx="11439144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" y="3017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12064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analyze CRITICAL = 0 · every checklist in checklists/ PASS (STOP-gate)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test tasks and fitness-test tasks executed first; halt on failure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6181344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A4: fitness runner green (rulebook) — after_implement / after_converge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 converge: no unbuilt work left; no phantom completions; commits carry IDs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402336" y="3712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2336" y="3950208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493776" y="4014216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Spec Kit agents — all here today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42032" y="40233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542032" y="40233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 — available today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93776" y="4416552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/speckit.tasks: dependency-ordered tasks.md by story ([P] parallel) · /speckit.taskstoissues: GitHub issues · /speckit.analyze: read-only cross-artifact report (constitution conflicts CRITICAL) · /speckit.implement: scans every file in checklists/ and STOPs on unchecked items, runs test tasks first, halts on failure · /speckit.converge: appends unbuilt work · git ext: branch + auto-commit hooks. All verified in the repo — nothing to build.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33088" y="3950208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4224528" y="4014216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verify · verify-tasks · staff-review · worktrees · architecture-guard · blueprint-index · Graphify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272784" y="4023360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72784" y="40233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4224528" y="4562856"/>
            <a:ext cx="34015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vs spec artifacts; phantom-completion detection; spec-aware review; worktree isolation for parallel agents; architectural drift detection with refactor tasks; living architecture map with a deterministic CI gate — patterns for A4. Graphify as the code-graph provider: refresh at checkout, graph queries via MCP for the agent and the fitness checks.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02336" y="5175504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7" name="Text 75"/>
          <p:cNvSpPr txBox="1"/>
          <p:nvPr/>
        </p:nvSpPr>
        <p:spPr>
          <a:xfrm>
            <a:off x="493776" y="52395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Fitness-function runner + architecture checklist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542032" y="5248656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542032" y="52486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493776" y="5641848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speckit.arch.fitness: dependency direction, forbidden imports, boundary crossings against the context map, layering, coupling thresholds — on the code graph, JSON verdict; runs as after_implement hook, in the 4 ⇄ 5 workflow loop and as a CI check (A5 / A6). checklists/architecture.md is written by the A3 conformance script, so implement’s own native gate stops on unmet design-time items.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133088" y="5175504"/>
            <a:ext cx="3584448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4224528" y="52395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 audit ledger + permission policy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72784" y="5248656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272784" y="52486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4224528" y="5641848"/>
            <a:ext cx="34015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(which agent, under which task) changed what; permissions bounded per task; every commit carries task and requirement IDs.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402336" y="632764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(repository, PR, required checks) · Jira via MCP (Epic evidence, PR-approval-ready) · Graphify MCP (graph queries) · mvn / gradle / npm test · CIB skill repo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7909560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909560" y="395020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019288" y="398678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8019288" y="413308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8019288" y="435254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lead, with fitness results, review and security scan attached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7909560" y="470001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starts or resumes the run (specify workflow resume)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DEV at the native checklist STOP — resolve or confirm open items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escalates to the tech lead when the loop bound is hit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tech lead + lead architect informed by the compliance report on the Epic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 lead — PR approval on evidence · ◆ QA — test exit → PR + test report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909560" y="550468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909560" y="5504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in progress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909560" y="5742432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909560" y="5742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7909560" y="5943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A4 fitness-function runner on the code graph — hook, workflow loop, CI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Code-graph provider behind the seam (large / brownfield repos)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Agent audit ledger + permission policy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402336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4114800" y="64922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· the principle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A-gate is not a review slot. It is an agentic suite — agents, skills, MCPs, scripts, hooks and workflow steps assembled for one goal on one loop step — that turns the architecture rulebook into a scripted verdict, enforced at control points and signed by a named human at the boundary.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02336" y="1280160"/>
            <a:ext cx="7543800" cy="3611880"/>
          </a:xfrm>
          <a:prstGeom prst="roundRect">
            <a:avLst>
              <a:gd name="adj" fmla="val 2025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35024"/>
            <a:ext cx="7324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Anatomy of an A-gate — </a:t>
            </a:r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agentic suite per loop step: policy elements feed both the maker and the checker; control elements make the verdict binding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12064" y="1609344"/>
            <a:ext cx="1664208" cy="317296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47088" y="1682496"/>
            <a:ext cx="237744" cy="237744"/>
          </a:xfrm>
          <a:prstGeom prst="ellipse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7088" y="1682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1673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— what the suite obeys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121408"/>
            <a:ext cx="148132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rulebook: the corporate standards as skills → ARCH-### rules with severity, scope (plan · design · code · runtime) and a check binding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design: bounded contexts, context map, glossary, owners — every spec and plan pins domain-map@version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Constitution: the rulebook is NON-NEGOTIABLE; features live in one bounded context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ledger: ADRs; waivers only with owner, evidence and expiry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32304" y="1609344"/>
            <a:ext cx="1664208" cy="317296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1682496"/>
            <a:ext cx="237744" cy="23774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1682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523744" y="1673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— agents that produce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2121408"/>
            <a:ext cx="148132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commands on the coding agent: specify (import) · plan · tasks · implement ⇄ converge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agents: ShAIping (authoring), Proposer (findings → [PROPOSED])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Presets shape what plan / tasks must contain; the context loader puts rulebook, domain map and ADRs in front of the agent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 via MCP: Bitbucket · Jira (Speckit2Jira) · Graphify (code graph)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52544" y="1609344"/>
            <a:ext cx="1664208" cy="317296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7568" y="1682496"/>
            <a:ext cx="237744" cy="237744"/>
          </a:xfrm>
          <a:prstGeom prst="ellipse">
            <a:avLst/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682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43984" y="1673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6B4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 — the guardrails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2121408"/>
            <a:ext cx="148132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 command + deterministic script → JSON verdict (satisfied · waiver · violations · rules_skipped)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ShAIping's 12 checks · handover validator · A3 check-plan + task guard · A4 fitness runner · A5 evidence gate · A7 Assessor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verdict is an exit code, not an opinion; a waiver counts only from the ledger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72784" y="1609344"/>
            <a:ext cx="1664208" cy="317296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07808" y="1682496"/>
            <a:ext cx="237744" cy="237744"/>
          </a:xfrm>
          <a:prstGeom prst="ellipse">
            <a:avLst/>
          </a:prstGeom>
          <a:solidFill>
            <a:srgbClr val="B36B00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07808" y="1682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167335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CONTROL — where it binds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2121408"/>
            <a:ext cx="148132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 — agent-dispatched, convenient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shell gate — orchestration, hard (do-while, max N)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status check — the property line (A6), pipeline unchanged</a:t>
            </a:r>
            <a:endParaRPr lang="en-US" sz="9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gate at the boundary — named role, evidence in front of them, decision recorded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76272" y="319582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993392" y="290322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same rules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96512" y="319582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913632" y="290322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artefact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16752" y="319582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833872" y="290322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183880" y="128016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11896" y="135331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· CHECKER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1536192"/>
            <a:ext cx="34015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A-gate pairs a maker with a checker. An agent produces the artefact under the policy; a deterministic script verifies it against the same policy; the verdict is enforced at up to three control points and put in front of a named human at the boundary. Inside the iteration no human waits — between iterations no agent decides.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83880" y="2761488"/>
            <a:ext cx="3657600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311896" y="28346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 ≠ gate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3072384"/>
            <a:ext cx="34015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guardrail is one checker inside the suite: an extension command with a script and a verdict, attached to a hook.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A-gate composes several guardrails with its policy and control elements — and one guardrail serves several gates: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conformance script runs at A3 and again as a PR check at A6; the fitness runner at A4, in the A5 loop and at A6. </a:t>
            </a:r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a 1 : 1 relation.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2336" y="5047488"/>
            <a:ext cx="1143914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" y="51023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Example · A3 plan conformance — </a:t>
            </a:r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anatomy, filled in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12064" y="532180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(standards as skills) · domain map pinned · constitution article · ledger for ADRs and waivers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432304" y="532180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wrapped by the preset (Architecture Conformance table) · context loader before it · /speckit.tasks with Carries: IDs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352544" y="532180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Checkers 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check-plan script → conformance verdict + checklists/architecture.md · task guard · analyze CRITICAL = 0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272784" y="532180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Control 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after_plan hook → workflow shell gate → CI required check (A6)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93608" y="5376672"/>
            <a:ext cx="310896" cy="31089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95944" y="5321808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 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design authority signs the plan on the conformance verdict, the ADRs and the analyze report → signed plan version + ADRs; a waiver only through the ledger, with owner and expiry.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02336" y="6199632"/>
            <a:ext cx="11439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it lands: plan.md conformance table · checklists/architecture.md · PR status checks · findings.json · decision ledger · KPI view (conformance rate per A-gate, findings aging, waiver debt).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⟲ bounded loop   A0–A7 = architecture gates, one per loop step, numbered by the step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– A7 · what each gate is for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architecture checkpoint per step of the loop. Each has a goal, takes something in, produces something checked, and a named person decides on evidence — scripts check inside the step, people sign at the boundary.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0" y="18288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0" y="182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76688" y="18288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76688" y="182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09376" y="182880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09376" y="18288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457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 named person decides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31136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31136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Everyone builds inside one agreed map of the business domains.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business capability map, owners, the architecture rulebook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versioned domain map every requirement, specification and plan refers to; a domain change is a controlled change with a known impact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domain owner; the architecture review board for structural changes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00984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92424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2424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831336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9784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9784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3392424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requirement without a home and an owner.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92424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needs, regulation, feedback and findings from the running system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requirements assigned to a domain and an owner, with durable IDs; improvement proposals from the last run accepted or rejected — never applied silently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owner; the lead architect co-signs the domain assignment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9632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729984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28432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28432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 an iteration knowing its architecture debt and dependencies.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requirements, capacity, debt items found in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iteration charter: scope by domain, owners, debt items with evidence, exit criteria — the master gate that starts the next turn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steering board with the lead architect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8280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8972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628632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27080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27080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plan follows the architecture standards before any code exists.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specification signed by the business analyst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plan with a conformance verdict, decisions recorded, tasks traceable to requirements; exceptions only as recorded waivers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(tech lead) signs the plan on the evidence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3776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32688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31136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231136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493776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the boundaries the rules forbid.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93776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plan and its tasks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built test-first, checked at every edit, with a fitness verdict green or waived; every commit traceable to a task and a requirement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nobody waits — automatic; the developer only if the checklist stops the run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00984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392424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392424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831336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29784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129784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3392424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Proof, not opinion, at test exit.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3392424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built code and its tests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deterministic test verdict with a requirement → test matrix; the architecture fitness re-run attached to the pull request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QA lead with the tech lead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99632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91072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9107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729984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28432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028432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6291072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Nothing enters the pipeline without the same checks green.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291072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pull request with its evidence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required checks passed on the pull request — the same scripts as inside the loop; the delivery pipeline itself is unchanged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approves the pull request; release approval as today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098280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189720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897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9628632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927080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927080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9189720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running system is measured against the same rules — findings become proposals.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9189720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delivered system, the rulebook and the domain map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with evidence, turned into proposed requirement or domain changes that people accept or reject at the next turn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business owner of the domain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2336" y="6053328"/>
            <a:ext cx="11439144" cy="365760"/>
          </a:xfrm>
          <a:prstGeom prst="roundRect">
            <a:avLst>
              <a:gd name="adj" fmla="val 1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30352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one-line answer: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is checked by scripts at every step and signed by named people at the boundaries — nothing built inside the loop can drift from the rules without a recorded, expiring exception.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402336" y="6492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number = loop step · A0 sits at the hub, where the domain map lives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4206240" y="6492240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Spec Kit as the spine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for spec-driven development and attach to it — build the policy and the gates, not another SDLC engine. And nothing in the A-gates is married to the spine: the same agentic suite re-binds to any SDD process that exposes the same seams.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02336" y="1234440"/>
            <a:ext cx="3657600" cy="43159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167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— not rebuild 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609344"/>
            <a:ext cx="34381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Proven and open.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 Spec Kit: 10 core commands delivered to 30+ agent integrations; facts verified against the repository; an ecosystem of 154 community extensions and 31 presets as patterns.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levers reused as-is.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Check gate · analyze (constitution conflicts CRITICAL) · checklist STOP-gate · tests-first implement · converge · git extension · workflows with human gates and resumable state — nothing to build where the spine already has it.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 today rides on it.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and the built ShAIping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integration, the architecture standards as a skills repository, the Architecture Assessor (A7) — all attach to the spine instead of replacing it.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Upgrade-safe.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requires.speckit_version pinned + a conformance test on upgrade; there is no fork, so there is no fork cost.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06240" y="1234440"/>
            <a:ext cx="3346704" cy="4315968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15968" y="131673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attach — without forking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645920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18836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composes templates and commands (append · wrap around {CORE_TEMPLATE}) — shapes what plan and tasks must contain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15968" y="2542032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2542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7797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commands + deterministic scripts + config, attached to 20 lifecycle hooks (before / after × 10 commands)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15968" y="3438144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34381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67588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orchestration: gate · shell · if · do-while steps, state persisted, resumable (specify workflow resume)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15968" y="433425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15968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Bundle + private catalog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457200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+ extension + workflow installed in one step, versions pinned (sha256), air-gap friendly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51389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Everything corporate ships as our own packages — verified in the sandbox (17 Aug 2026): preset composition, extension hooks, workflow with gates, offline bundle, installed and exercised.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699248" y="1234440"/>
            <a:ext cx="4142232" cy="4315968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08976" y="131673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it can change — the A-gates are portable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27264" y="1627632"/>
            <a:ext cx="388620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27264" y="1627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suite = policy · maker · checker · control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33018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lifecycle hook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61034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65606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gate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093622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098194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check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827264" y="2322576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27264" y="2322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— the spine today (hooks · workflow · PR)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27264" y="2670048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B5C3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827264" y="2670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any SDD process with the same seams: lifecycle hooks · pipeline steps · PR checks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827264" y="3072384"/>
            <a:ext cx="3886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is ours, host-free.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rulebook (standards as skills), the domain master design, the constitution article and the decision ledger live in our repositories — no Spec Kit dependency.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Checkers run anywhere.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are deterministic scripts with a JSON verdict — the same script in a hook, a workflow step or a CI job.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Providers behind the contract seam.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 authoring (ShAIping) and the code graph (Graphify) swap independently of the spine.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cost = re-binding the control points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not rebuilding policy, checkers or evidence.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2336" y="5742432"/>
            <a:ext cx="11439144" cy="512064"/>
          </a:xfrm>
          <a:prstGeom prst="roundRect">
            <a:avLst>
              <a:gd name="adj" fmla="val 10714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5742432"/>
            <a:ext cx="11201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owns what: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owns the specification and its checks · Spec Kit owns plan, tasks, analyze, implement ⇄ converge and the workflow with the human gates · the architecture rulebook is ours and applies to the plan, not the specification · CI/CD and operations stay unchanged.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A0–A7 = architecture gates · the suite = policy + maker + checker + control (slide 5)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· the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Sequenced by what each item unlocks, not by effort. Every item is a script with a verdict plus the artifact humans decide on; ecosystem pieces are reused where they fit — the gate code is ours.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92640" y="201168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0" y="201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7548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chip = which gate the item completes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2336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binding + A3 wiring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23744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23744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" y="1737360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ARCH-### binding of the standards skills; context loader (before_plan); plan wrap + check-plan (after_plan) → checklists/architecture.md; decision ledger; task guard (after_tasks)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constrains the plan before code exists; implement cannot start on unmet design items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skills (available) · Constitution Check · analyze CRITICAL · implement checklist gate · adrkit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45536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00984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92424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92424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39896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 + A0 guard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22392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22392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3392424" y="1737360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map, context map, glossary, owners; constitution article; speckit.domain.check (version pin, context) on before_plan / before_implement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“where are the domains”; no orphan features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· memory-loader · charter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44184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9632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9107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38544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fitness runner + code graph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21040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1737360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speckit.arch.fitness on after_implement / after_converge, in the 4 ⇄ 5 do-while and as PR check; fitness-test tasks via the tasks preset; code-graph provider behind the seam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boundaries the map forbids; verdict identical in hook, loop and CI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architecture-guard · blueprint-index · Graphify / AST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42832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89720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537192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change control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219688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219688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1737360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speckit.domain.change impact report, change classes, gate, re-validation runner, glossary guard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“what happens when we change them”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hooks · workflow gate · trace graph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2336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377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 → A1 Proposer re-entry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23744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23744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A7→A1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93776" y="4078224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speckit.arch.propose: findings → [PROPOSED] changes into the requirements repository / Step 0; workflow with the human gate; A1 repository check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loop closes: findings become requirements, never silent debt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Assessor (available) · assess ext · trace graph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45536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300984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392424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9242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3739896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Waiver agent + audit ledger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22392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22392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gates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3392424" y="4078224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speckit.arch.waive (owner, evidence, expiry) consulted by every A-gate script; agent action ledger with IDs on commits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exceptions are explicit and expire; every change is attributable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 commit hooks · decision ledger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44184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199632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91072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91072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638544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/ A6 evidence + PR checks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21040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321040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· A6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291072" y="4078224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 evidence gate (results + manifest + fitness → JSON verdict for the loop); NFR tests from Success Criteria; required PR status checks with the same scripts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architecture’s promises are proven before code enters the pipeline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trace · v-model · workflow do-while · CI status checks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942832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098280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189720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897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537192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 charter check · KPIs · handover hardening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1219688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219688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9189720" y="4078224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iteration charter + decision records with the cross-context dependency check; KPI view (conformance per A-gate, findings aging, waiver debt); confirm contract test / handover record in the integration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master gate has evidence; the architect has numbers; the import is provably complete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roadmap · scope · workflow inputs · built integration (Speckit2Jira for the KPI view — to confirm)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02336" y="6053328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30352" y="605332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 today and reused throughout:  </a:t>
            </a:r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(specification authoring, 12 scripted checks) · ShAIping </a:t>
            </a:r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Spec Kit integration · architecture standards as a skills repository · Architecture Assessor (A7, between 7 and 1) · Spec Kit spine on 3–4 (10 commands, 20 hooks, workflows with human gates, presets / extensions / bundles) · existing CI/CD and operations, untouched · 154 community extensions and 31 presets as patterns.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→ 8 sequenced by dependency and leverage · no effort estimates by design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– A7 · one gate per turn of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loop, its seven steps and the domain map at the hub. Each A-gate in one line: what it protects and who decides — diamond colour = status.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88920" y="2212848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09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30168" y="3054096"/>
            <a:ext cx="1426464" cy="1426464"/>
          </a:xfrm>
          <a:prstGeom prst="ellipse">
            <a:avLst/>
          </a:prstGeom>
          <a:solidFill>
            <a:srgbClr val="EEF4F1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9664" y="3200400"/>
            <a:ext cx="347472" cy="347472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9664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58444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agreed map of the domains · owned by the lead architect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71900" y="20665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71900" y="20665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78808" y="1682496"/>
            <a:ext cx="329184" cy="329184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78808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1795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requirement without a home and an owner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business owner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7241" y="265182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7241" y="265182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3586" y="2163474"/>
            <a:ext cx="329184" cy="329184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3586" y="21634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388420" y="179826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 the iteration knowing its debt and dependencies</a:t>
            </a:r>
            <a:endParaRPr lang="en-US" sz="9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steering board + lead architect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7406" y="3966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7406" y="39669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78863" y="4127709"/>
            <a:ext cx="329184" cy="329184"/>
          </a:xfrm>
          <a:prstGeom prst="diamond">
            <a:avLst/>
          </a:prstGeom>
          <a:solidFill>
            <a:srgbClr val="D28E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8863" y="41277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954325" y="407193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plan follows the standards before code exists</a:t>
            </a:r>
            <a:endParaRPr lang="en-US" sz="9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design authority (tech lead)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46364" y="502156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46364" y="502156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12410" y="5541380"/>
            <a:ext cx="329184" cy="329184"/>
          </a:xfrm>
          <a:prstGeom prst="diamond">
            <a:avLst/>
          </a:prstGeom>
          <a:solidFill>
            <a:srgbClr val="D28E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2410" y="55413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389979" y="573375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the boundaries the rules forbid</a:t>
            </a:r>
            <a:endParaRPr lang="en-US" sz="9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automatic; DEV only at a STOP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97436" y="502156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97436" y="502156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5206" y="5541380"/>
            <a:ext cx="329184" cy="329184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45206" y="55413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833781" y="573375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Proof, not opinion, at test exit</a:t>
            </a:r>
            <a:endParaRPr lang="en-US" sz="9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QA lead with the tech lead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56394" y="3966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56394" y="39669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78753" y="4127709"/>
            <a:ext cx="329184" cy="329184"/>
          </a:xfrm>
          <a:prstGeom prst="diamond">
            <a:avLst/>
          </a:prstGeom>
          <a:solidFill>
            <a:srgbClr val="B23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78753" y="41277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269435" y="407193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Nothing enters the pipeline without the same checks green</a:t>
            </a:r>
            <a:endParaRPr lang="en-US" sz="9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tech lead — PR approval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56559" y="265182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56559" y="265182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74030" y="2163474"/>
            <a:ext cx="329184" cy="329184"/>
          </a:xfrm>
          <a:prstGeom prst="diamond">
            <a:avLst/>
          </a:prstGeom>
          <a:solidFill>
            <a:srgbClr val="1E9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74030" y="21634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835340" y="179826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become proposals, not silent debt</a:t>
            </a:r>
            <a:endParaRPr lang="en-US" sz="9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lead architect + business owner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02336" y="122529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— Everyone builds inside one agreed map of the domains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lead architect + domain owner; the review board for structural changes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1280160"/>
            <a:ext cx="3337560" cy="932688"/>
          </a:xfrm>
          <a:prstGeom prst="roundRect">
            <a:avLst>
              <a:gd name="adj" fmla="val 6863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13648" y="1335024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Reading the wheel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631936" y="1591056"/>
            <a:ext cx="201168" cy="201168"/>
          </a:xfrm>
          <a:prstGeom prst="diamond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87968" y="1591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683496" y="1591056"/>
            <a:ext cx="201168" cy="201168"/>
          </a:xfrm>
          <a:prstGeom prst="diamond">
            <a:avLst/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939528" y="1591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735056" y="1591056"/>
            <a:ext cx="201168" cy="201168"/>
          </a:xfrm>
          <a:prstGeom prst="diamond">
            <a:avLst/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991088" y="1591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613648" y="18653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 named person decides at the boundary — inside the step, scripts decide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503920" y="2340864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613648" y="239572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each turn transforms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613648" y="2651760"/>
            <a:ext cx="31181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Steps 1 – 2 · the business loop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needs → requirements with a domain and an owner → an iteration charter with known debt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Steps 3 – 4 · the delivery iteration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signed specification → a plan with a conformance verdict → code built test-first, checked at every edit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Steps 5 – 6 · the exit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deterministic test verdict → a pull request with the same checks green → the existing pipeline, unchanged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7 → 1 · the return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running system measured against the rules → findings with evidence → proposals a person accepts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503920" y="5760720"/>
            <a:ext cx="3337560" cy="640080"/>
          </a:xfrm>
          <a:prstGeom prst="roundRect">
            <a:avLst>
              <a:gd name="adj" fmla="val 8571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613648" y="576072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line: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checked by scripts at every step, signed by named people at the boundaries — nothing drifts from the rules without a recorded, expiring exception.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number = loop step · humans turn the loop · the hub is the domain map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Spec Kit as the spine — in one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we attach above the spine, what we own below it — and how the same plugs fit another SDD process.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1261872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 ATTACH — WITHOUT FORKING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02336" y="1481328"/>
            <a:ext cx="173964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15567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shapes what plan · tasks must contain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72159" y="2084832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06574" y="1481328"/>
            <a:ext cx="173964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98014" y="1527048"/>
            <a:ext cx="15567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 + 20 hooks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commands · scripts → JSON verdict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6397" y="2084832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10812" y="1481328"/>
            <a:ext cx="173964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02252" y="1527048"/>
            <a:ext cx="15567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gate · shell · do-while, resumable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80635" y="2084832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15050" y="1481328"/>
            <a:ext cx="1739646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06490" y="1527048"/>
            <a:ext cx="15567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Bundle + private catalog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one-step install, versions pinned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84873" y="2084832"/>
            <a:ext cx="0" cy="292608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" y="2395728"/>
            <a:ext cx="7452360" cy="457200"/>
          </a:xfrm>
          <a:prstGeom prst="roundRect">
            <a:avLst>
              <a:gd name="adj" fmla="val 16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23037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specify (import)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3037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5841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clarify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5841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8645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8645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449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tasks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1449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4253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analyze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4253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7057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implement ⇄ converge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7057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861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(shell)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861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26656" y="2395728"/>
            <a:ext cx="82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· CI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26656" y="2487168"/>
            <a:ext cx="0" cy="274320"/>
          </a:xfrm>
          <a:prstGeom prst="line">
            <a:avLst/>
          </a:prstGeom>
          <a:noFill/>
          <a:ln w="9525">
            <a:solidFill>
              <a:srgbClr val="0091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366" y="2852928"/>
            <a:ext cx="0" cy="530352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402336" y="3401568"/>
            <a:ext cx="138805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75488" y="3447288"/>
            <a:ext cx="1241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standards as skills → ARCH-### rules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12441" y="2852928"/>
            <a:ext cx="0" cy="530352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1918411" y="3401568"/>
            <a:ext cx="138805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991563" y="3447288"/>
            <a:ext cx="1241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contexts · context map · glossary · owners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28516" y="2852928"/>
            <a:ext cx="0" cy="530352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3434486" y="3401568"/>
            <a:ext cx="138805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3507638" y="3447288"/>
            <a:ext cx="1241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ADRs · waivers with owner and expiry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44591" y="2852928"/>
            <a:ext cx="0" cy="530352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4950562" y="3401568"/>
            <a:ext cx="138805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5023714" y="3447288"/>
            <a:ext cx="1241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 authoring, 12 checks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60666" y="2852928"/>
            <a:ext cx="0" cy="530352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6466637" y="3401568"/>
            <a:ext cx="138805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6539789" y="3447288"/>
            <a:ext cx="12417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50" dirty="0"/>
          </a:p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graph behind the contract seam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02336" y="2889504"/>
            <a:ext cx="51206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" rIns="508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— the spine on steps 3 – 4 · 10 commands · 20 hooks · workflows with human gates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02336" y="3163824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" rIns="508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 OWN — POLICY AND PROVIDERS, NO SPEC KIT DEPENDENCY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02336" y="4443984"/>
            <a:ext cx="7452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0B5C3F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402336" y="4443984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ANY SDD PROCESS with the same seams — lifecycle hooks · pipeline steps · PR checks — takes the same plugs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43761" y="4059936"/>
            <a:ext cx="0" cy="384048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128516" y="4059936"/>
            <a:ext cx="0" cy="384048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513271" y="4059936"/>
            <a:ext cx="0" cy="384048"/>
          </a:xfrm>
          <a:prstGeom prst="line">
            <a:avLst/>
          </a:prstGeom>
          <a:noFill/>
          <a:ln w="12700">
            <a:solidFill>
              <a:srgbClr val="0B5C3F"/>
            </a:solidFill>
            <a:prstDash val="sysDot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402336" y="4864608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cost = re-binding three control points (hook · workflow gate · CI check) — policy, checkers, providers and evidence unchanged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2336" y="5138928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2064" y="5138928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levers reused as-is: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Check gate · analyze (constitution conflicts CRITICAL) · checklist STOP-gate · tests-first implement · converge · git extension · workflows with human gates and resumable state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092440" y="1316736"/>
            <a:ext cx="402336" cy="402336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9244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604504" y="12801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Proven and open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8604504" y="1609344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 Spec Kit: 10 core commands, 30+ agent integrations, 154 community extensions and 31 presets as patterns — facts verified against the repository.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092440" y="2779776"/>
            <a:ext cx="402336" cy="402336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09244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8604504" y="2743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Attach, don't fork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604504" y="3072384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Everything corporate ships as our own packages through presets, extensions, workflows and bundles; requires.speckit_version pinned, a conformance test on upgrade — no fork, no fork cost.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92440" y="4242816"/>
            <a:ext cx="402336" cy="402336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09244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8604504" y="42062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Portable by design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8604504" y="4535424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artifacts and checkers have no Spec Kit dependency; the three control points exist in any SDD host; providers sit behind the contract seam.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02336" y="5779008"/>
            <a:ext cx="11439144" cy="512064"/>
          </a:xfrm>
          <a:prstGeom prst="roundRect">
            <a:avLst>
              <a:gd name="adj" fmla="val 10714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0352" y="5779008"/>
            <a:ext cx="11201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owns what: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owns the specification and its checks · Spec Kit owns plan, tasks, analyze, implement ⇄ converge and the workflow with the human gates · the architecture rulebook is ours and applies to the plan, not the specification · CI/CD and operations stay unchanged.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suite = policy + maker + checker + control (slide 5) · A0–A7 = architecture gates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· four waves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eight items, grouped by what each wave unlocks — and the A-gates turning from red to amber to green as the waves land.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2336" y="1280160"/>
            <a:ext cx="1828800" cy="4407408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3716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16459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baseline we attach to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066544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ShAIping + its Spec Kit integration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architecture standards as skills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Architecture Assessor (A7)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Spec Kit spine on 3 – 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48646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today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9788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92124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2124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394460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94460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796796" y="5084064"/>
            <a:ext cx="246888" cy="246888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96796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89788" y="5358384"/>
            <a:ext cx="246888" cy="246888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92124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394460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94460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796796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96796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377440" y="1280160"/>
            <a:ext cx="2256282" cy="440740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487168" y="1371600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1 · a verdict on the plan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1645920"/>
            <a:ext cx="203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turns what is available into a scripted A3 verdict fastest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87168" y="20665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21762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6032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871216" y="21214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binding + A3 wiring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66794" y="22037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66794" y="22037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25237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constrains the plan before code exists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33722" y="348386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487168" y="4864608"/>
            <a:ext cx="203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18327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18327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127534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27534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636740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36740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145947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45947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618327" y="5358384"/>
            <a:ext cx="246888" cy="246888"/>
          </a:xfrm>
          <a:prstGeom prst="diamond">
            <a:avLst/>
          </a:prstGeom>
          <a:solidFill>
            <a:srgbClr val="D28E1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18327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127534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127534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36740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36740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145947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45947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780026" y="1280160"/>
            <a:ext cx="2256282" cy="440740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4889754" y="1371600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2 · domains and code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889754" y="1645920"/>
            <a:ext cx="203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map and the code obey the same rulebook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89754" y="20665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62906" y="21762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962906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273802" y="21214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 + A0 guard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69380" y="22037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69380" y="22037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4962906" y="25237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“where are the domains”; no orphan features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89754" y="29809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62906" y="30906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962906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273802" y="30358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fitness runner + code graph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69380" y="31181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469380" y="31181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70" name="Text 68"/>
          <p:cNvSpPr txBox="1"/>
          <p:nvPr/>
        </p:nvSpPr>
        <p:spPr>
          <a:xfrm>
            <a:off x="4962906" y="34381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boundaries the map forbids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036308" y="348386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889754" y="4864608"/>
            <a:ext cx="203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020913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020913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530120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530120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6039326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039326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548533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548533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020913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020913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530120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530120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039326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039326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6548533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48533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182612" y="1280160"/>
            <a:ext cx="2256282" cy="440740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90" name="Text 88"/>
          <p:cNvSpPr txBox="1"/>
          <p:nvPr/>
        </p:nvSpPr>
        <p:spPr>
          <a:xfrm>
            <a:off x="7292340" y="1371600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3 · close the loop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292340" y="1645920"/>
            <a:ext cx="203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change control, re-entry and waivers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92340" y="20665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5492" y="21762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365492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7676388" y="21214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change control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871966" y="22037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871966" y="22037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98" name="Text 96"/>
          <p:cNvSpPr txBox="1"/>
          <p:nvPr/>
        </p:nvSpPr>
        <p:spPr>
          <a:xfrm>
            <a:off x="7365492" y="25237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“what happens when we change them”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292340" y="29809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65492" y="30906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365492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7676388" y="30358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 → A1 Proposer re-entry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871966" y="31181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871966" y="31181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A7→A1</a:t>
            </a:r>
            <a:endParaRPr lang="en-US" sz="650" dirty="0"/>
          </a:p>
        </p:txBody>
      </p:sp>
      <p:sp>
        <p:nvSpPr>
          <p:cNvPr id="105" name="Text 103"/>
          <p:cNvSpPr txBox="1"/>
          <p:nvPr/>
        </p:nvSpPr>
        <p:spPr>
          <a:xfrm>
            <a:off x="7365492" y="34381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become requirements, never silent debt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292340" y="38953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65492" y="40050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365492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7676388" y="39502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Waiver agent + audit ledger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8871966" y="40325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871966" y="40325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</a:t>
            </a:r>
            <a:endParaRPr lang="en-US" sz="650" dirty="0"/>
          </a:p>
        </p:txBody>
      </p:sp>
      <p:sp>
        <p:nvSpPr>
          <p:cNvPr id="112" name="Text 110"/>
          <p:cNvSpPr txBox="1"/>
          <p:nvPr/>
        </p:nvSpPr>
        <p:spPr>
          <a:xfrm>
            <a:off x="7365492" y="43525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exceptions are explicit and expire; every change is attributable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9438894" y="3483864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14" name="Text 112"/>
          <p:cNvSpPr txBox="1"/>
          <p:nvPr/>
        </p:nvSpPr>
        <p:spPr>
          <a:xfrm>
            <a:off x="7292340" y="4864608"/>
            <a:ext cx="203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423499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7423499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932706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7932706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8441912" y="508406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8441912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8951119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8951119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7423499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423499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7932706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932706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8441912" y="5358384"/>
            <a:ext cx="246888" cy="246888"/>
          </a:xfrm>
          <a:prstGeom prst="diamond">
            <a:avLst/>
          </a:prstGeom>
          <a:solidFill>
            <a:srgbClr val="B23A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441912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951119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951119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9585198" y="1280160"/>
            <a:ext cx="2256282" cy="4407408"/>
          </a:xfrm>
          <a:prstGeom prst="roundRect">
            <a:avLst>
              <a:gd name="adj" fmla="val 324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2" name="Text 130"/>
          <p:cNvSpPr txBox="1"/>
          <p:nvPr/>
        </p:nvSpPr>
        <p:spPr>
          <a:xfrm>
            <a:off x="9694926" y="1371600"/>
            <a:ext cx="203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4 · harden the evidence</a:t>
            </a:r>
            <a:endParaRPr lang="en-US" sz="1100" dirty="0"/>
          </a:p>
        </p:txBody>
      </p:sp>
      <p:sp>
        <p:nvSpPr>
          <p:cNvPr id="133" name="Text 131"/>
          <p:cNvSpPr txBox="1"/>
          <p:nvPr/>
        </p:nvSpPr>
        <p:spPr>
          <a:xfrm>
            <a:off x="9694926" y="1645920"/>
            <a:ext cx="203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 at test exit, the master gate with numbers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9694926" y="20665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768078" y="21762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9768078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10078974" y="21214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/ A6 evidence + PR checks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1274552" y="22037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1274552" y="22037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A5·A6</a:t>
            </a:r>
            <a:endParaRPr lang="en-US" sz="650" dirty="0"/>
          </a:p>
        </p:txBody>
      </p:sp>
      <p:sp>
        <p:nvSpPr>
          <p:cNvPr id="140" name="Text 138"/>
          <p:cNvSpPr txBox="1"/>
          <p:nvPr/>
        </p:nvSpPr>
        <p:spPr>
          <a:xfrm>
            <a:off x="9768078" y="25237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architecture’s promises are proven before the pipeline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9694926" y="2980944"/>
            <a:ext cx="2036826" cy="841248"/>
          </a:xfrm>
          <a:prstGeom prst="roundRect">
            <a:avLst>
              <a:gd name="adj" fmla="val 6522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768078" y="3090672"/>
            <a:ext cx="256032" cy="25603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9768078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1000" dirty="0"/>
          </a:p>
        </p:txBody>
      </p:sp>
      <p:sp>
        <p:nvSpPr>
          <p:cNvPr id="144" name="Text 142"/>
          <p:cNvSpPr txBox="1"/>
          <p:nvPr/>
        </p:nvSpPr>
        <p:spPr>
          <a:xfrm>
            <a:off x="10078974" y="3035808"/>
            <a:ext cx="1085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 charter check · KPIs · handover hardening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11274552" y="3118104"/>
            <a:ext cx="420624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1274552" y="311810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147" name="Text 145"/>
          <p:cNvSpPr txBox="1"/>
          <p:nvPr/>
        </p:nvSpPr>
        <p:spPr>
          <a:xfrm>
            <a:off x="9768078" y="3438144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master gate has evidence; the architect has numbers</a:t>
            </a:r>
            <a:endParaRPr lang="en-US" sz="800" dirty="0"/>
          </a:p>
        </p:txBody>
      </p:sp>
      <p:sp>
        <p:nvSpPr>
          <p:cNvPr id="148" name="Text 146"/>
          <p:cNvSpPr txBox="1"/>
          <p:nvPr/>
        </p:nvSpPr>
        <p:spPr>
          <a:xfrm>
            <a:off x="9694926" y="4864608"/>
            <a:ext cx="20368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after this wave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9826085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9826085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10335292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0335292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10844498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0844498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11353705" y="508406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1353705" y="5084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9826085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9826085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10335292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0335292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10844498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0844498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11353705" y="5358384"/>
            <a:ext cx="246888" cy="246888"/>
          </a:xfrm>
          <a:prstGeom prst="diamond">
            <a:avLst/>
          </a:prstGeom>
          <a:solidFill>
            <a:srgbClr val="1E9A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1353705" y="53583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512064" y="5760720"/>
            <a:ext cx="182880" cy="182880"/>
          </a:xfrm>
          <a:prstGeom prst="diamond">
            <a:avLst/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749808" y="5760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1700784" y="5760720"/>
            <a:ext cx="182880" cy="182880"/>
          </a:xfrm>
          <a:prstGeom prst="diamond">
            <a:avLst/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938528" y="5760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2889504" y="5760720"/>
            <a:ext cx="182880" cy="182880"/>
          </a:xfrm>
          <a:prstGeom prst="diamond">
            <a:avLst/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127248" y="5760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850" dirty="0"/>
          </a:p>
        </p:txBody>
      </p:sp>
      <p:sp>
        <p:nvSpPr>
          <p:cNvPr id="171" name="Text 169"/>
          <p:cNvSpPr txBox="1"/>
          <p:nvPr/>
        </p:nvSpPr>
        <p:spPr>
          <a:xfrm>
            <a:off x="4206240" y="574243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wave → gate mapping follows the item chips on slide 8 (1 → A3, 2 → A0, 3 → A4, 4 → A0, 5 → A7 → A1, 6 → all gates, 7 → A5 · A6, 8 → A2) · sequenced by dependency and leverage, no effort estimates by design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402336" y="6053328"/>
            <a:ext cx="11439144" cy="365760"/>
          </a:xfrm>
          <a:prstGeom prst="roundRect">
            <a:avLst>
              <a:gd name="adj" fmla="val 1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30352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item =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script with a verdict plus the artifact humans decide on; ecosystem pieces reused where they fit — the gate code is ours.</a:t>
            </a:r>
            <a:endParaRPr lang="en-US" sz="950" dirty="0"/>
          </a:p>
        </p:txBody>
      </p:sp>
      <p:sp>
        <p:nvSpPr>
          <p:cNvPr id="174" name="Text 172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→ 8 as on slide 8 · Build / Protects / Builds on details stay on slide 8</a:t>
            </a:r>
            <a:endParaRPr lang="en-US" sz="750" dirty="0"/>
          </a:p>
        </p:txBody>
      </p:sp>
      <p:sp>
        <p:nvSpPr>
          <p:cNvPr id="175" name="Text 173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 — who does what, where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five steps as a cross-functional flow: humans, agents, tools reached via MCP and the skills each step obeys — the main path, the bounded loop and the decisions.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1298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3776" y="156705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51790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" y="178422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173507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" y="200139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95224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" y="2178558"/>
            <a:ext cx="1737360" cy="198882"/>
          </a:xfrm>
          <a:prstGeom prst="roundRect">
            <a:avLst>
              <a:gd name="adj" fmla="val 2298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2218563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216941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" y="243573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38658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" y="265290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260375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" y="287007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" y="282092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" y="308724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303809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3566160"/>
            <a:ext cx="1737360" cy="2011680"/>
          </a:xfrm>
          <a:prstGeom prst="roundRect">
            <a:avLst>
              <a:gd name="adj" fmla="val 3158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" y="3639312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run pauses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▭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 action (in-house · Spec Kit · Speckit2Jira · Graphify)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■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 reached via MCP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◌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from the CIB skill repo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→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 path · ⟲ bounded loop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1773936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9152" y="17739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analyst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2286000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59152" y="22860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design authority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2798064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59152" y="279806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Delivery team (DEV)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3310128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59152" y="331012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agents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0" y="3310128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822192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59152" y="382219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4334256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9152" y="43342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0" y="4846320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59152" y="48463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 (MCP)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0" y="4846320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358384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59152" y="535838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 (MCP)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0" y="5870448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59152" y="587044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0" y="5870448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1298448"/>
            <a:ext cx="15179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9534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89534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4261104" y="1325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9824" y="1298448"/>
            <a:ext cx="15179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04688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04688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870448" y="1325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04104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7059168" y="1298448"/>
            <a:ext cx="15179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14032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114032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7479792" y="1325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plan creation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302752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02752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028432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28432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013448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64" name="Shape 62"/>
          <p:cNvSpPr/>
          <p:nvPr/>
        </p:nvSpPr>
        <p:spPr>
          <a:xfrm>
            <a:off x="8668512" y="1298448"/>
            <a:ext cx="15179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723376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723376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9089136" y="1325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622792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69" name="Shape 67"/>
          <p:cNvSpPr/>
          <p:nvPr/>
        </p:nvSpPr>
        <p:spPr>
          <a:xfrm>
            <a:off x="10277856" y="1298448"/>
            <a:ext cx="15179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332720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332720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10698480" y="1325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</a:t>
            </a:r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Jira integration via MCP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232136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74" name="Text 72"/>
          <p:cNvSpPr txBox="1"/>
          <p:nvPr/>
        </p:nvSpPr>
        <p:spPr>
          <a:xfrm>
            <a:off x="3867912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◆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authors · releases version N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5477256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086600" y="23225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waiver → ADR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8695944" y="23225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sign-off on evidence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477256" y="2834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runs corp-sdlc-loop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589520" y="296265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589520" y="2962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auto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0808208" y="296265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808208" y="2962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auto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867912" y="3383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904488" y="3383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EventStorming · 12 scripted checks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477256" y="3383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513832" y="3383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handover: spec.md + record · contract test · validator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086600" y="3383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123176" y="33832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domain check · A3 conformance script · task guard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477256" y="38953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513832" y="389534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/speckit.specify (import)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086600" y="38953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123176" y="389534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· tasks · analyze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695944" y="440740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732520" y="44074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→ ‘Design review’ + evidence links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0305288" y="440740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341864" y="44074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phases → Stories · Epic ‘Design approved’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142232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142232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repository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751576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751576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feature branch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36092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36092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plan.md · tasks.md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0579608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0579608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8970264" y="5513832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970264" y="5513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transition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0579608" y="5513832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579608" y="5513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Stories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4119372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4119372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728716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728716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7338060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338060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947404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947404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0556748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556748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5330952" y="3566160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6940296" y="3566160"/>
            <a:ext cx="146304" cy="512064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 flipV="1">
            <a:off x="8549640" y="2542032"/>
            <a:ext cx="146304" cy="1536192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10158984" y="2542032"/>
            <a:ext cx="146304" cy="2048256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6208776" y="3319272"/>
            <a:ext cx="0" cy="64008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4599432" y="3319272"/>
            <a:ext cx="1609344" cy="0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4599432" y="3319272"/>
            <a:ext cx="0" cy="64008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126" name="Text 124"/>
          <p:cNvSpPr txBox="1"/>
          <p:nvPr/>
        </p:nvSpPr>
        <p:spPr>
          <a:xfrm>
            <a:off x="4329684" y="3246120"/>
            <a:ext cx="2148840" cy="1463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to slide 1 · same steps, same markers · rows = who or what, columns = the step</a:t>
            </a:r>
            <a:endParaRPr lang="en-US" sz="750" dirty="0"/>
          </a:p>
        </p:txBody>
      </p:sp>
      <p:sp>
        <p:nvSpPr>
          <p:cNvPr id="128" name="Text 126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 — who does what, where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Six steps as a cross-functional flow: the delivery team starts the run, agents build under A4 inside bounded loops, tools via MCP carry the evidence, humans approve at the boundary.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1298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we are in the loop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3776" y="156705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51790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" y="178422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173507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" y="200139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95224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" y="221856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16941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2395728"/>
            <a:ext cx="1737360" cy="198882"/>
          </a:xfrm>
          <a:prstGeom prst="roundRect">
            <a:avLst>
              <a:gd name="adj" fmla="val 22989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2435733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38658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" y="265290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260375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" y="287007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" y="282092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" y="3087243"/>
            <a:ext cx="118872" cy="11887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3038094"/>
            <a:ext cx="1408176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3566160"/>
            <a:ext cx="1737360" cy="2011680"/>
          </a:xfrm>
          <a:prstGeom prst="roundRect">
            <a:avLst>
              <a:gd name="adj" fmla="val 3158"/>
            </a:avLst>
          </a:prstGeom>
          <a:solidFill>
            <a:srgbClr val="EEF4F1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" y="3639312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run pauses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▭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 action (in-house · Spec Kit · Speckit2Jira · Graphify)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■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 reached via MCP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◌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skill from the CIB skill repo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→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 path · ⟲ bounded loop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1773936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9152" y="17739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Delivery team (DEV)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2286000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59152" y="22860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QA lead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2798064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59152" y="279806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agents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2798064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310128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59152" y="331012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0" y="3822192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59152" y="382219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4334256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9152" y="43342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0" y="4846320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59152" y="48463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 (MCP)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0" y="4846320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358384"/>
            <a:ext cx="9555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59152" y="535838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 (MCP)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0" y="5870448"/>
            <a:ext cx="9555480" cy="512064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59152" y="587044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0" y="5870448"/>
            <a:ext cx="9555480" cy="0"/>
          </a:xfrm>
          <a:prstGeom prst="line">
            <a:avLst/>
          </a:prstGeom>
          <a:noFill/>
          <a:ln w="15875">
            <a:solidFill>
              <a:srgbClr val="DCE6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9534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89534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426110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18160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23646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3646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60222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implement ⇄ converge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56960" y="1152144"/>
            <a:ext cx="256032" cy="256032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56960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135880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57" name="Shape 55"/>
          <p:cNvSpPr/>
          <p:nvPr/>
        </p:nvSpPr>
        <p:spPr>
          <a:xfrm>
            <a:off x="652272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57758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57758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94334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77000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62" name="Shape 60"/>
          <p:cNvSpPr/>
          <p:nvPr/>
        </p:nvSpPr>
        <p:spPr>
          <a:xfrm>
            <a:off x="786384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91870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91870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828446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818120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67" name="Shape 65"/>
          <p:cNvSpPr/>
          <p:nvPr/>
        </p:nvSpPr>
        <p:spPr>
          <a:xfrm>
            <a:off x="920496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25982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5982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962558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159240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72" name="Shape 70"/>
          <p:cNvSpPr/>
          <p:nvPr/>
        </p:nvSpPr>
        <p:spPr>
          <a:xfrm>
            <a:off x="10546080" y="1298448"/>
            <a:ext cx="12496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0600944" y="1408176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600944" y="1408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10966704" y="1325880"/>
            <a:ext cx="79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500360" y="1773936"/>
            <a:ext cx="0" cy="4608576"/>
          </a:xfrm>
          <a:prstGeom prst="line">
            <a:avLst/>
          </a:prstGeom>
          <a:noFill/>
          <a:ln w="6350">
            <a:solidFill>
              <a:srgbClr val="DCE6E1"/>
            </a:solidFill>
            <a:prstDash val="sysDot"/>
          </a:ln>
        </p:spPr>
      </p:sp>
      <p:sp>
        <p:nvSpPr>
          <p:cNvPr id="77" name="Text 75"/>
          <p:cNvSpPr txBox="1"/>
          <p:nvPr/>
        </p:nvSpPr>
        <p:spPr>
          <a:xfrm>
            <a:off x="3867912" y="1810512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starts / resumes the run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209032" y="1810512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checklist STOP: resolve or confirm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6550152" y="1810512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escalates at the loop bound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601200" y="193852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EF4F1"/>
          </a:solidFill>
          <a:ln w="9525">
            <a:solidFill>
              <a:srgbClr val="DCE6E1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60120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auto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7891272" y="2322576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by the report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10573512" y="2322576"/>
            <a:ext cx="119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◆ </a:t>
            </a:r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209032" y="2871216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245608" y="2871216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edit guard · fitness runner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550152" y="2871216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586728" y="2871216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traceability validator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891272" y="2871216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927848" y="2871216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report + waivers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867912" y="3383280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904488" y="3383280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ext: checkout NNN-slug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209032" y="3383280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245608" y="3383280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 ⇄ converge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550152" y="3383280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586728" y="3383280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do-while · analyze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232392" y="3383280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268968" y="3383280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 commit · push · PR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891272" y="3895344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927848" y="3895344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report → Epic + PR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573512" y="3895344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610088" y="3895344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‘PR review’ → ‘Verified’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3867912" y="4407408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904488" y="4407408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/graphify --update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209032" y="4407408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245608" y="4407408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 queries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7891272" y="4407408"/>
            <a:ext cx="119481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7927848" y="4407408"/>
            <a:ext cx="112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graph-level checks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00812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00812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branch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534924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534924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69036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69036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03148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03148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comment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937260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37260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opened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0713720" y="50017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0713720" y="5001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merge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8031480" y="5513832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031480" y="5513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fields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0713720" y="5513832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713720" y="5513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status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326380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326380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6667500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667500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8008620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8008620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 · integr.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690860" y="602589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5C3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0690860" y="6025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5062728" y="3566160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6403848" y="3566160"/>
            <a:ext cx="146304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7744968" y="3054096"/>
            <a:ext cx="146304" cy="512064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086088" y="3054096"/>
            <a:ext cx="146304" cy="512064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0427208" y="2542032"/>
            <a:ext cx="146304" cy="1024128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7147560" y="3319272"/>
            <a:ext cx="0" cy="64008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>
            <a:off x="5806440" y="3319272"/>
            <a:ext cx="1341120" cy="0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5806440" y="3319272"/>
            <a:ext cx="0" cy="64008"/>
          </a:xfrm>
          <a:prstGeom prst="line">
            <a:avLst/>
          </a:prstGeom>
          <a:noFill/>
          <a:ln w="1587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5402580" y="3246120"/>
            <a:ext cx="2148840" cy="1463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700" dirty="0"/>
          </a:p>
        </p:txBody>
      </p:sp>
      <p:sp>
        <p:nvSpPr>
          <p:cNvPr id="141" name="Text 139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to slide 2 · same steps, same markers · rows = who or what, columns = the step</a:t>
            </a:r>
            <a:endParaRPr lang="en-US" sz="750" dirty="0"/>
          </a:p>
        </p:txBody>
      </p:sp>
      <p:sp>
        <p:nvSpPr>
          <p:cNvPr id="142" name="Text 140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 — the sequence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When, in what order, who waits for whom: humans appear only at the edges and gates; inside the step the scripts verify. Same steps 3.1 – 3.5, read top to bottom.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6227" y="1865376"/>
            <a:ext cx="4301338" cy="786384"/>
          </a:xfrm>
          <a:prstGeom prst="roundRect">
            <a:avLst>
              <a:gd name="adj" fmla="val 5814"/>
            </a:avLst>
          </a:prstGeom>
          <a:solidFill>
            <a:srgbClr val="D9E8E0">
              <a:alpha val="40000"/>
            </a:srgbClr>
          </a:solidFill>
          <a:ln w="12700">
            <a:solidFill>
              <a:srgbClr val="00915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738067" y="3364992"/>
            <a:ext cx="2106778" cy="786384"/>
          </a:xfrm>
          <a:prstGeom prst="roundRect">
            <a:avLst>
              <a:gd name="adj" fmla="val 5814"/>
            </a:avLst>
          </a:prstGeom>
          <a:solidFill>
            <a:srgbClr val="D9E8E0">
              <a:alpha val="40000"/>
            </a:srgbClr>
          </a:solidFill>
          <a:ln w="12700">
            <a:solidFill>
              <a:srgbClr val="00915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835347" y="4572000"/>
            <a:ext cx="1009498" cy="786384"/>
          </a:xfrm>
          <a:prstGeom prst="roundRect">
            <a:avLst>
              <a:gd name="adj" fmla="val 5814"/>
            </a:avLst>
          </a:prstGeom>
          <a:solidFill>
            <a:srgbClr val="D9E8E0">
              <a:alpha val="40000"/>
            </a:srgbClr>
          </a:solidFill>
          <a:ln w="12700">
            <a:solidFill>
              <a:srgbClr val="00915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097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3891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91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analyst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4825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3619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53619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· design authority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4553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63347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63347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Delivery team (DEV)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4281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3075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73075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+ handover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009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82803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2803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+ guardrails (A0 · A3)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3737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2531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2531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→ Jira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3465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022592" y="1280160"/>
            <a:ext cx="1024128" cy="457200"/>
          </a:xfrm>
          <a:prstGeom prst="roundRect">
            <a:avLst>
              <a:gd name="adj" fmla="val 16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022592" y="1280160"/>
            <a:ext cx="1024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Repository (Bitbucket)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01091" y="1883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 · ⟲ revise until the 12 checks are green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2231136"/>
            <a:ext cx="329184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50976" y="20482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author the specification · UC → SC → ACT → BR → DATA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 flipH="1">
            <a:off x="950976" y="2523744"/>
            <a:ext cx="329184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950976" y="23408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from the 12 scripted checks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50976" y="2816352"/>
            <a:ext cx="329184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097280" y="26334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release version N (hashed export)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41248" y="2706624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45536" y="3108960"/>
            <a:ext cx="219456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2688336" y="29260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run corp-sdlc-loop → /speckit.specify (import)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792931" y="33832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 · ⟲ validator red → back to ShAIping · max 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42816" y="3730752"/>
            <a:ext cx="109728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236976" y="35478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handover: spec.md + handover record · contract test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 flipH="1">
            <a:off x="4242816" y="4023360"/>
            <a:ext cx="109728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3236976" y="38404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after_specify validator: gaps back to ShAIping · spec.md never hand-edited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50976" y="4315968"/>
            <a:ext cx="438912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1097280" y="41330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BA gate: hierarchy approved (workflow gate ba-review)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41248" y="4206240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90211" y="45902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 · plan under the gates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285232" y="4846320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68112" y="47914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before_plan: A0 domain check · context loader (standards skills) → /speckit.plan (Constitution Check) · tasks · analyze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85232" y="5138928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68112" y="5084064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after_plan: A3 conformance script → verdict + checklists/architecture.md · ADR draft · after_tasks task guard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340096" y="5522976"/>
            <a:ext cx="219456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882896" y="53400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plan.md + conformance table · ADRs · tasks.md on the feature branch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48256" y="5815584"/>
            <a:ext cx="329184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2194560" y="56327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design authority sign-off on evidence (verdict, ADRs, analyze report) → Implement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938528" y="5705856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6108192"/>
            <a:ext cx="109728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4334256" y="59253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phases → Stories · Epic ‘Design approved’ (one-way, evidence-only)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275320" y="1280160"/>
            <a:ext cx="3566160" cy="676656"/>
          </a:xfrm>
          <a:prstGeom prst="roundRect">
            <a:avLst>
              <a:gd name="adj" fmla="val 8108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85048" y="1316736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8385048" y="146304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385048" y="16824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tech lead, as design authority, signs the plan; the business analyst signs the specification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75320" y="206654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8385048" y="212140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Entry — evidence at the start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8385048" y="234086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iteration charter approved at the master gate (2 → 3)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feature inside one bounded context · domain map pinned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275320" y="2944368"/>
            <a:ext cx="356616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8385048" y="2999232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8385048" y="3218688"/>
            <a:ext cx="33467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ShAIping’s scripted checks pass before the import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import complete: every UC / SC / AC / BR / D item with its ID (contract test to confirm)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A0: domain-map version pinned; one context per feature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A3: Constitution Check + Architecture Conformance table, verified by script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analyze CRITICAL = 0; tasks carry IDs; fitness-test tasks present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275320" y="4535424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8385048" y="459028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— evidence at the boundary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8385048" y="480974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signed plan + ADRs · spec hash unchanged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conformance green or waived · analyze CRITICAL = 0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tasks carry IDs · Epic ‘Design approved’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275320" y="5559552"/>
            <a:ext cx="356616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75320" y="5559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in progress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8275320" y="5815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Full cut with every hook and verdict field: project note big-loop-sequence-diagrams (26 Aug). Slide cut here: fewer than twenty messages, deck vocabulary only.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to slide 3 · solid = call or write · dotted = verdict or approval · ◆ the run pauses for a person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 — the sequence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loops inside, humans at the boundaries: the deterministic test loop is drawn because the loop is the point. Same steps 4.1 – 4.6, read top to bottom.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692640" y="1828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cut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321101" y="2962656"/>
            <a:ext cx="883310" cy="768096"/>
          </a:xfrm>
          <a:prstGeom prst="roundRect">
            <a:avLst>
              <a:gd name="adj" fmla="val 5952"/>
            </a:avLst>
          </a:prstGeom>
          <a:solidFill>
            <a:srgbClr val="D9E8E0">
              <a:alpha val="40000"/>
            </a:srgbClr>
          </a:solidFill>
          <a:ln w="12700">
            <a:solidFill>
              <a:srgbClr val="00915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40741" y="3840480"/>
            <a:ext cx="5683910" cy="1042416"/>
          </a:xfrm>
          <a:prstGeom prst="roundRect">
            <a:avLst>
              <a:gd name="adj" fmla="val 4386"/>
            </a:avLst>
          </a:prstGeom>
          <a:solidFill>
            <a:srgbClr val="D9E8E0">
              <a:alpha val="40000"/>
            </a:srgbClr>
          </a:solidFill>
          <a:ln w="12700">
            <a:solidFill>
              <a:srgbClr val="00915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8239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891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Delivery team (DEV)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4251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9903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39903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0263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35915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35915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QA lead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275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31927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31927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+ guardrails (A4)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2287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7939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27939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8299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23951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23951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 run (workflow shell)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4311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19963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9963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→ Jira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03236" y="1737360"/>
            <a:ext cx="0" cy="470916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159752" y="1280160"/>
            <a:ext cx="886968" cy="457200"/>
          </a:xfrm>
          <a:prstGeom prst="roundRect">
            <a:avLst>
              <a:gd name="adj" fmla="val 16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159752" y="1280160"/>
            <a:ext cx="886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Repository · CI (Bitbucket)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2396" y="1901952"/>
            <a:ext cx="288036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68096" y="17190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resume at implement (specify workflow resume)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62756" y="2176272"/>
            <a:ext cx="384048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762756" y="1993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ext: checkout NNN-slug (Epic key in the name)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62756" y="2450592"/>
            <a:ext cx="96012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688336" y="22677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/graphify --update · graph queries instead of reading files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 flipH="1">
            <a:off x="882396" y="2724912"/>
            <a:ext cx="288036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028700" y="2542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STOP · checklist items open → resolve or confirm (native gate)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2668" y="2615184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75965" y="29809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 · per task, tests first · every edit checked by the A4 edit guard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07892" y="3236976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90772" y="3182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/speckit.implement: test tasks first, code under the task ID · PostToolUse edit guard feeds violations back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07892" y="3511296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890772" y="3456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after_implement / after_converge: A4 fitness runner → verdict · /speckit.converge appends unbuilt work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95605" y="38587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 · ⟲ deterministic test loop 4⇄5 · do-while red · max 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762756" y="4206240"/>
            <a:ext cx="192024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168396" y="40233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shell: run the suite (unit · acceptance · fitness)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 flipH="1">
            <a:off x="3762756" y="4480560"/>
            <a:ext cx="192024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168396" y="42976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 = exit code · red → back to implement + converge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flipH="1">
            <a:off x="882396" y="4754880"/>
            <a:ext cx="288036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68096" y="45720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loop bound reached → escalate to the tech lead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762756" y="5029200"/>
            <a:ext cx="288036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3648456" y="4846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report: A3 + A4 verdicts, waivers, Graphify checks → Epic + PR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 flipH="1">
            <a:off x="1842516" y="5303520"/>
            <a:ext cx="480060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1842516" y="51206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informed — Epic comment and fields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762756" y="5577840"/>
            <a:ext cx="3840480" cy="0"/>
          </a:xfrm>
          <a:prstGeom prst="line">
            <a:avLst/>
          </a:prstGeom>
          <a:noFill/>
          <a:ln w="15875">
            <a:solidFill>
              <a:srgbClr val="0B5C3F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3762756" y="5394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PR (IDs on commits) · required checks = the same scripts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42516" y="5852160"/>
            <a:ext cx="192024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1988820" y="56692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PR approval on evidence (fitness + test verdicts, review, security scan)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732788" y="5742432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02636" y="6126480"/>
            <a:ext cx="4800600" cy="0"/>
          </a:xfrm>
          <a:prstGeom prst="line">
            <a:avLst/>
          </a:prstGeom>
          <a:noFill/>
          <a:ln w="12700">
            <a:solidFill>
              <a:srgbClr val="B36B00"/>
            </a:solidFill>
            <a:prstDash val="sysDot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2948940" y="594360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test exit on the evidence bundle → code enters the existing CI/CD, unchanged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692908" y="6016752"/>
            <a:ext cx="219456" cy="21945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75320" y="1280160"/>
            <a:ext cx="3566160" cy="676656"/>
          </a:xfrm>
          <a:prstGeom prst="roundRect">
            <a:avLst>
              <a:gd name="adj" fmla="val 8108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385048" y="1316736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8385048" y="146304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8385048" y="16824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lead, with fitness results, review and security scan attached; QA lead on the deterministic verdict and the requirement → test matrix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275320" y="2066544"/>
            <a:ext cx="3566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8385048" y="212140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Entry — evidence at the start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8385048" y="234086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design authority sign-off (3 → 4) · signed plan.md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tasks.md with Carries: IDs · checklists/architecture.md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275320" y="2944368"/>
            <a:ext cx="356616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8385048" y="2999232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8385048" y="3218688"/>
            <a:ext cx="33467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analyze CRITICAL = 0 · every checklist in checklists/ PASS (STOP-gate)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test tasks and fitness-test tasks executed first; halt on failure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A4: fitness runner green (rulebook) — after_implement / after_converge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 converge: no unbuilt work left; no phantom completions; commits carry IDs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275320" y="4535424"/>
            <a:ext cx="35661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114300" dist="25400" dir="5400000">
              <a:srgbClr val="1F2A2A">
                <a:alpha val="13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8385048" y="4590288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— evidence at the boundary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8385048" y="480974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tested code with green verdicts on the PR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nothing merges without the same scripts green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▸  Epic ‘Verified’ · pipeline unchanged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275320" y="5559552"/>
            <a:ext cx="356616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275320" y="5559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in progress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8275320" y="5815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Open point kept from the 26 Aug note: the deterministic loop is drawn before the tech lead's PR approval, so a red cycle never re-requests an approval.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alternative to slide 4 · solid = call or write · dotted = verdict or approval · ◆ the run pauses for a person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2026-09-02T04:31:23Z</dcterms:created>
  <dcterms:modified xsi:type="dcterms:W3CDTF">2026-09-02T04:31:23Z</dcterms:modified>
</cp:coreProperties>
</file>