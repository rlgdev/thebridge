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09728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509760" y="27432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3D9E6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0149840" y="164592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1F7A4D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 ·  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SDLC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E9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Pillars &amp; Responsibilities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model spanning the AI platform, developer tooling, and the lifecycle process that ties them together — plus the governance and adoption planes that keep it accountable.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897880"/>
            <a:ext cx="13487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897880"/>
            <a:ext cx="1348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54580" y="5897880"/>
            <a:ext cx="250088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4580" y="5897880"/>
            <a:ext cx="2500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Assistant &amp; Tooling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84064" y="589788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58978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57416" y="589788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5897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8744" y="589788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E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5897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supply capabilities. A third defines how they're used in delivery. Two planes hold it all together.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 →  capabilities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3575304" cy="25146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45973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AI Platform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gateway, routing &amp; inference infra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guardrails &amp; safety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harnesses, cost / FinOps, identity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8264" y="1993392"/>
            <a:ext cx="3575304" cy="25146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72584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5973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584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Dev Assistant &amp; Tooling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72584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90872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&amp; IDE integration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/ connectors — the “map tools”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context, templates, tool catalog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47888" y="1993392"/>
            <a:ext cx="3575304" cy="2514600"/>
          </a:xfrm>
          <a:prstGeom prst="rect">
            <a:avLst/>
          </a:prstGeom>
          <a:solidFill>
            <a:srgbClr val="E9F4EC"/>
          </a:solidFill>
          <a:ln w="19050">
            <a:solidFill>
              <a:srgbClr val="3D9E6A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2286000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45973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22208" y="310896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SDLC Process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522208" y="34107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540496" y="3749040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woven into each lifecycle phase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gates, provenance &amp; Definition of Done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ungoverned — the gap to close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66928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→  applies to all three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5029200"/>
            <a:ext cx="5454396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41248" y="5413248"/>
            <a:ext cx="566928" cy="566928"/>
          </a:xfrm>
          <a:prstGeom prst="ellipse">
            <a:avLst/>
          </a:prstGeom>
          <a:solidFill>
            <a:srgbClr val="E9F4E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541264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5276088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Responsible AI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1600200" y="5596128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compliance, IP, security review &amp; audit — sets the rules each pillar operates within.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277356" y="5029200"/>
            <a:ext cx="5454396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69964" y="5413248"/>
            <a:ext cx="566928" cy="566928"/>
          </a:xfrm>
          <a:prstGeom prst="ellipse">
            <a:avLst/>
          </a:prstGeom>
          <a:solidFill>
            <a:srgbClr val="E9F4E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554126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28916" y="5276088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&amp; Adoption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328916" y="5596128"/>
            <a:ext cx="4174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a champions network &amp; change management — turns purchased capability into realized value.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11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Governing AI across the lifecycle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44168" y="9509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ungoverned layer. It defines how AI is used at each phase — and the rules that hold consistent across all of them.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stories, acceptance criteria &amp; estimates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35" y="285750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37790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37790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3" name="Text 9"/>
          <p:cNvSpPr/>
          <p:nvPr/>
        </p:nvSpPr>
        <p:spPr>
          <a:xfrm>
            <a:off x="2437790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Design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02382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ADRs, threat models &amp; options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86" y="2857500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26941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26941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/>
          <p:cNvSpPr/>
          <p:nvPr/>
        </p:nvSpPr>
        <p:spPr>
          <a:xfrm>
            <a:off x="4326941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491533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&amp; agents write and refactor code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28575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16091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6091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3" name="Text 17"/>
          <p:cNvSpPr/>
          <p:nvPr/>
        </p:nvSpPr>
        <p:spPr>
          <a:xfrm>
            <a:off x="6216091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Review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380683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pre-review; humans gate by risk tier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186" y="2857500"/>
            <a:ext cx="182880" cy="1828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105242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05242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28" name="Text 21"/>
          <p:cNvSpPr/>
          <p:nvPr/>
        </p:nvSpPr>
        <p:spPr>
          <a:xfrm>
            <a:off x="8105242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269834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tests, expand coverage, triage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337" y="285750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994392" y="1828800"/>
            <a:ext cx="1645920" cy="224028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994392" y="1828800"/>
            <a:ext cx="1645920" cy="530352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3" name="Text 25"/>
          <p:cNvSpPr/>
          <p:nvPr/>
        </p:nvSpPr>
        <p:spPr>
          <a:xfrm>
            <a:off x="9994392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Operate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0158984" y="2487168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checks, debugging &amp; incident RCA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42611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ACROSS EVERY PHASE  —  the governing spine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4572000"/>
            <a:ext cx="11091672" cy="1572768"/>
          </a:xfrm>
          <a:prstGeom prst="rect">
            <a:avLst/>
          </a:prstGeom>
          <a:solidFill>
            <a:srgbClr val="E9F4EC"/>
          </a:solidFill>
          <a:ln w="15875">
            <a:solidFill>
              <a:srgbClr val="3D9E6A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212080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536192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quality gates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scaled to risk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3257550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458718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878" y="521208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171950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traceability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 vs human-authored, auditable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5893308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094476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1636" y="5212080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07708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 / Done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to include AI artifacts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8529066" y="4892040"/>
            <a:ext cx="0" cy="932688"/>
          </a:xfrm>
          <a:prstGeom prst="line">
            <a:avLst/>
          </a:prstGeom>
          <a:noFill/>
          <a:ln w="12700">
            <a:solidFill>
              <a:srgbClr val="BFDFC9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730234" y="50749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D9E6A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7394" y="5212080"/>
            <a:ext cx="292608" cy="29260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443466" y="4919472"/>
            <a:ext cx="17213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accountability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always owns the output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 layer relies on the two supply pillars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layer doesn't create capability — it consumes it. Define the SDLC process knowing it rests on, and draws from, both supply pillars.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9262872" cy="914400"/>
          </a:xfrm>
          <a:prstGeom prst="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783080"/>
            <a:ext cx="8531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SDLC Process — the operating layer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Weaves AI into every phase · consumes capability, never creates it · a human always owns the output.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304" y="2798064"/>
            <a:ext cx="256032" cy="2560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98064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63040" y="3246120"/>
            <a:ext cx="4480560" cy="2286000"/>
          </a:xfrm>
          <a:prstGeom prst="rect">
            <a:avLst/>
          </a:prstGeom>
          <a:solidFill>
            <a:srgbClr val="F4FAF5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737360" y="3502152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36301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3502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AI Platform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755648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draws from it: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773936" y="4434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inference &amp; routing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data policy &amp; evals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signals &amp; identity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755648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sets policy intent; the platform enforces it.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45352" y="3246120"/>
            <a:ext cx="4480560" cy="2286000"/>
          </a:xfrm>
          <a:prstGeom prst="rect">
            <a:avLst/>
          </a:prstGeom>
          <a:solidFill>
            <a:srgbClr val="F4FAF5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19672" y="3502152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6301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05472" y="3502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Dev Assistant &amp; Tooling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draws from it: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556248" y="4434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&amp; agents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“map tools” &amp; connectors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 &amp; templates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537960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sets requirements; tooling builds them (on the platform).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463040" y="5532120"/>
            <a:ext cx="9262872" cy="640080"/>
          </a:xfrm>
          <a:prstGeom prst="rect">
            <a:avLst/>
          </a:prstGeom>
          <a:solidFill>
            <a:srgbClr val="E9F4EC"/>
          </a:solidFill>
          <a:ln w="12700">
            <a:solidFill>
              <a:srgbClr val="3D9E6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737360" y="567842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9E6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12" y="575157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40280" y="5532120"/>
            <a:ext cx="8257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ENABLEMENT   </a:t>
            </a:r>
            <a:pPr indent="0" marL="0">
              <a:buNone/>
            </a:pPr>
            <a:r>
              <a:rPr lang="en-US" sz="12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rules, risk tiers and adoption the whole stack stands 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is the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 longer lives in a wiki — it's encoded in the agents that run it. An agent doesn't follow a process step; it is that step, executed and repeatable.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75304" cy="27432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58568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4323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815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Agent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4838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Plan &amp; Design process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831336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intent into specs, plans and acceptance criteria.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 PLAN · DESIGN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98264" y="1965960"/>
            <a:ext cx="3575304" cy="27432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72584" y="2258568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3230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584" y="30815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Agent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72584" y="34838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Review process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72584" y="3831336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review standard and gates changes by risk tier.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7258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 REVIEW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47888" y="1965960"/>
            <a:ext cx="3575304" cy="27432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22208" y="2258568"/>
            <a:ext cx="713232" cy="71323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43230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22208" y="30815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Agent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522208" y="34838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Release &amp; Operate process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522208" y="3831336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deploy checks, debugging and incident RCA.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2220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 OPERATE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983480"/>
            <a:ext cx="11091672" cy="1051560"/>
          </a:xfrm>
          <a:prstGeom prst="rect">
            <a:avLst/>
          </a:prstGeom>
          <a:solidFill>
            <a:srgbClr val="10402A"/>
          </a:solidFill>
          <a:ln/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5294376"/>
            <a:ext cx="420624" cy="420624"/>
          </a:xfrm>
          <a:prstGeom prst="ellipse">
            <a:avLst/>
          </a:prstGeom>
          <a:solidFill>
            <a:srgbClr val="1C5C3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8581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9834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200" kern="0" dirty="0">
                <a:solidFill>
                  <a:srgbClr val="9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SDLC pillar's deliverable moves from process documentation to governed agent charters — define the agent, and you've defined the process.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4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SDLC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assembled from components owned across all three pillars. Process owns the charter; Platform and Tooling supply everything it runs 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0" y="17373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SDLC 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06240" y="2057400"/>
            <a:ext cx="3776472" cy="914400"/>
          </a:xfrm>
          <a:prstGeom prst="rect">
            <a:avLst/>
          </a:prstGeom>
          <a:solidFill>
            <a:srgbClr val="1F7A4D"/>
          </a:solidFill>
          <a:ln w="15875">
            <a:solidFill>
              <a:srgbClr val="1F7A4D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07408" y="2286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9E6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4048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83480" y="20574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gates · escalation · autonomy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spc="100" kern="0" dirty="0">
                <a:solidFill>
                  <a:srgbClr val="9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06240" y="3017520"/>
            <a:ext cx="3776472" cy="749808"/>
          </a:xfrm>
          <a:prstGeom prst="rect">
            <a:avLst/>
          </a:prstGeom>
          <a:solidFill>
            <a:srgbClr val="E9F4EC"/>
          </a:solidFill>
          <a:ln w="15875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3163824"/>
            <a:ext cx="457200" cy="45720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2826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301752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standards &amp; playbooks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903720" y="301752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P2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206240" y="3813048"/>
            <a:ext cx="3776472" cy="749808"/>
          </a:xfrm>
          <a:prstGeom prst="rect">
            <a:avLst/>
          </a:prstGeom>
          <a:solidFill>
            <a:srgbClr val="E9F4EC"/>
          </a:solidFill>
          <a:ln w="15875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07408" y="3959352"/>
            <a:ext cx="457200" cy="45720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07822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3813048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read &amp; touch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903720" y="381304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P2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206240" y="4608576"/>
            <a:ext cx="3776472" cy="749808"/>
          </a:xfrm>
          <a:prstGeom prst="rect">
            <a:avLst/>
          </a:prstGeom>
          <a:solidFill>
            <a:srgbClr val="F4FAF5"/>
          </a:solidFill>
          <a:ln w="15875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07408" y="4754880"/>
            <a:ext cx="457200" cy="45720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8737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83480" y="4608576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Runtime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harness · context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903720" y="460857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48640" y="2057400"/>
            <a:ext cx="3063240" cy="27432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7724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AI PLATFORM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724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supplies: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95528" y="2852928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 &amp; inference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harness &amp; context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data policy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results &amp; cost limits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scoped credentials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577072" y="2057400"/>
            <a:ext cx="3063240" cy="2743200"/>
          </a:xfrm>
          <a:prstGeom prst="rect">
            <a:avLst/>
          </a:prstGeom>
          <a:solidFill>
            <a:srgbClr val="F4FAF5"/>
          </a:solidFill>
          <a:ln w="12700">
            <a:solidFill>
              <a:srgbClr val="CDE3D4"/>
            </a:solidFill>
            <a:prstDash val="solid"/>
          </a:ln>
          <a:effectLst>
            <a:outerShdw sx="100000" sy="100000" kx="0" ky="0" algn="bl" rotWithShape="0" blurRad="88900" dist="38100" dir="8100000">
              <a:srgbClr val="12331F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805672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DEV TOOLING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805672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supplies: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823960" y="2852928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MCP tools &amp; connectors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skills (the repo)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 / RAG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agent templates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workflow integration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383280"/>
            <a:ext cx="384048" cy="384048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3383280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56432" y="37673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7863840" y="37673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E9F4EC"/>
          </a:solidFill>
          <a:ln w="12700">
            <a:solidFill>
              <a:srgbClr val="3D9E6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41248" y="56875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9E6A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60720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53312" y="55321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pPr indent="0" marL="0">
              <a:buNone/>
            </a:pPr>
            <a:r>
              <a:rPr lang="en-US" sz="12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gates the permission envelope by risk tier (suggest → merge → deploy)   ·   the </a:t>
            </a:r>
            <a:pPr indent="0" marL="0">
              <a:buNone/>
            </a:pPr>
            <a:r>
              <a:rPr lang="en-US" sz="11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TEAM</a:t>
            </a:r>
            <a:pPr indent="0" marL="0">
              <a:buNone/>
            </a:pPr>
            <a:r>
              <a:rPr lang="en-US" sz="12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owns the output.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SDLC — Pillars &amp; Responsibilities</dc:title>
  <dc:subject>PptxGenJS Presentation</dc:subject>
  <dc:creator>AI-SDLC Working Group</dc:creator>
  <cp:lastModifiedBy>AI-SDLC Working Group</cp:lastModifiedBy>
  <cp:revision>1</cp:revision>
  <dcterms:created xsi:type="dcterms:W3CDTF">2026-05-29T12:20:56Z</dcterms:created>
  <dcterms:modified xsi:type="dcterms:W3CDTF">2026-05-29T12:20:56Z</dcterms:modified>
</cp:coreProperties>
</file>