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4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869680" y="-1097280"/>
            <a:ext cx="4754880" cy="3108960"/>
          </a:xfrm>
          <a:prstGeom prst="roundRect">
            <a:avLst>
              <a:gd name="adj" fmla="val 735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509760" y="274320"/>
            <a:ext cx="4754880" cy="3108960"/>
          </a:xfrm>
          <a:prstGeom prst="roundRect">
            <a:avLst>
              <a:gd name="adj" fmla="val 7353"/>
            </a:avLst>
          </a:prstGeom>
          <a:solidFill>
            <a:srgbClr val="3D9E6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0149840" y="1645920"/>
            <a:ext cx="4754880" cy="3108960"/>
          </a:xfrm>
          <a:prstGeom prst="roundRect">
            <a:avLst>
              <a:gd name="adj" fmla="val 7353"/>
            </a:avLst>
          </a:prstGeom>
          <a:solidFill>
            <a:srgbClr val="1F7A4D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 ·  v1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SDLC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49808" y="2880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9E9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Pillars &amp; Responsibilities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model spanning the AI platform, developer tooling, and the lifecycle process that ties them together — plus the governance and adoption planes that keep it accountable.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5897880"/>
            <a:ext cx="13487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E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897880"/>
            <a:ext cx="1348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54580" y="5897880"/>
            <a:ext cx="2500884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E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4580" y="5897880"/>
            <a:ext cx="25008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Assistant &amp; Tooling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84064" y="589788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E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4064" y="58978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Process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57416" y="5897880"/>
            <a:ext cx="125272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E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57416" y="58978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38744" y="5897880"/>
            <a:ext cx="125272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E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58978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4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 supply capabilities. A third defines how they're used in delivery. Two planes hold it all together.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 →  capabilities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3575304" cy="251460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86000"/>
            <a:ext cx="713232" cy="71323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45973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0896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AI Platform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4107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" y="374904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gateway, routing &amp; inference infra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governance, guardrails &amp; safety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harnesses, cost / FinOps, identity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98264" y="1993392"/>
            <a:ext cx="3575304" cy="251460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72584" y="2286000"/>
            <a:ext cx="713232" cy="71323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45973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72584" y="310896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Dev Assistant &amp; Tooling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72584" y="34107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690872" y="374904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assistants &amp; IDE integration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/ connectors — the “map tools”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context, templates, tool catalog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47888" y="1993392"/>
            <a:ext cx="3575304" cy="2514600"/>
          </a:xfrm>
          <a:prstGeom prst="rect">
            <a:avLst/>
          </a:prstGeom>
          <a:solidFill>
            <a:srgbClr val="E9F4EC"/>
          </a:solidFill>
          <a:ln w="19050">
            <a:solidFill>
              <a:srgbClr val="3D9E6A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22208" y="2286000"/>
            <a:ext cx="713232" cy="71323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245973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22208" y="310896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SDLC Process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522208" y="34107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model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540496" y="374904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is woven into each lifecycle phase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gates, provenance &amp; Definition of Done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ungoverned — the gap to close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66928" y="4736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 →  applies to all three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5029200"/>
            <a:ext cx="5454396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D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41248" y="5413248"/>
            <a:ext cx="566928" cy="566928"/>
          </a:xfrm>
          <a:prstGeom prst="ellipse">
            <a:avLst/>
          </a:prstGeom>
          <a:solidFill>
            <a:srgbClr val="E9F4E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541264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5276088"/>
            <a:ext cx="4174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Responsible AI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1600200" y="5596128"/>
            <a:ext cx="4174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compliance, IP, security review &amp; audit — sets the rules each pillar operates within.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277356" y="5029200"/>
            <a:ext cx="5454396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D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569964" y="5413248"/>
            <a:ext cx="566928" cy="566928"/>
          </a:xfrm>
          <a:prstGeom prst="ellipse">
            <a:avLst/>
          </a:prstGeom>
          <a:solidFill>
            <a:srgbClr val="E9F4EC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5541264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28916" y="5276088"/>
            <a:ext cx="4174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&amp; Adoption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7328916" y="5596128"/>
            <a:ext cx="4174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a champions network &amp; change management — turns purchased capability into realized value.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114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4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3 — Governing AI across the lifecycle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44168" y="95097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ungoverned layer. It defines how AI is used at each phase — and the rules that hold consistent across all of them.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645920" cy="224028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1645920" cy="530352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8288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Plan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2487168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stories, acceptance criteria &amp; estimates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735" y="285750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37790" y="1828800"/>
            <a:ext cx="1645920" cy="224028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437790" y="1828800"/>
            <a:ext cx="1645920" cy="530352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13" name="Text 9"/>
          <p:cNvSpPr/>
          <p:nvPr/>
        </p:nvSpPr>
        <p:spPr>
          <a:xfrm>
            <a:off x="2437790" y="18288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Design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02382" y="2487168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ADRs, threat models &amp; options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886" y="2857500"/>
            <a:ext cx="182880" cy="1828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26941" y="1828800"/>
            <a:ext cx="1645920" cy="224028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326941" y="1828800"/>
            <a:ext cx="1645920" cy="530352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18" name="Text 13"/>
          <p:cNvSpPr/>
          <p:nvPr/>
        </p:nvSpPr>
        <p:spPr>
          <a:xfrm>
            <a:off x="4326941" y="18288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491533" y="2487168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&amp; agents write and refactor code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036" y="285750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16091" y="1828800"/>
            <a:ext cx="1645920" cy="224028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16091" y="1828800"/>
            <a:ext cx="1645920" cy="530352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23" name="Text 17"/>
          <p:cNvSpPr/>
          <p:nvPr/>
        </p:nvSpPr>
        <p:spPr>
          <a:xfrm>
            <a:off x="6216091" y="18288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Review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380683" y="2487168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pre-review; humans gate by risk tier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2186" y="2857500"/>
            <a:ext cx="182880" cy="18288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105242" y="1828800"/>
            <a:ext cx="1645920" cy="224028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105242" y="1828800"/>
            <a:ext cx="1645920" cy="530352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28" name="Text 21"/>
          <p:cNvSpPr/>
          <p:nvPr/>
        </p:nvSpPr>
        <p:spPr>
          <a:xfrm>
            <a:off x="8105242" y="18288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Test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269834" y="2487168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tests, expand coverage, triage</a:t>
            </a:r>
            <a:endParaRPr lang="en-US" sz="11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1337" y="2857500"/>
            <a:ext cx="182880" cy="18288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9994392" y="1828800"/>
            <a:ext cx="1645920" cy="224028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9994392" y="1828800"/>
            <a:ext cx="1645920" cy="530352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3" name="Text 25"/>
          <p:cNvSpPr/>
          <p:nvPr/>
        </p:nvSpPr>
        <p:spPr>
          <a:xfrm>
            <a:off x="9994392" y="18288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Operate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10158984" y="2487168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checks, debugging &amp; incident RCA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48640" y="42611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ACROSS EVERY PHASE  —  the governing spine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48640" y="4572000"/>
            <a:ext cx="11091672" cy="1572768"/>
          </a:xfrm>
          <a:prstGeom prst="rect">
            <a:avLst/>
          </a:prstGeom>
          <a:solidFill>
            <a:srgbClr val="E9F4EC"/>
          </a:solidFill>
          <a:ln w="15875">
            <a:solidFill>
              <a:srgbClr val="3D9E6A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7492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D9E6A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212080"/>
            <a:ext cx="292608" cy="29260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536192" y="4919472"/>
            <a:ext cx="172135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Risk-tiered quality gates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scaled to risk</a:t>
            </a:r>
            <a:endParaRPr lang="en-US" sz="1250" dirty="0"/>
          </a:p>
        </p:txBody>
      </p:sp>
      <p:sp>
        <p:nvSpPr>
          <p:cNvPr id="40" name="Shape 31"/>
          <p:cNvSpPr/>
          <p:nvPr/>
        </p:nvSpPr>
        <p:spPr>
          <a:xfrm>
            <a:off x="3257550" y="4892040"/>
            <a:ext cx="0" cy="932688"/>
          </a:xfrm>
          <a:prstGeom prst="line">
            <a:avLst/>
          </a:prstGeom>
          <a:noFill/>
          <a:ln w="12700">
            <a:solidFill>
              <a:srgbClr val="BFDFC9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3458718" y="507492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D9E6A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5878" y="5212080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171950" y="4919472"/>
            <a:ext cx="172135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&amp; traceability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 vs human-authored, auditable</a:t>
            </a:r>
            <a:endParaRPr lang="en-US" sz="1250" dirty="0"/>
          </a:p>
        </p:txBody>
      </p:sp>
      <p:sp>
        <p:nvSpPr>
          <p:cNvPr id="44" name="Shape 34"/>
          <p:cNvSpPr/>
          <p:nvPr/>
        </p:nvSpPr>
        <p:spPr>
          <a:xfrm>
            <a:off x="5893308" y="4892040"/>
            <a:ext cx="0" cy="932688"/>
          </a:xfrm>
          <a:prstGeom prst="line">
            <a:avLst/>
          </a:prstGeom>
          <a:noFill/>
          <a:ln w="12700">
            <a:solidFill>
              <a:srgbClr val="BFDFC9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6094476" y="507492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D9E6A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1636" y="5212080"/>
            <a:ext cx="292608" cy="29260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807708" y="4919472"/>
            <a:ext cx="172135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Ready / Done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to include AI artifacts</a:t>
            </a:r>
            <a:endParaRPr lang="en-US" sz="1250" dirty="0"/>
          </a:p>
        </p:txBody>
      </p:sp>
      <p:sp>
        <p:nvSpPr>
          <p:cNvPr id="48" name="Shape 37"/>
          <p:cNvSpPr/>
          <p:nvPr/>
        </p:nvSpPr>
        <p:spPr>
          <a:xfrm>
            <a:off x="8529066" y="4892040"/>
            <a:ext cx="0" cy="932688"/>
          </a:xfrm>
          <a:prstGeom prst="line">
            <a:avLst/>
          </a:prstGeom>
          <a:noFill/>
          <a:ln w="12700">
            <a:solidFill>
              <a:srgbClr val="BFDFC9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8730234" y="507492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D9E6A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7394" y="5212080"/>
            <a:ext cx="292608" cy="292608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9443466" y="4919472"/>
            <a:ext cx="172135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accountability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always owns the output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4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process layer relies on the two supply pillars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layer doesn't create capability — it consumes it. Define the SDLC process knowing it rests on, and draws from, both supply pillars.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1783080"/>
            <a:ext cx="9262872" cy="914400"/>
          </a:xfrm>
          <a:prstGeom prst="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1783080"/>
            <a:ext cx="8531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· SDLC Process — the operating layer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Weaves AI into every phase · consumes capability, never creates it · a human always owns the output.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5304" y="2798064"/>
            <a:ext cx="256032" cy="25603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98064"/>
            <a:ext cx="256032" cy="2560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63040" y="3246120"/>
            <a:ext cx="4480560" cy="2286000"/>
          </a:xfrm>
          <a:prstGeom prst="rect">
            <a:avLst/>
          </a:prstGeom>
          <a:solidFill>
            <a:srgbClr val="F4FAF5"/>
          </a:solidFill>
          <a:ln w="15875">
            <a:solidFill>
              <a:srgbClr val="1F7A4D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737360" y="3502152"/>
            <a:ext cx="548640" cy="54864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376" y="363016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23160" y="35021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AI Platform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755648" y="4142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draws from it: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773936" y="44348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inference &amp; routing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data policy &amp; evals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signals &amp; identity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1755648" y="5074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sets policy intent; the platform enforces it.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245352" y="3246120"/>
            <a:ext cx="4480560" cy="2286000"/>
          </a:xfrm>
          <a:prstGeom prst="rect">
            <a:avLst/>
          </a:prstGeom>
          <a:solidFill>
            <a:srgbClr val="F4FAF5"/>
          </a:solidFill>
          <a:ln w="15875">
            <a:solidFill>
              <a:srgbClr val="1F7A4D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19672" y="3502152"/>
            <a:ext cx="548640" cy="54864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363016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05472" y="35021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Dev Assistant &amp; Tooling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537960" y="4142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draws from it: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556248" y="44348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assistants &amp; agents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 “map tools” &amp; connectors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context &amp; templates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537960" y="5074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sets requirements; tooling builds them (on the platform).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1463040" y="5532120"/>
            <a:ext cx="9262872" cy="640080"/>
          </a:xfrm>
          <a:prstGeom prst="rect">
            <a:avLst/>
          </a:prstGeom>
          <a:solidFill>
            <a:srgbClr val="E9F4EC"/>
          </a:solidFill>
          <a:ln w="12700">
            <a:solidFill>
              <a:srgbClr val="3D9E6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737360" y="567842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9E6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0512" y="5751576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240280" y="5532120"/>
            <a:ext cx="8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ENABLEMENT   </a:t>
            </a:r>
            <a:pPr indent="0" marL="0">
              <a:buNone/>
            </a:pPr>
            <a:r>
              <a:rPr lang="en-US" sz="12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rules, risk tiers and adoption the whole stack stands 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SDLC — Pillars &amp; Responsibilities</dc:title>
  <dc:subject>PptxGenJS Presentation</dc:subject>
  <dc:creator>AI-SDLC Working Group</dc:creator>
  <cp:lastModifiedBy>AI-SDLC Working Group</cp:lastModifiedBy>
  <cp:revision>1</cp:revision>
  <dcterms:created xsi:type="dcterms:W3CDTF">2026-05-29T10:50:32Z</dcterms:created>
  <dcterms:modified xsi:type="dcterms:W3CDTF">2026-05-29T10:50:32Z</dcterms:modified>
</cp:coreProperties>
</file>