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Design — speaker notes (details behind the flow)
3.1 ShAIping specification creation — Owner BA · Agent in-house (ShAIping) · MCP Bitbucket · Skill repo: specification. BA authors and revises until the 12 checks are green; the release of version N (hashed export) is the human decision.
3.2 Handover to Spec Kit — Owner DEV runs the workflow, BA approves the hierarchy at the gate (ba-review) · Agent in-house handover + Spec Kit specify (import) · MCP Bitbucket · Skill repo: integration. Loop: after_specify validator red → back to ShAIping, max 3; spec.md never hand-edited (hash check).
3.3 Plan creation — Owner DEV; the gates run automatically (Auto), nobody owns the step in the loop. A0 domains check (before_plan hook, to build), A3 standards conformance (after_plan; conformance table + verdict JSON; in progress), plan (epic) on the branch, tasks + analyze (tasks.md phases with IDs feed 3.5; analyze CRITICAL = 0). The design authority decides only if a waiver is raised → ADR.
3.4 Design authority sign-off — Owner TechLead (design authority) · Agent Speckit2Jira + workflow gate · MCP Jira · Skill repo: integration. Epic → 'Design review' + evidence links; the workflow gate records the decision.
3.5 Jira mirror + approved plan — Auto · DEV · Agent Speckit2Jira · MCP Jira (+ Bitbucket read) · Skill repo: integration. Phases from tasks.md → Stories; join file jira-mapping.json; one-way, evidence-only. Exit state (former 3.6): signed plan + ADRs on the branch, spec hash unchanged, conformance green or waived, analyze CRITICAL = 0, tasks carry IDs, Epic 'Design approved' — the resume point for step 4. Open: Stories from phases vs from user stories (20 Aug mirror model).
Status: A0 to build · A3 in progress · Speckit2Jira to confirm.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Implement — speaker notes (details behind the flow)
4.1 Checkout + code graph — Owner DEV · Agent Spec Kit git extension + git CLI, then Graphify (ecosystem skill) · MCP Bitbucket (repo / branch lookup; clone and checkout are git CLI) + Graphify (graph queries) · Skill repo: no (Graphify is external). Branch NNN-slug exists since specify; the Epic key in the name feeds the Jira development panel. '/graphify . --update' re-extracts only changed files; the agent queries the graph instead of reading files. DEV resumes the workflow here.
4.2 Implement ⇄ converge under A4 — Auto · DEV · Agent Spec Kit + in-house A4 (edit guard on every edit, fitness verdict after implement / converge) · MCP Bitbucket + Graphify · Skill repo: architecture. DEV decides only at the native checklist STOP.
4.3 Bounded test loop — Auto · DEV · Agent Spec Kit (workflow do-while, analyze) + in-house traceability validator · MCP Bitbucket · Skill repo: specification. Bounded loop, max N; DEV escalates to the TechLead at the bound. Same test command again as CI required checks on the PR (the merge line).
4.4 Compliance report — Auto · Architect · Agent in-house A3+A4 report + Graphify calls (graph-level checks: dependency direction, boundary crossings against the context map) + Speckit2Jira · MCP Jira (Epic comment + fields) + Bitbucket (PR comment) + Graphify (graph queries) · Skill repo: architecture + integration. TechLead and Architect informed; decision in 4.6.
4.5 Git push — Owner DEV · Agent git extension commit + git CLI push · MCP Bitbucket (open PR). Commits carry task + Carries: IDs. Policy open: agent identity vs DEV pushes.
4.6 Approval → CI/CD — Owner TechLead (PR approval on evidence) + QA (test exit) · Agent Speckit2Jira · MCP Jira + Bitbucket · Skill repo: integration. The workflow gate waits; the PR review in Bitbucket is the actual approval, mirrored one-way to Jira. Epic 'Verified'; code enters the unchanged CI/CD.
Status: A4 in progress · compliance report renderer + test agent to build · push policy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Design in detail — content from agentic-sdlc-speckit-v4 slide 9 (Step 3 · Design), re-cut onto steps 3.1–3.5. Deviation from v4: the design authority is the TechLead (decision of 31 Aug 2026); v4 said lead architect. Added beyond v4: step 3.5 (Speckit2Jira projection) and the tools line. v4 notes: Spec Kit facts: templates/commands/plan.md and templates/plan-template.md (Constitution Check gate; Phase 0/1 outputs), tasks.md, analyze.md (constitution conflicts CRITICAL). In-house status per Roman (17 Aug 2026): ShAIping available; the ShAIping ↔ Spec Kit integration is built; the architecture standards exist as a skills repository (binding to A-gates in progress); the Architecture Assessor is available. Whether the integration already includes a contract test / handover record / hash check was not stated — shown as “to confirm”. Ecosystem: adrkit, architect-preview, arch-governance, api-evolve.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Implement in detail — content from agentic-sdlc-speckit-v4 slide 10 (Step 4 · Implement), re-cut onto steps 4.1–4.6 (evidence on the Epic = 4.4, after the bounded test loop). Added beyond v4: Graphify as the code-graph provider (ecosystem card, 4.1 and 4.4), the Jira / Bitbucket tools line, and the in-step human decisions. v4 notes: Spec Kit facts: templates/commands/tasks.md, taskstoissues.md, implement.md ("STOP and ask" on unchecked checklist items; test tasks first; halt on failure), converge.md; extensions/git/extension.yml hooks. Ecosystem: verify, verify-tasks, review, staff-review, worktrees, architecture-guard, blueprint-index.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A-gates · the principle. Vocabulary from agentic-sdlc-speckit-v4 (slides 5, 6, 14): every guardrail is an extension command with a script (JSON verdict) attached to a Spec Kit hook, plus a preset that shapes what plan and tasks must contain; hooks are convenient (agent-dispatched), the same scripts run as workflow shell gates and CI checks — the hard line. Policy elements = rulebook (standards as skills → ARCH-### rules with severity, scope, check binding), domain master design, constitution article, decision ledger (ADRs, waivers with owner and expiry). Maker = the agent producing the artefact under the policy (Spec Kit commands, ShAIping, Proposer). Checker = the deterministic script verifying against the same policy. Control = hook → workflow shell gate → CI required check → human gate at the boundary (decision table, slide 2 of v4). Guardrail vs gate: a gate composes several guardrails; one guardrail serves several gates (conformance at A3 and A6, fitness at A4/A5/A6).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A0–A7 for management — plain-language view of the A-gates, from agentic-sdlc-speckit-v4 slides 1, 2 and 14 (wheel, decision table, shift-left). Goals per gate: A0 domain map guard — every feature inside one bounded context, domain changes through change control; A1 architecture intake — context + owner on every requirement, Assessor proposals accepted by humans; A2 architecture in the iteration charter — debt items with evidence, cross-context dependency check; A3 plan conformance — Architecture Conformance table verified by script, ADRs, task guard; A4 fitness functions — checklist gate at the start of implement, fitness runner after implement / converge; A5 evidence at test exit — fitness re-run in the deterministic loop, NFR tests, verdict on the PR; A6 required PR status checks with the same scripts, pipeline unchanged; A7 Architecture Assessor between 7 and 1, findings → Proposer → human acceptance. Statuses as of the v4 deck: A7 available, A3/A4 in progress, the rest to build. Design authority for A3 = TechLead (31 Aug 2026 decision).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Spec Kit as the spine. Sources: speckit-plugin verification (17 Aug 2026 — presets/extensions/workflows/bundles verified in a sandbox against github/spec-kit main @ bf88c9f; 'can be plugged in without forking it'), coverage map v4 (native levers, done-today list, 154 extensions / 31 presets), v4 slide 13 (who owns what). Portability argument: policy artifacts and checkers have no Spec Kit dependency; control points (lifecycle hook · workflow gate · CI required check) exist in any SDD host; providers sit behind the contract seam. Exit cost = re-binding control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of the missing agentic suite — content verbatim from agentic-sdlc-speckit-v4 slide 15 (Missing but important — the A-gate roadmap), restyled: 8 items sequenced by dependency and leverage; item 1 turns what is already available (standards as skills, built integration) into a scripted A3 verdict fastest; 2–3 extend enforcement to domains and code; 4–6 close the loop with change control, re-entry and waivers; 7–8 harden evidence. Deploy and operations are out of scope by decision. Addition beyond v4: Speckit2Jira named on item 8 as the delivery vehicle of the KPI view (to confirm).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14630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 · Design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5852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From a business specification to a signed plan — checked by scripts, signed by people.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331720" y="1389888"/>
            <a:ext cx="1741018" cy="1737360"/>
          </a:xfrm>
          <a:prstGeom prst="roundRect">
            <a:avLst>
              <a:gd name="adj" fmla="val 4211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423160" y="148132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23160" y="1481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3.1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1737360"/>
            <a:ext cx="1558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ShAIping specification creation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423160" y="2212848"/>
            <a:ext cx="1558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 authors in ShAIping. Twelve scripted checks loop until green. Released as version N, hashed, stored in the specification repository.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072738" y="2258568"/>
            <a:ext cx="201168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273906" y="1389888"/>
            <a:ext cx="1741018" cy="1737360"/>
          </a:xfrm>
          <a:prstGeom prst="roundRect">
            <a:avLst>
              <a:gd name="adj" fmla="val 4211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5346" y="148132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65346" y="1481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3.2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365346" y="1737360"/>
            <a:ext cx="1558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Formal handover ShAIping → Spec Kit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365346" y="2212848"/>
            <a:ext cx="1558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Export → spec.md + handover record, contract test, then the validator. Red goes back to ShAIping — spec.md is never hand-edited.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14923" y="2258568"/>
            <a:ext cx="201168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16091" y="1389888"/>
            <a:ext cx="1741018" cy="1737360"/>
          </a:xfrm>
          <a:prstGeom prst="roundRect">
            <a:avLst>
              <a:gd name="adj" fmla="val 4211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7531" y="148132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7531" y="1481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3.3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307531" y="1737360"/>
            <a:ext cx="1558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Speckit plan creation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307531" y="2212848"/>
            <a:ext cx="1558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 domain check before planning, A3 standards conformance after — both scripted, no owner in the loop. Plan (epic), tasks + analyze land on the feature branch.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554773" y="1216152"/>
            <a:ext cx="347472" cy="347472"/>
          </a:xfrm>
          <a:prstGeom prst="diamond">
            <a:avLst/>
          </a:prstGeom>
          <a:solidFill>
            <a:srgbClr val="0B5C3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54773" y="1216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70725" y="1216152"/>
            <a:ext cx="347472" cy="347472"/>
          </a:xfrm>
          <a:prstGeom prst="diamond">
            <a:avLst/>
          </a:prstGeom>
          <a:solidFill>
            <a:srgbClr val="0B5C3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70725" y="1216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957109" y="2258568"/>
            <a:ext cx="201168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158277" y="1389888"/>
            <a:ext cx="1741018" cy="1737360"/>
          </a:xfrm>
          <a:prstGeom prst="roundRect">
            <a:avLst>
              <a:gd name="adj" fmla="val 4211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49717" y="148132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49717" y="1481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3.4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8249717" y="1737360"/>
            <a:ext cx="1558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Design authority sign-off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8249717" y="2212848"/>
            <a:ext cx="1558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Epic moves to 'Design review' in Jira with the evidence links. The TechLead, as design authority, decides — the workflow gate waits.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899294" y="2258568"/>
            <a:ext cx="201168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100462" y="1389888"/>
            <a:ext cx="1741018" cy="1737360"/>
          </a:xfrm>
          <a:prstGeom prst="roundRect">
            <a:avLst>
              <a:gd name="adj" fmla="val 4211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191902" y="148132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191902" y="1481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3.5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10191902" y="1737360"/>
            <a:ext cx="1558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Speckit ↔ Jira integration via MCP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0191902" y="2212848"/>
            <a:ext cx="1558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Speckit2Jira via MCP: phases → Stories under the Epic, join file jira-mapping.json. One-way, evidence-only. Approved plan = signed plan + ADRs on the branch, spec hash unchanged, Epic 'Design approved' — the resume point for step 4.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144414" y="1133856"/>
            <a:ext cx="0" cy="256032"/>
          </a:xfrm>
          <a:prstGeom prst="line">
            <a:avLst/>
          </a:prstGeom>
          <a:noFill/>
          <a:ln w="22225">
            <a:solidFill>
              <a:srgbClr val="00915A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3202229" y="1133856"/>
            <a:ext cx="1942186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3202229" y="1133856"/>
            <a:ext cx="0" cy="256032"/>
          </a:xfrm>
          <a:prstGeom prst="line">
            <a:avLst/>
          </a:prstGeom>
          <a:noFill/>
          <a:ln w="22225">
            <a:solidFill>
              <a:srgbClr val="00915A"/>
            </a:solidFill>
            <a:prstDash val="dash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2653589" y="914400"/>
            <a:ext cx="30394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⟲ validator red → back to ShAIping · max 3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036162" y="2121408"/>
            <a:ext cx="274320" cy="274320"/>
          </a:xfrm>
          <a:prstGeom prst="diamond">
            <a:avLst/>
          </a:prstGeom>
          <a:solidFill>
            <a:srgbClr val="F2B84B"/>
          </a:solidFill>
          <a:ln w="15875">
            <a:solidFill>
              <a:srgbClr val="B36B0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350362" y="31729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algn="ctr" indent="0" marL="0"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 releases version 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978347" y="2121408"/>
            <a:ext cx="274320" cy="274320"/>
          </a:xfrm>
          <a:prstGeom prst="diamond">
            <a:avLst/>
          </a:prstGeom>
          <a:solidFill>
            <a:srgbClr val="F2B84B"/>
          </a:solidFill>
          <a:ln w="15875">
            <a:solidFill>
              <a:srgbClr val="B36B0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292547" y="31729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algn="ctr" indent="0" marL="0"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 gate: hierarchy approved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263640" y="33649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 </a:t>
            </a:r>
            <a:pPr algn="ctr" indent="0" marL="0"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design authority: waiver → ADR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862718" y="2121408"/>
            <a:ext cx="274320" cy="274320"/>
          </a:xfrm>
          <a:prstGeom prst="diamond">
            <a:avLst/>
          </a:prstGeom>
          <a:solidFill>
            <a:srgbClr val="F2B84B"/>
          </a:solidFill>
          <a:ln w="15875">
            <a:solidFill>
              <a:srgbClr val="B36B0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176918" y="31729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algn="ctr" indent="0" marL="0"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TechLead: design sign-off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10148011" y="33649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 </a:t>
            </a:r>
            <a:pPr algn="ctr" indent="0" marL="0"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management informed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02336" y="3639312"/>
            <a:ext cx="11439144" cy="651053"/>
          </a:xfrm>
          <a:prstGeom prst="rect">
            <a:avLst/>
          </a:prstGeom>
          <a:solidFill>
            <a:srgbClr val="EE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57200" y="3639312"/>
            <a:ext cx="822960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Owner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1261872" y="3639312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133649" y="3652114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133649" y="365211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075834" y="3652114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075834" y="365211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018020" y="3652114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960206" y="3652114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902391" y="3652114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261872" y="3802075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DEV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133649" y="3814877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075834" y="3814877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075834" y="3814877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018020" y="3814877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018020" y="3814877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8960206" y="3814877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902391" y="3814877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0902391" y="3814877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68" name="Text 66"/>
          <p:cNvSpPr txBox="1"/>
          <p:nvPr/>
        </p:nvSpPr>
        <p:spPr>
          <a:xfrm>
            <a:off x="1261872" y="3964838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133649" y="397764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075834" y="397764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018020" y="397764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960206" y="397764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902391" y="397764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1261872" y="4127602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TechLead · QA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3133649" y="414040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075834" y="414040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018020" y="414040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960206" y="414040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8960206" y="4140403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10902391" y="414040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02336" y="4290365"/>
            <a:ext cx="11439144" cy="65105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457200" y="4290365"/>
            <a:ext cx="822960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Agent</a:t>
            </a:r>
            <a:endParaRPr lang="en-US" sz="900" dirty="0"/>
          </a:p>
        </p:txBody>
      </p:sp>
      <p:sp>
        <p:nvSpPr>
          <p:cNvPr id="83" name="Text 81"/>
          <p:cNvSpPr txBox="1"/>
          <p:nvPr/>
        </p:nvSpPr>
        <p:spPr>
          <a:xfrm>
            <a:off x="1261872" y="4290365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In-house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3133649" y="430316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3133649" y="430316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5075834" y="430316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5075834" y="430316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7018020" y="430316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7018020" y="430316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8960206" y="430316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902391" y="430316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1261872" y="4453128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3133649" y="446593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075834" y="446593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5075834" y="446593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7018020" y="446593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7018020" y="446593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8960206" y="446593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902391" y="446593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1261872" y="4615891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Speckit2Jira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3133649" y="462869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075834" y="462869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018020" y="462869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960206" y="462869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8960206" y="4628693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10902391" y="462869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10902391" y="4628693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08" name="Text 106"/>
          <p:cNvSpPr txBox="1"/>
          <p:nvPr/>
        </p:nvSpPr>
        <p:spPr>
          <a:xfrm>
            <a:off x="1261872" y="4778654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Graphify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3133649" y="479145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075834" y="479145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018020" y="479145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960206" y="479145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0902391" y="479145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02336" y="4941418"/>
            <a:ext cx="11439144" cy="488290"/>
          </a:xfrm>
          <a:prstGeom prst="rect">
            <a:avLst/>
          </a:prstGeom>
          <a:solidFill>
            <a:srgbClr val="EE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457200" y="4941418"/>
            <a:ext cx="82296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MCP</a:t>
            </a:r>
            <a:endParaRPr lang="en-US" sz="900" dirty="0"/>
          </a:p>
        </p:txBody>
      </p:sp>
      <p:sp>
        <p:nvSpPr>
          <p:cNvPr id="116" name="Text 114"/>
          <p:cNvSpPr txBox="1"/>
          <p:nvPr/>
        </p:nvSpPr>
        <p:spPr>
          <a:xfrm>
            <a:off x="1261872" y="4941418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Bitbucket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3133649" y="495421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3133649" y="4954219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5075834" y="495421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5075834" y="4954219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7018020" y="495421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7018020" y="4954219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8960206" y="495421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902391" y="495421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10902391" y="4954219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26" name="Text 124"/>
          <p:cNvSpPr txBox="1"/>
          <p:nvPr/>
        </p:nvSpPr>
        <p:spPr>
          <a:xfrm>
            <a:off x="1261872" y="5104181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Jira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3133649" y="511698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075834" y="511698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018020" y="511698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960206" y="511698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8960206" y="511698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10902391" y="511698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10902391" y="511698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34" name="Text 132"/>
          <p:cNvSpPr txBox="1"/>
          <p:nvPr/>
        </p:nvSpPr>
        <p:spPr>
          <a:xfrm>
            <a:off x="1261872" y="5266944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Graphify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3133649" y="527974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075834" y="527974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018020" y="527974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960206" y="527974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0902391" y="527974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02336" y="5429707"/>
            <a:ext cx="11439144" cy="4882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457200" y="5429707"/>
            <a:ext cx="82296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CIB Skill repo</a:t>
            </a:r>
            <a:endParaRPr lang="en-US" sz="900" dirty="0"/>
          </a:p>
        </p:txBody>
      </p:sp>
      <p:sp>
        <p:nvSpPr>
          <p:cNvPr id="142" name="Text 140"/>
          <p:cNvSpPr txBox="1"/>
          <p:nvPr/>
        </p:nvSpPr>
        <p:spPr>
          <a:xfrm>
            <a:off x="1261872" y="5429707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specification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3133649" y="544250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3133649" y="5442509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45" name="Shape 143"/>
          <p:cNvSpPr/>
          <p:nvPr/>
        </p:nvSpPr>
        <p:spPr>
          <a:xfrm>
            <a:off x="5075834" y="544250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018020" y="544250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960206" y="544250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0902391" y="544250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49" name="Text 147"/>
          <p:cNvSpPr txBox="1"/>
          <p:nvPr/>
        </p:nvSpPr>
        <p:spPr>
          <a:xfrm>
            <a:off x="1261872" y="5592470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150" name="Shape 148"/>
          <p:cNvSpPr/>
          <p:nvPr/>
        </p:nvSpPr>
        <p:spPr>
          <a:xfrm>
            <a:off x="3133649" y="560527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075834" y="560527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52" name="Text 150"/>
          <p:cNvSpPr txBox="1"/>
          <p:nvPr/>
        </p:nvSpPr>
        <p:spPr>
          <a:xfrm>
            <a:off x="5075834" y="560527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53" name="Shape 151"/>
          <p:cNvSpPr/>
          <p:nvPr/>
        </p:nvSpPr>
        <p:spPr>
          <a:xfrm>
            <a:off x="7018020" y="560527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960206" y="560527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55" name="Text 153"/>
          <p:cNvSpPr txBox="1"/>
          <p:nvPr/>
        </p:nvSpPr>
        <p:spPr>
          <a:xfrm>
            <a:off x="8960206" y="560527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56" name="Shape 154"/>
          <p:cNvSpPr/>
          <p:nvPr/>
        </p:nvSpPr>
        <p:spPr>
          <a:xfrm>
            <a:off x="10902391" y="560527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57" name="Text 155"/>
          <p:cNvSpPr txBox="1"/>
          <p:nvPr/>
        </p:nvSpPr>
        <p:spPr>
          <a:xfrm>
            <a:off x="10902391" y="560527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58" name="Text 156"/>
          <p:cNvSpPr txBox="1"/>
          <p:nvPr/>
        </p:nvSpPr>
        <p:spPr>
          <a:xfrm>
            <a:off x="1261872" y="5755234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59" name="Shape 157"/>
          <p:cNvSpPr/>
          <p:nvPr/>
        </p:nvSpPr>
        <p:spPr>
          <a:xfrm>
            <a:off x="3133649" y="5768035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075834" y="5768035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018020" y="5768035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62" name="Text 160"/>
          <p:cNvSpPr txBox="1"/>
          <p:nvPr/>
        </p:nvSpPr>
        <p:spPr>
          <a:xfrm>
            <a:off x="7018020" y="5768035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63" name="Shape 161"/>
          <p:cNvSpPr/>
          <p:nvPr/>
        </p:nvSpPr>
        <p:spPr>
          <a:xfrm>
            <a:off x="8960206" y="5768035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0902391" y="5768035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402336" y="5917997"/>
            <a:ext cx="11439144" cy="162763"/>
          </a:xfrm>
          <a:prstGeom prst="rect">
            <a:avLst/>
          </a:prstGeom>
          <a:solidFill>
            <a:srgbClr val="EE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6" name="Text 164"/>
          <p:cNvSpPr txBox="1"/>
          <p:nvPr/>
        </p:nvSpPr>
        <p:spPr>
          <a:xfrm>
            <a:off x="457200" y="5917997"/>
            <a:ext cx="82296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</a:t>
            </a:r>
            <a:endParaRPr lang="en-US" sz="900" dirty="0"/>
          </a:p>
        </p:txBody>
      </p:sp>
      <p:sp>
        <p:nvSpPr>
          <p:cNvPr id="167" name="Text 165"/>
          <p:cNvSpPr txBox="1"/>
          <p:nvPr/>
        </p:nvSpPr>
        <p:spPr>
          <a:xfrm>
            <a:off x="1261872" y="5917997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 the loop</a:t>
            </a:r>
            <a:endParaRPr lang="en-US" sz="900" dirty="0"/>
          </a:p>
        </p:txBody>
      </p:sp>
      <p:sp>
        <p:nvSpPr>
          <p:cNvPr id="168" name="Text 166"/>
          <p:cNvSpPr txBox="1"/>
          <p:nvPr/>
        </p:nvSpPr>
        <p:spPr>
          <a:xfrm>
            <a:off x="2927909" y="5917997"/>
            <a:ext cx="5486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</a:t>
            </a:r>
            <a:endParaRPr lang="en-US" sz="1100" dirty="0"/>
          </a:p>
        </p:txBody>
      </p:sp>
      <p:sp>
        <p:nvSpPr>
          <p:cNvPr id="169" name="Text 167"/>
          <p:cNvSpPr txBox="1"/>
          <p:nvPr/>
        </p:nvSpPr>
        <p:spPr>
          <a:xfrm>
            <a:off x="4870094" y="5917997"/>
            <a:ext cx="5486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</a:t>
            </a:r>
            <a:endParaRPr lang="en-US" sz="1100" dirty="0"/>
          </a:p>
        </p:txBody>
      </p:sp>
      <p:sp>
        <p:nvSpPr>
          <p:cNvPr id="170" name="Text 168"/>
          <p:cNvSpPr txBox="1"/>
          <p:nvPr/>
        </p:nvSpPr>
        <p:spPr>
          <a:xfrm>
            <a:off x="6812280" y="5917997"/>
            <a:ext cx="5486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</a:t>
            </a:r>
            <a:endParaRPr lang="en-US" sz="1100" dirty="0"/>
          </a:p>
        </p:txBody>
      </p:sp>
      <p:sp>
        <p:nvSpPr>
          <p:cNvPr id="171" name="Text 169"/>
          <p:cNvSpPr txBox="1"/>
          <p:nvPr/>
        </p:nvSpPr>
        <p:spPr>
          <a:xfrm>
            <a:off x="8754466" y="5917997"/>
            <a:ext cx="5486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</a:t>
            </a:r>
            <a:endParaRPr lang="en-US" sz="1100" dirty="0"/>
          </a:p>
        </p:txBody>
      </p:sp>
      <p:sp>
        <p:nvSpPr>
          <p:cNvPr id="172" name="Text 170"/>
          <p:cNvSpPr txBox="1"/>
          <p:nvPr/>
        </p:nvSpPr>
        <p:spPr>
          <a:xfrm>
            <a:off x="10696651" y="5917997"/>
            <a:ext cx="5486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</a:t>
            </a:r>
            <a:endParaRPr lang="en-US" sz="1100" dirty="0"/>
          </a:p>
        </p:txBody>
      </p:sp>
      <p:sp>
        <p:nvSpPr>
          <p:cNvPr id="173" name="Shape 171"/>
          <p:cNvSpPr/>
          <p:nvPr/>
        </p:nvSpPr>
        <p:spPr>
          <a:xfrm>
            <a:off x="402336" y="6181344"/>
            <a:ext cx="11439144" cy="384048"/>
          </a:xfrm>
          <a:prstGeom prst="roundRect">
            <a:avLst>
              <a:gd name="adj" fmla="val 14286"/>
            </a:avLst>
          </a:prstGeom>
          <a:solidFill>
            <a:srgbClr val="EEF4F1"/>
          </a:solidFill>
          <a:ln w="12700">
            <a:solidFill>
              <a:srgbClr val="CFDDD6"/>
            </a:solidFill>
            <a:prstDash val="solid"/>
          </a:ln>
        </p:spPr>
      </p:sp>
      <p:sp>
        <p:nvSpPr>
          <p:cNvPr id="174" name="Text 172"/>
          <p:cNvSpPr txBox="1"/>
          <p:nvPr/>
        </p:nvSpPr>
        <p:spPr>
          <a:xfrm>
            <a:off x="512064" y="6181344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decides — the run pauses     </a:t>
            </a:r>
            <a:pPr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decides only if raised (waiver, STOP)     </a:t>
            </a:r>
            <a:pPr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acts     </a:t>
            </a:r>
            <a:pPr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informed     </a:t>
            </a:r>
            <a:pPr indent="0" marL="0">
              <a:buNone/>
            </a:pPr>
            <a:r>
              <a:rPr lang="en-US" sz="11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applies to the step     </a:t>
            </a:r>
            <a:pPr indent="0" marL="0">
              <a:buNone/>
            </a:pPr>
            <a:r>
              <a:rPr lang="en-US" sz="10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A0 · A3 · A4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 gates — scripted, same script in hook · workflow · CI     </a:t>
            </a:r>
            <a:pPr indent="0" marL="0">
              <a:buNone/>
            </a:pPr>
            <a:r>
              <a:rPr lang="en-US" sz="11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⟲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bounded loop     </a:t>
            </a:r>
            <a:endParaRPr lang="en-US" sz="1100" dirty="0"/>
          </a:p>
        </p:txBody>
      </p:sp>
      <p:sp>
        <p:nvSpPr>
          <p:cNvPr id="175" name="Text 173"/>
          <p:cNvSpPr txBox="1"/>
          <p:nvPr/>
        </p:nvSpPr>
        <p:spPr>
          <a:xfrm>
            <a:off x="6309360" y="6583680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 to build · A3 in progress · Speckit2Jira to confirm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14630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 · Implement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5852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Bounded loops inside, humans at the boundaries — nothing merges without the same scripts green.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331720" y="1389888"/>
            <a:ext cx="1417320" cy="1737360"/>
          </a:xfrm>
          <a:prstGeom prst="roundRect">
            <a:avLst>
              <a:gd name="adj" fmla="val 5161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423160" y="148132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23160" y="1481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4.1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1737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Git checkout · Graphify code graph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423160" y="221284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Clone, checkout the branch NNN-slug (Epic key in the name). Graphify refresh so the agent queries the graph instead of reading files.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749040" y="2258568"/>
            <a:ext cx="201168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950208" y="1389888"/>
            <a:ext cx="1417320" cy="1737360"/>
          </a:xfrm>
          <a:prstGeom prst="roundRect">
            <a:avLst>
              <a:gd name="adj" fmla="val 5161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41648" y="148132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41648" y="1481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4.2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041648" y="1737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Speckit implement ⇄ converge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041648" y="221284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Tests first, task by task. Every edit checked by the edit guard; fitness verdict after implement and converge. Checklist STOP if items are open.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65192" y="1216152"/>
            <a:ext cx="347472" cy="347472"/>
          </a:xfrm>
          <a:prstGeom prst="diamond">
            <a:avLst/>
          </a:prstGeom>
          <a:solidFill>
            <a:srgbClr val="0B5C3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65192" y="1216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367528" y="2258568"/>
            <a:ext cx="201168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568696" y="1389888"/>
            <a:ext cx="1417320" cy="1737360"/>
          </a:xfrm>
          <a:prstGeom prst="roundRect">
            <a:avLst>
              <a:gd name="adj" fmla="val 5161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0136" y="148132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0136" y="1481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4.3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5660136" y="1737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Deterministic test loop 4⇄5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660136" y="221284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Unit · acceptance · fitness run as a workflow step. Red → back to implement, max N. The same command runs again as CI required checks.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986016" y="2258568"/>
            <a:ext cx="201168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187184" y="1389888"/>
            <a:ext cx="1417320" cy="1737360"/>
          </a:xfrm>
          <a:prstGeom prst="roundRect">
            <a:avLst>
              <a:gd name="adj" fmla="val 5161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78624" y="148132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78624" y="1481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4.4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7278624" y="1737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 compliance report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278624" y="221284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 + A4 verdicts and waivers, graph-level checks via Graphify calls, posted to the Jira Epic and the PR. TechLead and Architect are informed — the decision comes later.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604504" y="2258568"/>
            <a:ext cx="201168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805672" y="1389888"/>
            <a:ext cx="1417320" cy="1737360"/>
          </a:xfrm>
          <a:prstGeom prst="roundRect">
            <a:avLst>
              <a:gd name="adj" fmla="val 5161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897112" y="148132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897112" y="1481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4.5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8897112" y="1737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Git push · pull request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8897112" y="221284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Commits carry task + Carries: IDs. PR opened in Bitbucket, draft → ready. Push policy (agent identity vs DEV) to settle.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0222992" y="2258568"/>
            <a:ext cx="201168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424160" y="1389888"/>
            <a:ext cx="1417320" cy="1737360"/>
          </a:xfrm>
          <a:prstGeom prst="roundRect">
            <a:avLst>
              <a:gd name="adj" fmla="val 5161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515600" y="148132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515600" y="1481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4.6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10515600" y="1737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 approval · test exit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10515600" y="221284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TechLead approves the PR on evidence, QA signs the test exit. Epic 'Verified'; code enters the existing CI/CD.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277356" y="1133856"/>
            <a:ext cx="0" cy="256032"/>
          </a:xfrm>
          <a:prstGeom prst="line">
            <a:avLst/>
          </a:prstGeom>
          <a:noFill/>
          <a:ln w="22225">
            <a:solidFill>
              <a:srgbClr val="00915A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4658868" y="1133856"/>
            <a:ext cx="161848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4658868" y="1133856"/>
            <a:ext cx="0" cy="256032"/>
          </a:xfrm>
          <a:prstGeom prst="line">
            <a:avLst/>
          </a:prstGeom>
          <a:noFill/>
          <a:ln w="22225">
            <a:solidFill>
              <a:srgbClr val="00915A"/>
            </a:solidFill>
            <a:prstDash val="dash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4110228" y="914400"/>
            <a:ext cx="271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⟲ suite red → back to implement · max N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2217420" y="33649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</a:t>
            </a:r>
            <a:pPr algn="ctr" indent="0" marL="0"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DEV starts the run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3835908" y="33649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 </a:t>
            </a:r>
            <a:pPr algn="ctr" indent="0" marL="0"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DEV at the checklist STOP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5454396" y="33649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</a:t>
            </a:r>
            <a:pPr algn="ctr" indent="0" marL="0"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escalate at the loop bound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072884" y="33649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 </a:t>
            </a:r>
            <a:pPr algn="ctr" indent="0" marL="0"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TechLead + Architect informed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0186416" y="2121408"/>
            <a:ext cx="274320" cy="274320"/>
          </a:xfrm>
          <a:prstGeom prst="diamond">
            <a:avLst/>
          </a:prstGeom>
          <a:solidFill>
            <a:srgbClr val="F2B84B"/>
          </a:solidFill>
          <a:ln w="15875">
            <a:solidFill>
              <a:srgbClr val="B36B0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500616" y="31729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algn="ctr" indent="0" marL="0"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TechLead PR · QA test exit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02336" y="3639312"/>
            <a:ext cx="11439144" cy="651053"/>
          </a:xfrm>
          <a:prstGeom prst="rect">
            <a:avLst/>
          </a:prstGeom>
          <a:solidFill>
            <a:srgbClr val="EE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57200" y="3639312"/>
            <a:ext cx="822960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Owner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1261872" y="3639312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971800" y="3652114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90288" y="3652114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08776" y="3652114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827264" y="3652114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445752" y="3652114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064240" y="3652114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261872" y="3802075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DEV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971800" y="3814877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2971800" y="3814877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590288" y="3814877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590288" y="3814877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6208776" y="3814877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208776" y="3814877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7827264" y="3814877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445752" y="3814877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445752" y="3814877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1064240" y="3814877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1261872" y="3964838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971800" y="397764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590288" y="397764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208776" y="397764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827264" y="397764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7827264" y="397764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9445752" y="397764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064240" y="397764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1261872" y="4127602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TechLead · QA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971800" y="414040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590288" y="414040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208776" y="414040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827264" y="414040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445752" y="414040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064240" y="414040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11064240" y="4140403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02336" y="4290365"/>
            <a:ext cx="11439144" cy="65105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457200" y="4290365"/>
            <a:ext cx="822960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Agent</a:t>
            </a:r>
            <a:endParaRPr lang="en-US" sz="900" dirty="0"/>
          </a:p>
        </p:txBody>
      </p:sp>
      <p:sp>
        <p:nvSpPr>
          <p:cNvPr id="89" name="Text 87"/>
          <p:cNvSpPr txBox="1"/>
          <p:nvPr/>
        </p:nvSpPr>
        <p:spPr>
          <a:xfrm>
            <a:off x="1261872" y="4290365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In-house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2971800" y="430316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590288" y="430316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4590288" y="430316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6208776" y="430316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6208776" y="430316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7827264" y="430316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7827264" y="430316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9445752" y="430316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1064240" y="430316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1261872" y="4453128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2971800" y="446593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2971800" y="446593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4590288" y="446593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4590288" y="446593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6208776" y="446593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6208776" y="446593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7827264" y="446593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445752" y="446593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9445752" y="446593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11064240" y="446593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1261872" y="4615891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Speckit2Jira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2971800" y="462869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590288" y="462869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208776" y="462869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827264" y="462869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7827264" y="4628693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9445752" y="462869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1064240" y="4628693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11064240" y="4628693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19" name="Text 117"/>
          <p:cNvSpPr txBox="1"/>
          <p:nvPr/>
        </p:nvSpPr>
        <p:spPr>
          <a:xfrm>
            <a:off x="1261872" y="4778654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Graphify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2971800" y="479145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2971800" y="479145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4590288" y="479145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4590288" y="479145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6208776" y="479145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827264" y="479145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7827264" y="479145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9445752" y="479145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1064240" y="479145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02336" y="4941418"/>
            <a:ext cx="11439144" cy="488290"/>
          </a:xfrm>
          <a:prstGeom prst="rect">
            <a:avLst/>
          </a:prstGeom>
          <a:solidFill>
            <a:srgbClr val="EE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457200" y="4941418"/>
            <a:ext cx="82296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MCP</a:t>
            </a:r>
            <a:endParaRPr lang="en-US" sz="900" dirty="0"/>
          </a:p>
        </p:txBody>
      </p:sp>
      <p:sp>
        <p:nvSpPr>
          <p:cNvPr id="131" name="Text 129"/>
          <p:cNvSpPr txBox="1"/>
          <p:nvPr/>
        </p:nvSpPr>
        <p:spPr>
          <a:xfrm>
            <a:off x="1261872" y="4941418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Bitbucket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2971800" y="495421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2971800" y="4954219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4590288" y="495421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4590288" y="4954219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6208776" y="495421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6208776" y="4954219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7827264" y="495421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7827264" y="4954219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9445752" y="495421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9445752" y="4954219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11064240" y="495421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11064240" y="4954219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44" name="Text 142"/>
          <p:cNvSpPr txBox="1"/>
          <p:nvPr/>
        </p:nvSpPr>
        <p:spPr>
          <a:xfrm>
            <a:off x="1261872" y="5104181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Jira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2971800" y="511698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590288" y="511698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208776" y="511698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827264" y="511698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49" name="Text 147"/>
          <p:cNvSpPr txBox="1"/>
          <p:nvPr/>
        </p:nvSpPr>
        <p:spPr>
          <a:xfrm>
            <a:off x="7827264" y="511698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50" name="Shape 148"/>
          <p:cNvSpPr/>
          <p:nvPr/>
        </p:nvSpPr>
        <p:spPr>
          <a:xfrm>
            <a:off x="9445752" y="511698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1064240" y="511698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52" name="Text 150"/>
          <p:cNvSpPr txBox="1"/>
          <p:nvPr/>
        </p:nvSpPr>
        <p:spPr>
          <a:xfrm>
            <a:off x="11064240" y="511698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53" name="Text 151"/>
          <p:cNvSpPr txBox="1"/>
          <p:nvPr/>
        </p:nvSpPr>
        <p:spPr>
          <a:xfrm>
            <a:off x="1261872" y="5266944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Graphify</a:t>
            </a:r>
            <a:endParaRPr lang="en-US" sz="900" dirty="0"/>
          </a:p>
        </p:txBody>
      </p:sp>
      <p:sp>
        <p:nvSpPr>
          <p:cNvPr id="154" name="Shape 152"/>
          <p:cNvSpPr/>
          <p:nvPr/>
        </p:nvSpPr>
        <p:spPr>
          <a:xfrm>
            <a:off x="2971800" y="527974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55" name="Text 153"/>
          <p:cNvSpPr txBox="1"/>
          <p:nvPr/>
        </p:nvSpPr>
        <p:spPr>
          <a:xfrm>
            <a:off x="2971800" y="527974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56" name="Shape 154"/>
          <p:cNvSpPr/>
          <p:nvPr/>
        </p:nvSpPr>
        <p:spPr>
          <a:xfrm>
            <a:off x="4590288" y="527974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57" name="Text 155"/>
          <p:cNvSpPr txBox="1"/>
          <p:nvPr/>
        </p:nvSpPr>
        <p:spPr>
          <a:xfrm>
            <a:off x="4590288" y="527974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58" name="Shape 156"/>
          <p:cNvSpPr/>
          <p:nvPr/>
        </p:nvSpPr>
        <p:spPr>
          <a:xfrm>
            <a:off x="6208776" y="527974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827264" y="527974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60" name="Text 158"/>
          <p:cNvSpPr txBox="1"/>
          <p:nvPr/>
        </p:nvSpPr>
        <p:spPr>
          <a:xfrm>
            <a:off x="7827264" y="527974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61" name="Shape 159"/>
          <p:cNvSpPr/>
          <p:nvPr/>
        </p:nvSpPr>
        <p:spPr>
          <a:xfrm>
            <a:off x="9445752" y="527974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1064240" y="527974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402336" y="5429707"/>
            <a:ext cx="11439144" cy="4882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4" name="Text 162"/>
          <p:cNvSpPr txBox="1"/>
          <p:nvPr/>
        </p:nvSpPr>
        <p:spPr>
          <a:xfrm>
            <a:off x="457200" y="5429707"/>
            <a:ext cx="82296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CIB Skill repo</a:t>
            </a:r>
            <a:endParaRPr lang="en-US" sz="900" dirty="0"/>
          </a:p>
        </p:txBody>
      </p:sp>
      <p:sp>
        <p:nvSpPr>
          <p:cNvPr id="165" name="Text 163"/>
          <p:cNvSpPr txBox="1"/>
          <p:nvPr/>
        </p:nvSpPr>
        <p:spPr>
          <a:xfrm>
            <a:off x="1261872" y="5429707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specification</a:t>
            </a:r>
            <a:endParaRPr lang="en-US" sz="900" dirty="0"/>
          </a:p>
        </p:txBody>
      </p:sp>
      <p:sp>
        <p:nvSpPr>
          <p:cNvPr id="166" name="Shape 164"/>
          <p:cNvSpPr/>
          <p:nvPr/>
        </p:nvSpPr>
        <p:spPr>
          <a:xfrm>
            <a:off x="2971800" y="544250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4590288" y="544250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208776" y="544250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69" name="Text 167"/>
          <p:cNvSpPr txBox="1"/>
          <p:nvPr/>
        </p:nvSpPr>
        <p:spPr>
          <a:xfrm>
            <a:off x="6208776" y="5442509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70" name="Shape 168"/>
          <p:cNvSpPr/>
          <p:nvPr/>
        </p:nvSpPr>
        <p:spPr>
          <a:xfrm>
            <a:off x="7827264" y="544250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9445752" y="544250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1064240" y="5442509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73" name="Text 171"/>
          <p:cNvSpPr txBox="1"/>
          <p:nvPr/>
        </p:nvSpPr>
        <p:spPr>
          <a:xfrm>
            <a:off x="1261872" y="5592470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174" name="Shape 172"/>
          <p:cNvSpPr/>
          <p:nvPr/>
        </p:nvSpPr>
        <p:spPr>
          <a:xfrm>
            <a:off x="2971800" y="560527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4590288" y="560527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208776" y="560527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7827264" y="560527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78" name="Text 176"/>
          <p:cNvSpPr txBox="1"/>
          <p:nvPr/>
        </p:nvSpPr>
        <p:spPr>
          <a:xfrm>
            <a:off x="7827264" y="560527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79" name="Shape 177"/>
          <p:cNvSpPr/>
          <p:nvPr/>
        </p:nvSpPr>
        <p:spPr>
          <a:xfrm>
            <a:off x="9445752" y="560527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1064240" y="5605272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81" name="Text 179"/>
          <p:cNvSpPr txBox="1"/>
          <p:nvPr/>
        </p:nvSpPr>
        <p:spPr>
          <a:xfrm>
            <a:off x="11064240" y="560527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82" name="Text 180"/>
          <p:cNvSpPr txBox="1"/>
          <p:nvPr/>
        </p:nvSpPr>
        <p:spPr>
          <a:xfrm>
            <a:off x="1261872" y="5755234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83" name="Shape 181"/>
          <p:cNvSpPr/>
          <p:nvPr/>
        </p:nvSpPr>
        <p:spPr>
          <a:xfrm>
            <a:off x="2971800" y="5768035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4590288" y="5768035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85" name="Text 183"/>
          <p:cNvSpPr txBox="1"/>
          <p:nvPr/>
        </p:nvSpPr>
        <p:spPr>
          <a:xfrm>
            <a:off x="4590288" y="5768035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86" name="Shape 184"/>
          <p:cNvSpPr/>
          <p:nvPr/>
        </p:nvSpPr>
        <p:spPr>
          <a:xfrm>
            <a:off x="6208776" y="5768035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827264" y="5768035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88" name="Text 186"/>
          <p:cNvSpPr txBox="1"/>
          <p:nvPr/>
        </p:nvSpPr>
        <p:spPr>
          <a:xfrm>
            <a:off x="7827264" y="5768035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</a:t>
            </a:r>
            <a:endParaRPr lang="en-US" sz="800" dirty="0"/>
          </a:p>
        </p:txBody>
      </p:sp>
      <p:sp>
        <p:nvSpPr>
          <p:cNvPr id="189" name="Shape 187"/>
          <p:cNvSpPr/>
          <p:nvPr/>
        </p:nvSpPr>
        <p:spPr>
          <a:xfrm>
            <a:off x="9445752" y="5768035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11064240" y="5768035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4D2CB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402336" y="5917997"/>
            <a:ext cx="11439144" cy="162763"/>
          </a:xfrm>
          <a:prstGeom prst="rect">
            <a:avLst/>
          </a:prstGeom>
          <a:solidFill>
            <a:srgbClr val="EE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2" name="Text 190"/>
          <p:cNvSpPr txBox="1"/>
          <p:nvPr/>
        </p:nvSpPr>
        <p:spPr>
          <a:xfrm>
            <a:off x="457200" y="5917997"/>
            <a:ext cx="82296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</a:t>
            </a:r>
            <a:endParaRPr lang="en-US" sz="900" dirty="0"/>
          </a:p>
        </p:txBody>
      </p:sp>
      <p:sp>
        <p:nvSpPr>
          <p:cNvPr id="193" name="Text 191"/>
          <p:cNvSpPr txBox="1"/>
          <p:nvPr/>
        </p:nvSpPr>
        <p:spPr>
          <a:xfrm>
            <a:off x="1261872" y="5917997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 the loop</a:t>
            </a:r>
            <a:endParaRPr lang="en-US" sz="900" dirty="0"/>
          </a:p>
        </p:txBody>
      </p:sp>
      <p:sp>
        <p:nvSpPr>
          <p:cNvPr id="194" name="Text 192"/>
          <p:cNvSpPr txBox="1"/>
          <p:nvPr/>
        </p:nvSpPr>
        <p:spPr>
          <a:xfrm>
            <a:off x="2766060" y="5917997"/>
            <a:ext cx="5486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</a:t>
            </a:r>
            <a:endParaRPr lang="en-US" sz="1100" dirty="0"/>
          </a:p>
        </p:txBody>
      </p:sp>
      <p:sp>
        <p:nvSpPr>
          <p:cNvPr id="195" name="Text 193"/>
          <p:cNvSpPr txBox="1"/>
          <p:nvPr/>
        </p:nvSpPr>
        <p:spPr>
          <a:xfrm>
            <a:off x="4384548" y="5917997"/>
            <a:ext cx="5486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</a:t>
            </a:r>
            <a:endParaRPr lang="en-US" sz="1100" dirty="0"/>
          </a:p>
        </p:txBody>
      </p:sp>
      <p:sp>
        <p:nvSpPr>
          <p:cNvPr id="196" name="Text 194"/>
          <p:cNvSpPr txBox="1"/>
          <p:nvPr/>
        </p:nvSpPr>
        <p:spPr>
          <a:xfrm>
            <a:off x="6003036" y="5917997"/>
            <a:ext cx="5486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</a:t>
            </a:r>
            <a:endParaRPr lang="en-US" sz="1100" dirty="0"/>
          </a:p>
        </p:txBody>
      </p:sp>
      <p:sp>
        <p:nvSpPr>
          <p:cNvPr id="197" name="Text 195"/>
          <p:cNvSpPr txBox="1"/>
          <p:nvPr/>
        </p:nvSpPr>
        <p:spPr>
          <a:xfrm>
            <a:off x="7621524" y="5917997"/>
            <a:ext cx="5486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</a:t>
            </a:r>
            <a:endParaRPr lang="en-US" sz="1100" dirty="0"/>
          </a:p>
        </p:txBody>
      </p:sp>
      <p:sp>
        <p:nvSpPr>
          <p:cNvPr id="198" name="Text 196"/>
          <p:cNvSpPr txBox="1"/>
          <p:nvPr/>
        </p:nvSpPr>
        <p:spPr>
          <a:xfrm>
            <a:off x="9240012" y="5917997"/>
            <a:ext cx="5486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—</a:t>
            </a:r>
            <a:endParaRPr lang="en-US" sz="1100" dirty="0"/>
          </a:p>
        </p:txBody>
      </p:sp>
      <p:sp>
        <p:nvSpPr>
          <p:cNvPr id="199" name="Text 197"/>
          <p:cNvSpPr txBox="1"/>
          <p:nvPr/>
        </p:nvSpPr>
        <p:spPr>
          <a:xfrm>
            <a:off x="10858500" y="5917997"/>
            <a:ext cx="5486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</a:t>
            </a:r>
            <a:endParaRPr lang="en-US" sz="1100" dirty="0"/>
          </a:p>
        </p:txBody>
      </p:sp>
      <p:sp>
        <p:nvSpPr>
          <p:cNvPr id="200" name="Shape 198"/>
          <p:cNvSpPr/>
          <p:nvPr/>
        </p:nvSpPr>
        <p:spPr>
          <a:xfrm>
            <a:off x="402336" y="6181344"/>
            <a:ext cx="11439144" cy="384048"/>
          </a:xfrm>
          <a:prstGeom prst="roundRect">
            <a:avLst>
              <a:gd name="adj" fmla="val 14286"/>
            </a:avLst>
          </a:prstGeom>
          <a:solidFill>
            <a:srgbClr val="EEF4F1"/>
          </a:solidFill>
          <a:ln w="12700">
            <a:solidFill>
              <a:srgbClr val="CFDDD6"/>
            </a:solidFill>
            <a:prstDash val="solid"/>
          </a:ln>
        </p:spPr>
      </p:sp>
      <p:sp>
        <p:nvSpPr>
          <p:cNvPr id="201" name="Text 199"/>
          <p:cNvSpPr txBox="1"/>
          <p:nvPr/>
        </p:nvSpPr>
        <p:spPr>
          <a:xfrm>
            <a:off x="512064" y="6181344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decides — the run pauses     </a:t>
            </a:r>
            <a:pPr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decides only if raised (waiver, STOP)     </a:t>
            </a:r>
            <a:pPr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acts     </a:t>
            </a:r>
            <a:pPr indent="0" marL="0">
              <a:buNone/>
            </a:pPr>
            <a:r>
              <a:rPr lang="en-US" sz="11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informed     </a:t>
            </a:r>
            <a:pPr indent="0" marL="0">
              <a:buNone/>
            </a:pPr>
            <a:r>
              <a:rPr lang="en-US" sz="11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applies to the step     </a:t>
            </a:r>
            <a:pPr indent="0" marL="0">
              <a:buNone/>
            </a:pPr>
            <a:r>
              <a:rPr lang="en-US" sz="10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A0 · A3 · A4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 gates — scripted, same script in hook · workflow · CI     </a:t>
            </a:r>
            <a:pPr indent="0" marL="0">
              <a:buNone/>
            </a:pPr>
            <a:r>
              <a:rPr lang="en-US" sz="11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⟲ </a:t>
            </a:r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bounded loop     </a:t>
            </a:r>
            <a:endParaRPr lang="en-US" sz="1100" dirty="0"/>
          </a:p>
        </p:txBody>
      </p:sp>
      <p:sp>
        <p:nvSpPr>
          <p:cNvPr id="202" name="Text 200"/>
          <p:cNvSpPr txBox="1"/>
          <p:nvPr/>
        </p:nvSpPr>
        <p:spPr>
          <a:xfrm>
            <a:off x="6309360" y="6583680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 in progress · compliance report + test agent to build · push policy open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14630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 · Design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621792"/>
            <a:ext cx="7406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Kit’s core step — and where most is already done: ShAIping authors, the built ShAIping ↔ Spec Kit integration imports, the architecture standards (skills) feed the plan; A3 makes conformance a scripted verdict and the design authority signs.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973568" y="182880"/>
            <a:ext cx="1097280" cy="201168"/>
          </a:xfrm>
          <a:prstGeom prst="roundRect">
            <a:avLst>
              <a:gd name="adj" fmla="val 50000"/>
            </a:avLst>
          </a:prstGeom>
          <a:solidFill>
            <a:srgbClr val="0E6B45"/>
          </a:solidFill>
          <a:ln w="12700">
            <a:solidFill>
              <a:srgbClr val="0E6B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73568" y="1828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native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144000" y="182880"/>
            <a:ext cx="1298448" cy="201168"/>
          </a:xfrm>
          <a:prstGeom prst="roundRect">
            <a:avLst>
              <a:gd name="adj" fmla="val 50000"/>
            </a:avLst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0" y="18288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In-house — available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515600" y="182880"/>
            <a:ext cx="1325880" cy="201168"/>
          </a:xfrm>
          <a:prstGeom prst="roundRect">
            <a:avLst>
              <a:gd name="adj" fmla="val 50000"/>
            </a:avLst>
          </a:prstGeom>
          <a:solidFill>
            <a:srgbClr val="D28E14"/>
          </a:solidFill>
          <a:ln w="12700">
            <a:solidFill>
              <a:srgbClr val="D28E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0" y="18288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In-house — in progress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973568" y="438912"/>
            <a:ext cx="1234440" cy="201168"/>
          </a:xfrm>
          <a:prstGeom prst="roundRect">
            <a:avLst>
              <a:gd name="adj" fmla="val 50000"/>
            </a:avLst>
          </a:prstGeom>
          <a:solidFill>
            <a:srgbClr val="3E4F48"/>
          </a:solidFill>
          <a:ln w="12700">
            <a:solidFill>
              <a:srgbClr val="3E4F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73568" y="4389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Ecosystem pattern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281160" y="438912"/>
            <a:ext cx="1280160" cy="201168"/>
          </a:xfrm>
          <a:prstGeom prst="roundRect">
            <a:avLst>
              <a:gd name="adj" fmla="val 50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81160" y="4389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Missing → to build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02336" y="1444752"/>
            <a:ext cx="2126894" cy="1005840"/>
          </a:xfrm>
          <a:prstGeom prst="roundRect">
            <a:avLst>
              <a:gd name="adj" fmla="val 6364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1508760"/>
            <a:ext cx="384048" cy="164592"/>
          </a:xfrm>
          <a:prstGeom prst="roundRect">
            <a:avLst>
              <a:gd name="adj" fmla="val 22222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" y="15087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3.1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1490472"/>
            <a:ext cx="15599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ShAIping specification creation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75488" y="1865376"/>
            <a:ext cx="1980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ShAIping — EventStorming inside a context · D ← BR ← AC ← SC ← UC · 12 scripted checks ✓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529230" y="1947672"/>
            <a:ext cx="20116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730398" y="1444752"/>
            <a:ext cx="2126894" cy="1005840"/>
          </a:xfrm>
          <a:prstGeom prst="roundRect">
            <a:avLst>
              <a:gd name="adj" fmla="val 6364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803550" y="1508760"/>
            <a:ext cx="384048" cy="164592"/>
          </a:xfrm>
          <a:prstGeom prst="roundRect">
            <a:avLst>
              <a:gd name="adj" fmla="val 22222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03550" y="15087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3.2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3242462" y="1490472"/>
            <a:ext cx="15599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Formal handover ShAIping → Spec Kit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2803550" y="1865376"/>
            <a:ext cx="1980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ShAIping ↔ Spec Kit integration ✓ imports the spec (hardening: contract test) · /speckit.specify in import mode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857293" y="1947672"/>
            <a:ext cx="20116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058461" y="1444752"/>
            <a:ext cx="2126894" cy="1005840"/>
          </a:xfrm>
          <a:prstGeom prst="roundRect">
            <a:avLst>
              <a:gd name="adj" fmla="val 6364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131613" y="1508760"/>
            <a:ext cx="384048" cy="164592"/>
          </a:xfrm>
          <a:prstGeom prst="roundRect">
            <a:avLst>
              <a:gd name="adj" fmla="val 22222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31613" y="15087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3.3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5570525" y="1490472"/>
            <a:ext cx="8650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Speckit plan creation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5131613" y="1865376"/>
            <a:ext cx="1980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before_plan: A0 domain check + context loader (standards skills) · /speckit.plan (wrapped) · after_plan: A3 conformance script + ADR draft · analyze (constitution = CRITICAL) · /speckit.tasks (wrapped) + after_tasks task guard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856171" y="1307592"/>
            <a:ext cx="274320" cy="274320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6171" y="1307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545275" y="1307592"/>
            <a:ext cx="274320" cy="274320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45275" y="1307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185355" y="1947672"/>
            <a:ext cx="20116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386523" y="1444752"/>
            <a:ext cx="2126894" cy="1005840"/>
          </a:xfrm>
          <a:prstGeom prst="roundRect">
            <a:avLst>
              <a:gd name="adj" fmla="val 6364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459675" y="1508760"/>
            <a:ext cx="384048" cy="164592"/>
          </a:xfrm>
          <a:prstGeom prst="roundRect">
            <a:avLst>
              <a:gd name="adj" fmla="val 22222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459675" y="15087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3.4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7898587" y="1490472"/>
            <a:ext cx="15599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Design authority sign-off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7459675" y="1865376"/>
            <a:ext cx="1980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design authority sign-off on evidence: plan.md with Constitution Check + Architecture Conformance table, analyze report, ADRs · Epic → ‘Design review’ in Jira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9513418" y="1947672"/>
            <a:ext cx="20116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9714586" y="1444752"/>
            <a:ext cx="2126894" cy="1005840"/>
          </a:xfrm>
          <a:prstGeom prst="roundRect">
            <a:avLst>
              <a:gd name="adj" fmla="val 6364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787738" y="1508760"/>
            <a:ext cx="384048" cy="164592"/>
          </a:xfrm>
          <a:prstGeom prst="roundRect">
            <a:avLst>
              <a:gd name="adj" fmla="val 22222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787738" y="15087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3.5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10226650" y="1490472"/>
            <a:ext cx="15599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Speckit ↔ Jira integration via MCP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9787738" y="1865376"/>
            <a:ext cx="1980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Speckit2Jira via MCP: phases → Stories under the Epic · one-way, evidence-only · Epic ‘Design approved’ = the resume point for step 4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510942" y="1828800"/>
            <a:ext cx="237744" cy="237744"/>
          </a:xfrm>
          <a:prstGeom prst="diamond">
            <a:avLst/>
          </a:prstGeom>
          <a:solidFill>
            <a:srgbClr val="F2B84B"/>
          </a:solidFill>
          <a:ln w="12700">
            <a:solidFill>
              <a:srgbClr val="B36B0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806854" y="2487168"/>
            <a:ext cx="1645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algn="ctr" indent="0" marL="0"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 releases version 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39005" y="1828800"/>
            <a:ext cx="237744" cy="237744"/>
          </a:xfrm>
          <a:prstGeom prst="diamond">
            <a:avLst/>
          </a:prstGeom>
          <a:solidFill>
            <a:srgbClr val="F2B84B"/>
          </a:solidFill>
          <a:ln w="12700">
            <a:solidFill>
              <a:srgbClr val="B36B0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134917" y="2487168"/>
            <a:ext cx="1645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algn="ctr" indent="0" marL="0"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 gate: hierarchy approved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5298948" y="2660904"/>
            <a:ext cx="1645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 </a:t>
            </a:r>
            <a:pPr algn="ctr" indent="0" marL="0"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design authority: waiver → ADR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495130" y="1828800"/>
            <a:ext cx="237744" cy="237744"/>
          </a:xfrm>
          <a:prstGeom prst="diamond">
            <a:avLst/>
          </a:prstGeom>
          <a:solidFill>
            <a:srgbClr val="F2B84B"/>
          </a:solidFill>
          <a:ln w="12700">
            <a:solidFill>
              <a:srgbClr val="B36B0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791042" y="2487168"/>
            <a:ext cx="1645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algn="ctr" indent="0" marL="0"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TechLead: design sign-off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9955073" y="2660904"/>
            <a:ext cx="1645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 </a:t>
            </a:r>
            <a:pPr algn="ctr" indent="0" marL="0"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management informed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793846" y="1207008"/>
            <a:ext cx="0" cy="237744"/>
          </a:xfrm>
          <a:prstGeom prst="line">
            <a:avLst/>
          </a:prstGeom>
          <a:noFill/>
          <a:ln w="19050">
            <a:solidFill>
              <a:srgbClr val="00915A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1465783" y="1207008"/>
            <a:ext cx="2328062" cy="0"/>
          </a:xfrm>
          <a:prstGeom prst="line">
            <a:avLst/>
          </a:prstGeom>
          <a:noFill/>
          <a:ln w="19050">
            <a:solidFill>
              <a:srgbClr val="00915A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1465783" y="1207008"/>
            <a:ext cx="0" cy="237744"/>
          </a:xfrm>
          <a:prstGeom prst="line">
            <a:avLst/>
          </a:prstGeom>
          <a:noFill/>
          <a:ln w="19050">
            <a:solidFill>
              <a:srgbClr val="00915A"/>
            </a:solidFill>
            <a:prstDash val="dash"/>
            <a:tailEnd type="triangle"/>
          </a:ln>
        </p:spPr>
      </p:sp>
      <p:sp>
        <p:nvSpPr>
          <p:cNvPr id="58" name="Text 56"/>
          <p:cNvSpPr txBox="1"/>
          <p:nvPr/>
        </p:nvSpPr>
        <p:spPr>
          <a:xfrm>
            <a:off x="917143" y="1024128"/>
            <a:ext cx="342534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⟲ validator red → back to ShAIping · max 3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02336" y="2871216"/>
            <a:ext cx="11439144" cy="658368"/>
          </a:xfrm>
          <a:prstGeom prst="roundRect">
            <a:avLst>
              <a:gd name="adj" fmla="val 8333"/>
            </a:avLst>
          </a:prstGeom>
          <a:solidFill>
            <a:srgbClr val="EEF4F1"/>
          </a:solidFill>
          <a:ln w="12700">
            <a:solidFill>
              <a:srgbClr val="CFDDD6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12064" y="29077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Guardrails inside the step (scripted checks)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512064" y="3090672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 ShAIping’s scripted checks pass before the import ✓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 import complete: every UC / SC / AC / BR / D item with its ID (contract test to confirm)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 A0: domain-map version pinned; one context per feature</a:t>
            </a:r>
            <a:endParaRPr lang="en-US" sz="800" dirty="0"/>
          </a:p>
        </p:txBody>
      </p:sp>
      <p:sp>
        <p:nvSpPr>
          <p:cNvPr id="62" name="Text 60"/>
          <p:cNvSpPr txBox="1"/>
          <p:nvPr/>
        </p:nvSpPr>
        <p:spPr>
          <a:xfrm>
            <a:off x="6181344" y="3090672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 A3: Constitution Check + Architecture Conformance table, verified by script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 analyze CRITICAL = 0; tasks carry IDs; fitness-test tasks present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402336" y="36027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Agents &amp; tools on this step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402336" y="3840480"/>
            <a:ext cx="3584448" cy="1170432"/>
          </a:xfrm>
          <a:prstGeom prst="roundRect">
            <a:avLst>
              <a:gd name="adj" fmla="val 5469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65" name="Text 63"/>
          <p:cNvSpPr txBox="1"/>
          <p:nvPr/>
        </p:nvSpPr>
        <p:spPr>
          <a:xfrm>
            <a:off x="493776" y="3904488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ShAIping — specification authoring · ShAIping ↔ Spec Kit integration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542032" y="3913632"/>
            <a:ext cx="1353312" cy="182880"/>
          </a:xfrm>
          <a:prstGeom prst="roundRect">
            <a:avLst>
              <a:gd name="adj" fmla="val 55000"/>
            </a:avLst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2542032" y="39136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In-house — available</a:t>
            </a:r>
            <a:endParaRPr lang="en-US" sz="750" dirty="0"/>
          </a:p>
        </p:txBody>
      </p:sp>
      <p:sp>
        <p:nvSpPr>
          <p:cNvPr id="68" name="Text 66"/>
          <p:cNvSpPr txBox="1"/>
          <p:nvPr/>
        </p:nvSpPr>
        <p:spPr>
          <a:xfrm>
            <a:off x="493776" y="4306824"/>
            <a:ext cx="34015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DDD / EventStorming inside a bounded context; golden rule D ← BR ← AC ← SC ← UC; 12 deterministic authoring checks (FAIL blocks, WARN advises); the integration into Spec Kit is built — ShAIping stays the golden source, spec.md is what gets planned. Hardening to confirm: contract test, handover record, hash check.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133088" y="3840480"/>
            <a:ext cx="3584448" cy="1170432"/>
          </a:xfrm>
          <a:prstGeom prst="roundRect">
            <a:avLst>
              <a:gd name="adj" fmla="val 5469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70" name="Text 68"/>
          <p:cNvSpPr txBox="1"/>
          <p:nvPr/>
        </p:nvSpPr>
        <p:spPr>
          <a:xfrm>
            <a:off x="4224528" y="3904488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 standards as skills → rulebook (A3 input)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6272784" y="3913632"/>
            <a:ext cx="1353312" cy="182880"/>
          </a:xfrm>
          <a:prstGeom prst="roundRect">
            <a:avLst>
              <a:gd name="adj" fmla="val 55000"/>
            </a:avLst>
          </a:prstGeom>
          <a:solidFill>
            <a:srgbClr val="D28E14"/>
          </a:solidFill>
          <a:ln w="12700">
            <a:solidFill>
              <a:srgbClr val="D28E14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6272784" y="39136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In-house — in progress</a:t>
            </a:r>
            <a:endParaRPr lang="en-US" sz="750" dirty="0"/>
          </a:p>
        </p:txBody>
      </p:sp>
      <p:sp>
        <p:nvSpPr>
          <p:cNvPr id="73" name="Text 71"/>
          <p:cNvSpPr txBox="1"/>
          <p:nvPr/>
        </p:nvSpPr>
        <p:spPr>
          <a:xfrm>
            <a:off x="4224528" y="4306824"/>
            <a:ext cx="34015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corporate architecture standards exist as a skills repository (available); binding them to the A-gates as ARCH-### rules with check bindings — loaded by the context loader before plan, referenced by the plan / tasks presets — is in progress.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02336" y="5102352"/>
            <a:ext cx="3584448" cy="1170432"/>
          </a:xfrm>
          <a:prstGeom prst="roundRect">
            <a:avLst>
              <a:gd name="adj" fmla="val 5469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75" name="Text 73"/>
          <p:cNvSpPr txBox="1"/>
          <p:nvPr/>
        </p:nvSpPr>
        <p:spPr>
          <a:xfrm>
            <a:off x="493776" y="5166360"/>
            <a:ext cx="2011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/speckit.plan · /speckit.tasks · /speckit.analyze — the native levers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2542032" y="5175504"/>
            <a:ext cx="1353312" cy="182880"/>
          </a:xfrm>
          <a:prstGeom prst="roundRect">
            <a:avLst>
              <a:gd name="adj" fmla="val 55000"/>
            </a:avLst>
          </a:prstGeom>
          <a:solidFill>
            <a:srgbClr val="0E6B45"/>
          </a:solidFill>
          <a:ln w="12700">
            <a:solidFill>
              <a:srgbClr val="0E6B45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2542032" y="517550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native</a:t>
            </a:r>
            <a:endParaRPr lang="en-US" sz="750" dirty="0"/>
          </a:p>
        </p:txBody>
      </p:sp>
      <p:sp>
        <p:nvSpPr>
          <p:cNvPr id="78" name="Text 76"/>
          <p:cNvSpPr txBox="1"/>
          <p:nvPr/>
        </p:nvSpPr>
        <p:spPr>
          <a:xfrm>
            <a:off x="493776" y="5715000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plan.md carries a Constitution Check ("GATE: must pass before Phase 0 research, re-check after Phase 1 design", gates determined from the constitution); analyze marks constitution conflicts and missing mandated sections CRITICAL; tasks.md by user story with [P] markers — all three read the constitution, so rules placed there are seen natively.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133088" y="5102352"/>
            <a:ext cx="3584448" cy="1170432"/>
          </a:xfrm>
          <a:prstGeom prst="roundRect">
            <a:avLst>
              <a:gd name="adj" fmla="val 5469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80" name="Text 78"/>
          <p:cNvSpPr txBox="1"/>
          <p:nvPr/>
        </p:nvSpPr>
        <p:spPr>
          <a:xfrm>
            <a:off x="4224528" y="5166360"/>
            <a:ext cx="2011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 wiring to build: conformance script · decision ledger · task guard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272784" y="5175504"/>
            <a:ext cx="1353312" cy="182880"/>
          </a:xfrm>
          <a:prstGeom prst="roundRect">
            <a:avLst>
              <a:gd name="adj" fmla="val 55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6272784" y="517550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Missing → to build</a:t>
            </a:r>
            <a:endParaRPr lang="en-US" sz="750" dirty="0"/>
          </a:p>
        </p:txBody>
      </p:sp>
      <p:sp>
        <p:nvSpPr>
          <p:cNvPr id="83" name="Text 81"/>
          <p:cNvSpPr txBox="1"/>
          <p:nvPr/>
        </p:nvSpPr>
        <p:spPr>
          <a:xfrm>
            <a:off x="4224528" y="5715000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preset wraps plan with an Architecture Conformance table; after_plan script verifies it (JSON verdict) and writes checklists/architecture.md; ADR drafted into the ledger; after_tasks script checks Carries: IDs and mandated fitness-test tasks. Patterns: adrkit, architect-preview, arch-governance.</a:t>
            </a:r>
            <a:endParaRPr lang="en-US" sz="800" dirty="0"/>
          </a:p>
        </p:txBody>
      </p:sp>
      <p:sp>
        <p:nvSpPr>
          <p:cNvPr id="84" name="Text 82"/>
          <p:cNvSpPr txBox="1"/>
          <p:nvPr/>
        </p:nvSpPr>
        <p:spPr>
          <a:xfrm>
            <a:off x="402336" y="630936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Tools: Bitbucket (specification + code repositories) · Jira via MCP (Epic, Stories, gate notification) · CIB skill repo (specification · integration · architecture skills)</a:t>
            </a:r>
            <a:endParaRPr lang="en-US" sz="750" dirty="0"/>
          </a:p>
        </p:txBody>
      </p:sp>
      <p:sp>
        <p:nvSpPr>
          <p:cNvPr id="85" name="Text 83"/>
          <p:cNvSpPr txBox="1"/>
          <p:nvPr/>
        </p:nvSpPr>
        <p:spPr>
          <a:xfrm>
            <a:off x="7909560" y="36027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decision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7909560" y="3840480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3E4F48"/>
          </a:solidFill>
          <a:ln w="12700">
            <a:solidFill>
              <a:srgbClr val="3E4F48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8019288" y="3877056"/>
            <a:ext cx="3712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FE9D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DECISION AT THE BOUNDARY</a:t>
            </a:r>
            <a:endParaRPr lang="en-US" sz="750" dirty="0"/>
          </a:p>
        </p:txBody>
      </p:sp>
      <p:sp>
        <p:nvSpPr>
          <p:cNvPr id="88" name="Text 86"/>
          <p:cNvSpPr txBox="1"/>
          <p:nvPr/>
        </p:nvSpPr>
        <p:spPr>
          <a:xfrm>
            <a:off x="8019288" y="4023360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Design authority sign-off</a:t>
            </a:r>
            <a:endParaRPr lang="en-US" sz="1200" dirty="0"/>
          </a:p>
        </p:txBody>
      </p:sp>
      <p:sp>
        <p:nvSpPr>
          <p:cNvPr id="89" name="Text 87"/>
          <p:cNvSpPr txBox="1"/>
          <p:nvPr/>
        </p:nvSpPr>
        <p:spPr>
          <a:xfrm>
            <a:off x="8019288" y="4242816"/>
            <a:ext cx="3712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By: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TechLead, as design authority, signs the plan; the BA signs the specification</a:t>
            </a:r>
            <a:endParaRPr lang="en-US" sz="800" dirty="0"/>
          </a:p>
        </p:txBody>
      </p:sp>
      <p:sp>
        <p:nvSpPr>
          <p:cNvPr id="90" name="Text 88"/>
          <p:cNvSpPr txBox="1"/>
          <p:nvPr/>
        </p:nvSpPr>
        <p:spPr>
          <a:xfrm>
            <a:off x="7909560" y="4608576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 BA releases version N of the specification (after the 12 checks)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 BA gate — hierarchy approved after the handover validator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  design authority — only if a waiver is raised → ADR in the ledger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 TechLead — design sign-off on evidence → signed plan + ADRs, Epic ‘Design approved’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  management informed through the Jira projection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7909560" y="5468112"/>
            <a:ext cx="3931920" cy="201168"/>
          </a:xfrm>
          <a:prstGeom prst="roundRect">
            <a:avLst>
              <a:gd name="adj" fmla="val 50000"/>
            </a:avLst>
          </a:prstGeom>
          <a:solidFill>
            <a:srgbClr val="D28E14"/>
          </a:solidFill>
          <a:ln w="12700">
            <a:solidFill>
              <a:srgbClr val="D28E14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7909560" y="54681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 · plan conformance — in progress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7909560" y="5724144"/>
            <a:ext cx="3931920" cy="182880"/>
          </a:xfrm>
          <a:prstGeom prst="roundRect">
            <a:avLst>
              <a:gd name="adj" fmla="val 55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7909560" y="572414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MISSING → to build for the guardrails</a:t>
            </a:r>
            <a:endParaRPr lang="en-US" sz="800" dirty="0"/>
          </a:p>
        </p:txBody>
      </p:sp>
      <p:sp>
        <p:nvSpPr>
          <p:cNvPr id="95" name="Text 93"/>
          <p:cNvSpPr txBox="1"/>
          <p:nvPr/>
        </p:nvSpPr>
        <p:spPr>
          <a:xfrm>
            <a:off x="7909560" y="5943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✗  Handover hardening if not already in the integration: contract test, handover record, hash check on spec.md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✗  A3 wiring: context loader (before_plan), Architecture Conformance preset wrap, conformance script (after_plan)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✗  Decision ledger (ADR per significant decision) and task guard (after_tasks)</a:t>
            </a:r>
            <a:endParaRPr lang="en-US" sz="750" dirty="0"/>
          </a:p>
        </p:txBody>
      </p:sp>
      <p:sp>
        <p:nvSpPr>
          <p:cNvPr id="96" name="Text 94"/>
          <p:cNvSpPr txBox="1"/>
          <p:nvPr/>
        </p:nvSpPr>
        <p:spPr>
          <a:xfrm>
            <a:off x="402336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human decides — run pauses   ◇ only if raised   ▲ human acts   ○ informed   ⟲ bounded loop</a:t>
            </a:r>
            <a:endParaRPr lang="en-US" sz="750" dirty="0"/>
          </a:p>
        </p:txBody>
      </p:sp>
      <p:sp>
        <p:nvSpPr>
          <p:cNvPr id="97" name="Text 95"/>
          <p:cNvSpPr txBox="1"/>
          <p:nvPr/>
        </p:nvSpPr>
        <p:spPr>
          <a:xfrm>
            <a:off x="4114800" y="6492240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facts verified against github/spec-kit main @ e4895d1 (17 Aug 2026) · in-house status (ShAIping, its Spec Kit integration, standards as skills, Assessor) as stated by UltraSDLC · "to build" = proposal · 6–7 = existing CI/CD &amp; ops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14630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 · Implement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621792"/>
            <a:ext cx="7406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native Spec Kit agents are already here: implement ⇄ converge build the spec tests-first, with the checklist STOP-gate at the start; A4 adds the fitness-function runner at the end — the same script runs again in the test loop and on the pull request.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973568" y="182880"/>
            <a:ext cx="1097280" cy="201168"/>
          </a:xfrm>
          <a:prstGeom prst="roundRect">
            <a:avLst>
              <a:gd name="adj" fmla="val 50000"/>
            </a:avLst>
          </a:prstGeom>
          <a:solidFill>
            <a:srgbClr val="0E6B45"/>
          </a:solidFill>
          <a:ln w="12700">
            <a:solidFill>
              <a:srgbClr val="0E6B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73568" y="1828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native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144000" y="182880"/>
            <a:ext cx="1298448" cy="201168"/>
          </a:xfrm>
          <a:prstGeom prst="roundRect">
            <a:avLst>
              <a:gd name="adj" fmla="val 50000"/>
            </a:avLst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0" y="18288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In-house — available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515600" y="182880"/>
            <a:ext cx="1325880" cy="201168"/>
          </a:xfrm>
          <a:prstGeom prst="roundRect">
            <a:avLst>
              <a:gd name="adj" fmla="val 50000"/>
            </a:avLst>
          </a:prstGeom>
          <a:solidFill>
            <a:srgbClr val="D28E14"/>
          </a:solidFill>
          <a:ln w="12700">
            <a:solidFill>
              <a:srgbClr val="D28E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0" y="18288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In-house — in progress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973568" y="438912"/>
            <a:ext cx="1234440" cy="201168"/>
          </a:xfrm>
          <a:prstGeom prst="roundRect">
            <a:avLst>
              <a:gd name="adj" fmla="val 50000"/>
            </a:avLst>
          </a:prstGeom>
          <a:solidFill>
            <a:srgbClr val="3E4F48"/>
          </a:solidFill>
          <a:ln w="12700">
            <a:solidFill>
              <a:srgbClr val="3E4F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73568" y="4389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Ecosystem pattern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281160" y="438912"/>
            <a:ext cx="1280160" cy="201168"/>
          </a:xfrm>
          <a:prstGeom prst="roundRect">
            <a:avLst>
              <a:gd name="adj" fmla="val 50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81160" y="4389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Missing → to build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02336" y="1444752"/>
            <a:ext cx="1738884" cy="1005840"/>
          </a:xfrm>
          <a:prstGeom prst="roundRect">
            <a:avLst>
              <a:gd name="adj" fmla="val 6364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1508760"/>
            <a:ext cx="384048" cy="164592"/>
          </a:xfrm>
          <a:prstGeom prst="roundRect">
            <a:avLst>
              <a:gd name="adj" fmla="val 22222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" y="15087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4.1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1490472"/>
            <a:ext cx="11719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Git checkout · Graphify code graph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75488" y="1865376"/>
            <a:ext cx="1592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before_implement: A0 pin check · context loader (standards) · checkout NNN-slug (Epic key in the name) · Graphify code graph refresh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141220" y="1947672"/>
            <a:ext cx="20116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342388" y="1444752"/>
            <a:ext cx="1738884" cy="1005840"/>
          </a:xfrm>
          <a:prstGeom prst="roundRect">
            <a:avLst>
              <a:gd name="adj" fmla="val 6364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15540" y="1508760"/>
            <a:ext cx="384048" cy="164592"/>
          </a:xfrm>
          <a:prstGeom prst="roundRect">
            <a:avLst>
              <a:gd name="adj" fmla="val 22222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415540" y="15087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4.2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2854452" y="1490472"/>
            <a:ext cx="7879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Speckit implement ⇄ converge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2415540" y="1865376"/>
            <a:ext cx="1592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/speckit.implement ✓ checklist STOP-gate (checklists/architecture.md) · tasks tests-first ✓ incl. fitness test tasks · after_implement: A4 fitness runner · /speckit.converge ✓ appends unbuilt work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752088" y="1307592"/>
            <a:ext cx="274320" cy="274320"/>
          </a:xfrm>
          <a:prstGeom prst="diamond">
            <a:avLst/>
          </a:prstGeom>
          <a:solidFill>
            <a:srgbClr val="0B5C3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752088" y="1307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081272" y="1947672"/>
            <a:ext cx="20116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282440" y="1444752"/>
            <a:ext cx="1738884" cy="1005840"/>
          </a:xfrm>
          <a:prstGeom prst="roundRect">
            <a:avLst>
              <a:gd name="adj" fmla="val 6364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55592" y="1508760"/>
            <a:ext cx="384048" cy="164592"/>
          </a:xfrm>
          <a:prstGeom prst="roundRect">
            <a:avLst>
              <a:gd name="adj" fmla="val 22222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355592" y="15087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4.3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4794504" y="1490472"/>
            <a:ext cx="11719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Deterministic test loop 4⇄5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4355592" y="1865376"/>
            <a:ext cx="1592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same script runs again in the 4 ⇄ 5 workflow loop (shell + do-while, max N) · red verdict → back to implement · required checks on the PR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021324" y="1947672"/>
            <a:ext cx="20116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222492" y="1444752"/>
            <a:ext cx="1738884" cy="1005840"/>
          </a:xfrm>
          <a:prstGeom prst="roundRect">
            <a:avLst>
              <a:gd name="adj" fmla="val 6364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95644" y="1508760"/>
            <a:ext cx="384048" cy="164592"/>
          </a:xfrm>
          <a:prstGeom prst="roundRect">
            <a:avLst>
              <a:gd name="adj" fmla="val 22222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95644" y="15087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4.4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6734556" y="1490472"/>
            <a:ext cx="11719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 compliance report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6295644" y="1865376"/>
            <a:ext cx="1592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 + A4 verdicts, waivers, graph checks (Graphify calls) → compliance report on the Jira Epic and the PR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961376" y="1947672"/>
            <a:ext cx="20116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162544" y="1444752"/>
            <a:ext cx="1738884" cy="1005840"/>
          </a:xfrm>
          <a:prstGeom prst="roundRect">
            <a:avLst>
              <a:gd name="adj" fmla="val 6364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235696" y="1508760"/>
            <a:ext cx="384048" cy="164592"/>
          </a:xfrm>
          <a:prstGeom prst="roundRect">
            <a:avLst>
              <a:gd name="adj" fmla="val 22222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235696" y="15087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4.5</a:t>
            </a:r>
            <a:endParaRPr lang="en-US" sz="750" dirty="0"/>
          </a:p>
        </p:txBody>
      </p:sp>
      <p:sp>
        <p:nvSpPr>
          <p:cNvPr id="43" name="Text 41"/>
          <p:cNvSpPr txBox="1"/>
          <p:nvPr/>
        </p:nvSpPr>
        <p:spPr>
          <a:xfrm>
            <a:off x="8674608" y="1490472"/>
            <a:ext cx="11719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Git push · pull request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8235696" y="1865376"/>
            <a:ext cx="1592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 (IDs on commits) · commits carry task + Carries: IDs · PR opened in Bitbucket, draft → ready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9901428" y="1947672"/>
            <a:ext cx="20116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10102596" y="1444752"/>
            <a:ext cx="1738884" cy="1005840"/>
          </a:xfrm>
          <a:prstGeom prst="roundRect">
            <a:avLst>
              <a:gd name="adj" fmla="val 6364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0175748" y="1508760"/>
            <a:ext cx="384048" cy="164592"/>
          </a:xfrm>
          <a:prstGeom prst="roundRect">
            <a:avLst>
              <a:gd name="adj" fmla="val 22222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175748" y="15087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4.6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10614660" y="1490472"/>
            <a:ext cx="11719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 approval · test exit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10175748" y="1865376"/>
            <a:ext cx="1592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 lead approval → 5 · fitness results, review, security scan attached · QA test exit · code enters the existing CI/CD</a:t>
            </a:r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448818" y="2660904"/>
            <a:ext cx="1645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</a:t>
            </a:r>
            <a:pPr algn="ctr" indent="0" marL="0"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DEV starts the run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2388870" y="2660904"/>
            <a:ext cx="1645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 </a:t>
            </a:r>
            <a:pPr algn="ctr" indent="0" marL="0"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DEV at the checklist STOP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4328922" y="2660904"/>
            <a:ext cx="1645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</a:t>
            </a:r>
            <a:pPr algn="ctr" indent="0" marL="0"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escalate at the loop bound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6268974" y="2660904"/>
            <a:ext cx="1645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 </a:t>
            </a:r>
            <a:pPr algn="ctr" indent="0" marL="0"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TechLead + Architect informed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9883140" y="1828800"/>
            <a:ext cx="237744" cy="237744"/>
          </a:xfrm>
          <a:prstGeom prst="diamond">
            <a:avLst/>
          </a:prstGeom>
          <a:solidFill>
            <a:srgbClr val="F2B84B"/>
          </a:solidFill>
          <a:ln w="12700">
            <a:solidFill>
              <a:srgbClr val="B36B0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179052" y="2487168"/>
            <a:ext cx="1645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</a:t>
            </a:r>
            <a:pPr algn="ctr" indent="0" marL="0"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TechLead PR · QA test exit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151882" y="1207008"/>
            <a:ext cx="0" cy="237744"/>
          </a:xfrm>
          <a:prstGeom prst="line">
            <a:avLst/>
          </a:prstGeom>
          <a:noFill/>
          <a:ln w="19050">
            <a:solidFill>
              <a:srgbClr val="00915A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3211830" y="1207008"/>
            <a:ext cx="1940052" cy="0"/>
          </a:xfrm>
          <a:prstGeom prst="line">
            <a:avLst/>
          </a:prstGeom>
          <a:noFill/>
          <a:ln w="19050">
            <a:solidFill>
              <a:srgbClr val="00915A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3211830" y="1207008"/>
            <a:ext cx="0" cy="237744"/>
          </a:xfrm>
          <a:prstGeom prst="line">
            <a:avLst/>
          </a:prstGeom>
          <a:noFill/>
          <a:ln w="19050">
            <a:solidFill>
              <a:srgbClr val="00915A"/>
            </a:solidFill>
            <a:prstDash val="dash"/>
            <a:tailEnd type="triangle"/>
          </a:ln>
        </p:spPr>
      </p:sp>
      <p:sp>
        <p:nvSpPr>
          <p:cNvPr id="60" name="Text 58"/>
          <p:cNvSpPr txBox="1"/>
          <p:nvPr/>
        </p:nvSpPr>
        <p:spPr>
          <a:xfrm>
            <a:off x="2663190" y="1024128"/>
            <a:ext cx="30373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⟲ suite red → back to implement · max N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02336" y="2871216"/>
            <a:ext cx="11439144" cy="658368"/>
          </a:xfrm>
          <a:prstGeom prst="roundRect">
            <a:avLst>
              <a:gd name="adj" fmla="val 8333"/>
            </a:avLst>
          </a:prstGeom>
          <a:solidFill>
            <a:srgbClr val="EEF4F1"/>
          </a:solidFill>
          <a:ln w="12700">
            <a:solidFill>
              <a:srgbClr val="CFDDD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12064" y="29077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Guardrails inside the step (scripted checks)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512064" y="3090672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 native: analyze CRITICAL = 0 · every checklist in checklists/ PASS (STOP-gate)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 native: test tasks and fitness-test tasks executed first; halt on failure</a:t>
            </a:r>
            <a:endParaRPr lang="en-US" sz="800" dirty="0"/>
          </a:p>
        </p:txBody>
      </p:sp>
      <p:sp>
        <p:nvSpPr>
          <p:cNvPr id="64" name="Text 62"/>
          <p:cNvSpPr txBox="1"/>
          <p:nvPr/>
        </p:nvSpPr>
        <p:spPr>
          <a:xfrm>
            <a:off x="6181344" y="3090672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 A4: fitness runner green (rulebook) — after_implement / after_converge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✓  native converge: no unbuilt work left; no phantom completions; commits carry IDs</a:t>
            </a:r>
            <a:endParaRPr lang="en-US" sz="800" dirty="0"/>
          </a:p>
        </p:txBody>
      </p:sp>
      <p:sp>
        <p:nvSpPr>
          <p:cNvPr id="65" name="Text 63"/>
          <p:cNvSpPr txBox="1"/>
          <p:nvPr/>
        </p:nvSpPr>
        <p:spPr>
          <a:xfrm>
            <a:off x="402336" y="36027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Agents &amp; tools on this step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402336" y="3840480"/>
            <a:ext cx="3584448" cy="1170432"/>
          </a:xfrm>
          <a:prstGeom prst="roundRect">
            <a:avLst>
              <a:gd name="adj" fmla="val 5469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67" name="Text 65"/>
          <p:cNvSpPr txBox="1"/>
          <p:nvPr/>
        </p:nvSpPr>
        <p:spPr>
          <a:xfrm>
            <a:off x="493776" y="3904488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Native Spec Kit agents — all here today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542032" y="3913632"/>
            <a:ext cx="1353312" cy="182880"/>
          </a:xfrm>
          <a:prstGeom prst="roundRect">
            <a:avLst>
              <a:gd name="adj" fmla="val 55000"/>
            </a:avLst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2542032" y="39136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native — available today</a:t>
            </a:r>
            <a:endParaRPr lang="en-US" sz="750" dirty="0"/>
          </a:p>
        </p:txBody>
      </p:sp>
      <p:sp>
        <p:nvSpPr>
          <p:cNvPr id="70" name="Text 68"/>
          <p:cNvSpPr txBox="1"/>
          <p:nvPr/>
        </p:nvSpPr>
        <p:spPr>
          <a:xfrm>
            <a:off x="493776" y="4306824"/>
            <a:ext cx="34015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/speckit.tasks: dependency-ordered tasks.md by story ([P] parallel) · /speckit.taskstoissues: GitHub issues · /speckit.analyze: read-only cross-artifact report (constitution conflicts CRITICAL) · /speckit.implement: scans every file in checklists/ and STOPs on unchecked items, runs test tasks first, halts on failure · /speckit.converge: appends unbuilt work · git ext: branch + auto-commit hooks. All verified in the repo — nothing to build.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133088" y="3840480"/>
            <a:ext cx="3584448" cy="1170432"/>
          </a:xfrm>
          <a:prstGeom prst="roundRect">
            <a:avLst>
              <a:gd name="adj" fmla="val 5469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72" name="Text 70"/>
          <p:cNvSpPr txBox="1"/>
          <p:nvPr/>
        </p:nvSpPr>
        <p:spPr>
          <a:xfrm>
            <a:off x="4224528" y="3904488"/>
            <a:ext cx="2011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verify · verify-tasks · staff-review · worktrees · architecture-guard · blueprint-index · Graphify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272784" y="3913632"/>
            <a:ext cx="1353312" cy="182880"/>
          </a:xfrm>
          <a:prstGeom prst="roundRect">
            <a:avLst>
              <a:gd name="adj" fmla="val 55000"/>
            </a:avLst>
          </a:prstGeom>
          <a:solidFill>
            <a:srgbClr val="3E4F48"/>
          </a:solidFill>
          <a:ln w="12700">
            <a:solidFill>
              <a:srgbClr val="3E4F48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6272784" y="391363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Ecosystem pattern</a:t>
            </a:r>
            <a:endParaRPr lang="en-US" sz="750" dirty="0"/>
          </a:p>
        </p:txBody>
      </p:sp>
      <p:sp>
        <p:nvSpPr>
          <p:cNvPr id="75" name="Text 73"/>
          <p:cNvSpPr txBox="1"/>
          <p:nvPr/>
        </p:nvSpPr>
        <p:spPr>
          <a:xfrm>
            <a:off x="4224528" y="4453128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Code vs spec artifacts; phantom-completion detection; spec-aware review; worktree isolation for parallel agents; architectural drift detection with refactor tasks; living architecture map with a deterministic CI gate — patterns for A4. Graphify as the code-graph provider: refresh at checkout, graph queries via MCP for the agent and the fitness checks.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02336" y="5102352"/>
            <a:ext cx="3584448" cy="1170432"/>
          </a:xfrm>
          <a:prstGeom prst="roundRect">
            <a:avLst>
              <a:gd name="adj" fmla="val 5469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77" name="Text 75"/>
          <p:cNvSpPr txBox="1"/>
          <p:nvPr/>
        </p:nvSpPr>
        <p:spPr>
          <a:xfrm>
            <a:off x="493776" y="5166360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 · Fitness-function runner + architecture checklist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2542032" y="5175504"/>
            <a:ext cx="1353312" cy="182880"/>
          </a:xfrm>
          <a:prstGeom prst="roundRect">
            <a:avLst>
              <a:gd name="adj" fmla="val 55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2542032" y="517550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Missing → to build</a:t>
            </a:r>
            <a:endParaRPr lang="en-US" sz="750" dirty="0"/>
          </a:p>
        </p:txBody>
      </p:sp>
      <p:sp>
        <p:nvSpPr>
          <p:cNvPr id="80" name="Text 78"/>
          <p:cNvSpPr txBox="1"/>
          <p:nvPr/>
        </p:nvSpPr>
        <p:spPr>
          <a:xfrm>
            <a:off x="493776" y="5568696"/>
            <a:ext cx="34015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speckit.arch.fitness: dependency direction, forbidden imports, boundary crossings against the context map, layering, coupling thresholds — on the code graph, JSON verdict; runs as after_implement hook, in the 4 ⇄ 5 workflow loop and as a CI check (A5 / A6). checklists/architecture.md is written by the A3 conformance script, so implement’s own native gate stops on unmet design-time items.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133088" y="5102352"/>
            <a:ext cx="3584448" cy="1170432"/>
          </a:xfrm>
          <a:prstGeom prst="roundRect">
            <a:avLst>
              <a:gd name="adj" fmla="val 5469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82" name="Text 80"/>
          <p:cNvSpPr txBox="1"/>
          <p:nvPr/>
        </p:nvSpPr>
        <p:spPr>
          <a:xfrm>
            <a:off x="4224528" y="5166360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Agent audit ledger + permission policy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272784" y="5175504"/>
            <a:ext cx="1353312" cy="182880"/>
          </a:xfrm>
          <a:prstGeom prst="roundRect">
            <a:avLst>
              <a:gd name="adj" fmla="val 55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6272784" y="517550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Missing → to build</a:t>
            </a:r>
            <a:endParaRPr lang="en-US" sz="750" dirty="0"/>
          </a:p>
        </p:txBody>
      </p:sp>
      <p:sp>
        <p:nvSpPr>
          <p:cNvPr id="85" name="Text 83"/>
          <p:cNvSpPr txBox="1"/>
          <p:nvPr/>
        </p:nvSpPr>
        <p:spPr>
          <a:xfrm>
            <a:off x="4224528" y="5568696"/>
            <a:ext cx="34015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Who (which agent, under which task) changed what; permissions bounded per task; every commit carries task and requirement IDs.</a:t>
            </a:r>
            <a:endParaRPr lang="en-US" sz="800" dirty="0"/>
          </a:p>
        </p:txBody>
      </p:sp>
      <p:sp>
        <p:nvSpPr>
          <p:cNvPr id="86" name="Text 84"/>
          <p:cNvSpPr txBox="1"/>
          <p:nvPr/>
        </p:nvSpPr>
        <p:spPr>
          <a:xfrm>
            <a:off x="402336" y="630936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Tools: Bitbucket (repository, PR, required checks) · Jira via MCP (Epic evidence, PR-approval-ready) · Graphify MCP (graph queries) · mvn / gradle / npm test · CIB skill repo</a:t>
            </a:r>
            <a:endParaRPr lang="en-US" sz="750" dirty="0"/>
          </a:p>
        </p:txBody>
      </p:sp>
      <p:sp>
        <p:nvSpPr>
          <p:cNvPr id="87" name="Text 85"/>
          <p:cNvSpPr txBox="1"/>
          <p:nvPr/>
        </p:nvSpPr>
        <p:spPr>
          <a:xfrm>
            <a:off x="7909560" y="36027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decision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7909560" y="3840480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3E4F48"/>
          </a:solidFill>
          <a:ln w="12700">
            <a:solidFill>
              <a:srgbClr val="3E4F48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8019288" y="3877056"/>
            <a:ext cx="3712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FE9D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DECISION AT THE BOUNDARY</a:t>
            </a:r>
            <a:endParaRPr lang="en-US" sz="750" dirty="0"/>
          </a:p>
        </p:txBody>
      </p:sp>
      <p:sp>
        <p:nvSpPr>
          <p:cNvPr id="90" name="Text 88"/>
          <p:cNvSpPr txBox="1"/>
          <p:nvPr/>
        </p:nvSpPr>
        <p:spPr>
          <a:xfrm>
            <a:off x="8019288" y="4023360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 approval</a:t>
            </a:r>
            <a:endParaRPr lang="en-US" sz="1200" dirty="0"/>
          </a:p>
        </p:txBody>
      </p:sp>
      <p:sp>
        <p:nvSpPr>
          <p:cNvPr id="91" name="Text 89"/>
          <p:cNvSpPr txBox="1"/>
          <p:nvPr/>
        </p:nvSpPr>
        <p:spPr>
          <a:xfrm>
            <a:off x="8019288" y="4242816"/>
            <a:ext cx="3712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By: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 lead, with fitness results, review and security scan attached</a:t>
            </a:r>
            <a:endParaRPr lang="en-US" sz="800" dirty="0"/>
          </a:p>
        </p:txBody>
      </p:sp>
      <p:sp>
        <p:nvSpPr>
          <p:cNvPr id="92" name="Text 90"/>
          <p:cNvSpPr txBox="1"/>
          <p:nvPr/>
        </p:nvSpPr>
        <p:spPr>
          <a:xfrm>
            <a:off x="7909560" y="4608576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 DEV starts or resumes the run (specify workflow resume)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◇  DEV at the native checklist STOP — resolve or confirm open items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 DEV escalates to the TechLead when the loop bound is hit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○  TechLead + Architect informed by the compliance report on the Epic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 TechLead — PR approval on evidence · ◆ QA — test exit → PR + test report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7909560" y="5468112"/>
            <a:ext cx="3931920" cy="201168"/>
          </a:xfrm>
          <a:prstGeom prst="roundRect">
            <a:avLst>
              <a:gd name="adj" fmla="val 50000"/>
            </a:avLst>
          </a:prstGeom>
          <a:solidFill>
            <a:srgbClr val="D28E14"/>
          </a:solidFill>
          <a:ln w="12700">
            <a:solidFill>
              <a:srgbClr val="D28E14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7909560" y="54681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 · fitness functions — in progress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7909560" y="5724144"/>
            <a:ext cx="3931920" cy="182880"/>
          </a:xfrm>
          <a:prstGeom prst="roundRect">
            <a:avLst>
              <a:gd name="adj" fmla="val 55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7909560" y="572414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MISSING → to build for the guardrails</a:t>
            </a:r>
            <a:endParaRPr lang="en-US" sz="800" dirty="0"/>
          </a:p>
        </p:txBody>
      </p:sp>
      <p:sp>
        <p:nvSpPr>
          <p:cNvPr id="97" name="Text 95"/>
          <p:cNvSpPr txBox="1"/>
          <p:nvPr/>
        </p:nvSpPr>
        <p:spPr>
          <a:xfrm>
            <a:off x="7909560" y="5943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✗  A4 fitness-function runner on the code graph — hook, workflow loop, CI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✗  Code-graph provider behind the seam (large / brownfield repos)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✗  Agent audit ledger + permission policy</a:t>
            </a:r>
            <a:endParaRPr lang="en-US" sz="750" dirty="0"/>
          </a:p>
        </p:txBody>
      </p:sp>
      <p:sp>
        <p:nvSpPr>
          <p:cNvPr id="98" name="Text 96"/>
          <p:cNvSpPr txBox="1"/>
          <p:nvPr/>
        </p:nvSpPr>
        <p:spPr>
          <a:xfrm>
            <a:off x="402336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human decides — run pauses   ◇ only if raised   ▲ human acts   ○ informed   ⟲ bounded loop</a:t>
            </a:r>
            <a:endParaRPr lang="en-US" sz="750" dirty="0"/>
          </a:p>
        </p:txBody>
      </p:sp>
      <p:sp>
        <p:nvSpPr>
          <p:cNvPr id="99" name="Text 97"/>
          <p:cNvSpPr txBox="1"/>
          <p:nvPr/>
        </p:nvSpPr>
        <p:spPr>
          <a:xfrm>
            <a:off x="4114800" y="6492240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facts verified against github/spec-kit main @ e4895d1 (17 Aug 2026) · in-house status (ShAIping, its Spec Kit integration, standards as skills, Assessor) as stated by UltraSDLC · "to build" = proposal · 6–7 = existing CI/CD &amp; ops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1463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A-gates · the principle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6217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 A-gate is not a review slot. It is an agentic suite — agents, skills, MCPs, scripts, hooks and workflow steps assembled for one goal on one loop step — that turns the architecture rulebook into a scripted verdict, enforced at control points and signed by a named human at the boundary.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02336" y="1280160"/>
            <a:ext cx="7543800" cy="3017520"/>
          </a:xfrm>
          <a:prstGeom prst="roundRect">
            <a:avLst>
              <a:gd name="adj" fmla="val 2424"/>
            </a:avLst>
          </a:prstGeom>
          <a:solidFill>
            <a:srgbClr val="EEF4F1"/>
          </a:solidFill>
          <a:ln w="12700">
            <a:solidFill>
              <a:srgbClr val="CFDD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2064" y="1335024"/>
            <a:ext cx="7324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Anatomy of an A-gate — </a:t>
            </a:r>
            <a:pPr indent="0" marL="0">
              <a:buNone/>
            </a:pPr>
            <a:r>
              <a:rPr lang="en-US" sz="9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one agentic suite per loop step: policy elements feed both the maker and the checker; control elements make the verdict binding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12064" y="1609344"/>
            <a:ext cx="1664208" cy="2578608"/>
          </a:xfrm>
          <a:prstGeom prst="roundRect">
            <a:avLst>
              <a:gd name="adj" fmla="val 3846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03504" y="1673352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POLICY — what the suite obeys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3504" y="2029968"/>
            <a:ext cx="14813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 rulebook: the corporate standards as skills → ARCH-### rules with severity, scope (plan · design · code · runtime) and a check binding</a:t>
            </a:r>
            <a:endParaRPr lang="en-US" sz="8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Domain master design: bounded contexts, context map, glossary, owners — every spec and plan pins domain-map@version</a:t>
            </a:r>
            <a:endParaRPr lang="en-US" sz="8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Constitution: the rulebook is NON-NEGOTIABLE; features live in one bounded context</a:t>
            </a:r>
            <a:endParaRPr lang="en-US" sz="8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Decision ledger: ADRs; waivers only with owner, evidence and expiry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32304" y="1609344"/>
            <a:ext cx="1664208" cy="2578608"/>
          </a:xfrm>
          <a:prstGeom prst="roundRect">
            <a:avLst>
              <a:gd name="adj" fmla="val 3846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523744" y="1673352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MAKER — agents that produce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523744" y="2029968"/>
            <a:ext cx="14813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commands on the coding agent: specify (import) · plan · tasks · implement ⇄ converge</a:t>
            </a:r>
            <a:endParaRPr lang="en-US" sz="8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In-house agents: ShAIping (authoring), Proposer (findings → [PROPOSED])</a:t>
            </a:r>
            <a:endParaRPr lang="en-US" sz="8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Presets shape what plan / tasks must contain; the context loader puts rulebook, domain map and ADRs in front of the agent</a:t>
            </a:r>
            <a:endParaRPr lang="en-US" sz="8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Tools via MCP: Bitbucket · Jira (Speckit2Jira) · Graphify (code graph)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352544" y="1609344"/>
            <a:ext cx="1664208" cy="2578608"/>
          </a:xfrm>
          <a:prstGeom prst="roundRect">
            <a:avLst>
              <a:gd name="adj" fmla="val 3846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443984" y="1673352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6B4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CHECKER — guardrails with a verdict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443984" y="2029968"/>
            <a:ext cx="14813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Extension command + deterministic script → JSON verdict (satisfied · waiver · violations · rules_skipped)</a:t>
            </a:r>
            <a:endParaRPr lang="en-US" sz="8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ShAIping's 12 checks · handover validator · A3 check-plan + task guard · A4 fitness runner · A5 evidence gate · A7 Assessor</a:t>
            </a:r>
            <a:endParaRPr lang="en-US" sz="8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verdict is an exit code, not an opinion; a waiver counts only from the ledger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72784" y="1609344"/>
            <a:ext cx="1664208" cy="2578608"/>
          </a:xfrm>
          <a:prstGeom prst="roundRect">
            <a:avLst>
              <a:gd name="adj" fmla="val 3846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364224" y="1673352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CONTROL — where a verdict binds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364224" y="2029968"/>
            <a:ext cx="14813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Hook — agent-dispatched, convenient</a:t>
            </a:r>
            <a:endParaRPr lang="en-US" sz="8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Workflow shell gate — orchestration, hard (do-while, max N)</a:t>
            </a:r>
            <a:endParaRPr lang="en-US" sz="8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CI required status check — the property line (A6), pipeline unchanged</a:t>
            </a:r>
            <a:endParaRPr lang="en-US" sz="8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Human gate at the boundary — named role, evidence in front of them, decision recorded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176272" y="2898648"/>
            <a:ext cx="256032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1993392" y="2606040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same rules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096512" y="2898648"/>
            <a:ext cx="256032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3913632" y="2606040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artefact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016752" y="2898648"/>
            <a:ext cx="256032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5833872" y="2606040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verdict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8183880" y="1280160"/>
            <a:ext cx="3657600" cy="1371600"/>
          </a:xfrm>
          <a:prstGeom prst="roundRect">
            <a:avLst>
              <a:gd name="adj" fmla="val 4667"/>
            </a:avLst>
          </a:prstGeom>
          <a:solidFill>
            <a:srgbClr val="3E4F48"/>
          </a:solidFill>
          <a:ln w="12700">
            <a:solidFill>
              <a:srgbClr val="3E4F4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11896" y="1353312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FE9D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MAKER · CHECKER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8311896" y="1536192"/>
            <a:ext cx="34015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Every A-gate pairs a maker with a checker. An agent produces the artefact under the policy; a deterministic script verifies it against the same policy; the verdict is enforced at up to three control points and put in front of a named human at the boundary. Inside the iteration no human waits — between iterations no agent decides.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183880" y="2761488"/>
            <a:ext cx="3657600" cy="1536192"/>
          </a:xfrm>
          <a:prstGeom prst="roundRect">
            <a:avLst>
              <a:gd name="adj" fmla="val 4167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311896" y="2834640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Guardrail ≠ gate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311896" y="3072384"/>
            <a:ext cx="340156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guardrail is one checker inside the suite: an extension command with a script and a verdict, attached to a hook. </a:t>
            </a:r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 A-gate composes several guardrails with its policy and control elements — and one guardrail serves several gates: </a:t>
            </a:r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conformance script runs at A3 and again as a PR check at A6; the fitness runner at A4, in the A5 loop and at A6. </a:t>
            </a:r>
            <a:pPr indent="0" marL="0">
              <a:buNone/>
            </a:pPr>
            <a:r>
              <a:rPr lang="en-US" sz="8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Not a 1 : 1 relation.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02336" y="4572000"/>
            <a:ext cx="11439144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CFDDD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12064" y="462686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Example · A3 plan conformance — </a:t>
            </a:r>
            <a:pPr indent="0" marL="0">
              <a:buNone/>
            </a:pPr>
            <a:r>
              <a:rPr lang="en-US" sz="9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same anatomy, filled in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512064" y="4846320"/>
            <a:ext cx="16642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Policy  </a:t>
            </a:r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rulebook (standards as skills) · domain map pinned · constitution article · ledger for ADRs and waivers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2432304" y="4846320"/>
            <a:ext cx="16642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Maker  </a:t>
            </a:r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/speckit.plan wrapped by the preset (Architecture Conformance table) · context loader before it · /speckit.tasks with Carries: IDs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4352544" y="4846320"/>
            <a:ext cx="16642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Checkers  </a:t>
            </a:r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check-plan script → conformance verdict + checklists/architecture.md · task guard · analyze CRITICAL = 0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6272784" y="4846320"/>
            <a:ext cx="16642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Control  </a:t>
            </a:r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after_plan hook → workflow shell gate → CI required check (A6)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293608" y="4901184"/>
            <a:ext cx="310896" cy="310896"/>
          </a:xfrm>
          <a:prstGeom prst="diamond">
            <a:avLst/>
          </a:prstGeom>
          <a:solidFill>
            <a:srgbClr val="F2B84B"/>
          </a:solidFill>
          <a:ln w="12700">
            <a:solidFill>
              <a:srgbClr val="B36B0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695944" y="4846320"/>
            <a:ext cx="31181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Human decision at the boundary  </a:t>
            </a:r>
            <a:pPr indent="0" marL="0">
              <a:buNone/>
            </a:pPr>
            <a:r>
              <a:rPr lang="en-US" sz="85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design authority signs the plan on the conformance verdict, the ADRs and the analyze report → signed plan version + ADRs; a waiver only through the ledger, with owner and expiry.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402336" y="5870448"/>
            <a:ext cx="11439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Where it lands: plan.md conformance table · checklists/architecture.md · PR status checks · findings.json · decision ledger · KPI view (conformance rate per A-gate, findings aging, waiver debt).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402336" y="649224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human decides — run pauses   ⟲ bounded loop   A0–A7 = architecture gates, one per loop step, numbered by the step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4754880" y="6492240"/>
            <a:ext cx="7086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facts verified against github/spec-kit main @ e4895d1 (17 Aug 2026) · in-house status (ShAIping, its Spec Kit integration, standards as skills, Assessor) as stated by UltraSDLC · "to build" = proposal · 6–7 = existing CI/CD &amp; ops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1463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 – A7 · what each gate is for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6217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One architecture checkpoint per step of the loop. Each has a goal, takes something in, produces something checked, and a named person decides on evidence — scripts check inside the step, people sign at the boundary.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00" y="182880"/>
            <a:ext cx="868680" cy="201168"/>
          </a:xfrm>
          <a:prstGeom prst="roundRect">
            <a:avLst>
              <a:gd name="adj" fmla="val 50000"/>
            </a:avLst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0" y="1828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available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0076688" y="182880"/>
            <a:ext cx="868680" cy="201168"/>
          </a:xfrm>
          <a:prstGeom prst="roundRect">
            <a:avLst>
              <a:gd name="adj" fmla="val 50000"/>
            </a:avLst>
          </a:prstGeom>
          <a:solidFill>
            <a:srgbClr val="D28E14"/>
          </a:solidFill>
          <a:ln w="12700">
            <a:solidFill>
              <a:srgbClr val="D28E1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76688" y="1828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009376" y="182880"/>
            <a:ext cx="832104" cy="201168"/>
          </a:xfrm>
          <a:prstGeom prst="roundRect">
            <a:avLst>
              <a:gd name="adj" fmla="val 50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009376" y="182880"/>
            <a:ext cx="832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 build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45720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a named person decides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02336" y="1243584"/>
            <a:ext cx="2743200" cy="2212848"/>
          </a:xfrm>
          <a:prstGeom prst="roundRect">
            <a:avLst>
              <a:gd name="adj" fmla="val 3306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" y="1335024"/>
            <a:ext cx="365760" cy="365760"/>
          </a:xfrm>
          <a:prstGeom prst="diamond">
            <a:avLst/>
          </a:prstGeom>
          <a:solidFill>
            <a:srgbClr val="0B5C3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133502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 · Domain master design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31136" y="1417320"/>
            <a:ext cx="822960" cy="182880"/>
          </a:xfrm>
          <a:prstGeom prst="roundRect">
            <a:avLst>
              <a:gd name="adj" fmla="val 55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31136" y="1417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 build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493776" y="177393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Everyone builds inside one agreed map of the business domains.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" y="2231136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Takes in: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business capability map, owners, the architecture rulebook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Produces: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versioned domain map every requirement, specification and plan refers to; a domain change is a controlled change with a known impact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Decides: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lead architect with the domain owner; the architecture review board for structural changes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00984" y="1243584"/>
            <a:ext cx="2743200" cy="2212848"/>
          </a:xfrm>
          <a:prstGeom prst="roundRect">
            <a:avLst>
              <a:gd name="adj" fmla="val 3306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92424" y="1335024"/>
            <a:ext cx="365760" cy="365760"/>
          </a:xfrm>
          <a:prstGeom prst="diamond">
            <a:avLst/>
          </a:prstGeom>
          <a:solidFill>
            <a:srgbClr val="0B5C3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92424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A1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831336" y="133502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 · Requirements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29784" y="1417320"/>
            <a:ext cx="822960" cy="182880"/>
          </a:xfrm>
          <a:prstGeom prst="roundRect">
            <a:avLst>
              <a:gd name="adj" fmla="val 55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29784" y="1417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 build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3392424" y="177393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 requirement without a home and an owner.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392424" y="2231136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Takes in: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business needs, regulation, feedback and findings from the running system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Produces: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requirements assigned to a domain and an owner, with durable IDs; improvement proposals from the last run accepted or rejected — never applied silently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Decides: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business owner; the lead architect co-signs the domain assignment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99632" y="1243584"/>
            <a:ext cx="2743200" cy="2212848"/>
          </a:xfrm>
          <a:prstGeom prst="roundRect">
            <a:avLst>
              <a:gd name="adj" fmla="val 3306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91072" y="1335024"/>
            <a:ext cx="365760" cy="365760"/>
          </a:xfrm>
          <a:prstGeom prst="diamond">
            <a:avLst/>
          </a:prstGeom>
          <a:solidFill>
            <a:srgbClr val="0B5C3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91072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A2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729984" y="133502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 · Plan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28432" y="1417320"/>
            <a:ext cx="822960" cy="182880"/>
          </a:xfrm>
          <a:prstGeom prst="roundRect">
            <a:avLst>
              <a:gd name="adj" fmla="val 55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28432" y="1417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 build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6291072" y="177393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Start an iteration knowing its architecture debt and dependencies.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291072" y="2231136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Takes in: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approved requirements, capacity, debt items found in operations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Produces: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 iteration charter: scope by domain, owners, debt items with evidence, exit criteria — the master gate that starts the next turn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Decides: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steering board with the lead architect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098280" y="1243584"/>
            <a:ext cx="2743200" cy="2212848"/>
          </a:xfrm>
          <a:prstGeom prst="roundRect">
            <a:avLst>
              <a:gd name="adj" fmla="val 3306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189720" y="1335024"/>
            <a:ext cx="365760" cy="365760"/>
          </a:xfrm>
          <a:prstGeom prst="diamond">
            <a:avLst/>
          </a:prstGeom>
          <a:solidFill>
            <a:srgbClr val="0B5C3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189720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9628632" y="133502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 · Design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927080" y="1417320"/>
            <a:ext cx="822960" cy="182880"/>
          </a:xfrm>
          <a:prstGeom prst="roundRect">
            <a:avLst>
              <a:gd name="adj" fmla="val 55000"/>
            </a:avLst>
          </a:prstGeom>
          <a:solidFill>
            <a:srgbClr val="D28E14"/>
          </a:solidFill>
          <a:ln w="12700">
            <a:solidFill>
              <a:srgbClr val="D28E1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927080" y="1417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 progress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9189720" y="177393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plan follows the architecture standards before any code exists.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9189720" y="2231136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Takes in: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specification signed by the business analyst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Produces: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plan with a conformance verdict, decisions recorded, tasks traceable to requirements; exceptions only as recorded waivers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Decides: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design authority (TechLead) signs the plan on the evidence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02336" y="3602736"/>
            <a:ext cx="2743200" cy="2212848"/>
          </a:xfrm>
          <a:prstGeom prst="roundRect">
            <a:avLst>
              <a:gd name="adj" fmla="val 3306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93776" y="3694176"/>
            <a:ext cx="365760" cy="365760"/>
          </a:xfrm>
          <a:prstGeom prst="diamond">
            <a:avLst/>
          </a:prstGeom>
          <a:solidFill>
            <a:srgbClr val="0B5C3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93776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932688" y="369417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 · Implement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231136" y="3776472"/>
            <a:ext cx="822960" cy="182880"/>
          </a:xfrm>
          <a:prstGeom prst="roundRect">
            <a:avLst>
              <a:gd name="adj" fmla="val 55000"/>
            </a:avLst>
          </a:prstGeom>
          <a:solidFill>
            <a:srgbClr val="D28E14"/>
          </a:solidFill>
          <a:ln w="12700">
            <a:solidFill>
              <a:srgbClr val="D28E1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231136" y="37764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 progress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493776" y="413308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Code cannot cross the boundaries the rules forbid.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493776" y="4590288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Takes in: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approved plan and its tasks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Produces: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code built test-first, checked at every edit, with a fitness verdict green or waived; every commit traceable to a task and a requirement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Decides: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nobody waits — automatic; the developer only if the checklist stops the run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300984" y="3602736"/>
            <a:ext cx="2743200" cy="2212848"/>
          </a:xfrm>
          <a:prstGeom prst="roundRect">
            <a:avLst>
              <a:gd name="adj" fmla="val 3306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392424" y="3694176"/>
            <a:ext cx="365760" cy="365760"/>
          </a:xfrm>
          <a:prstGeom prst="diamond">
            <a:avLst/>
          </a:prstGeom>
          <a:solidFill>
            <a:srgbClr val="0B5C3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392424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A5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3831336" y="369417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 · Test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129784" y="3776472"/>
            <a:ext cx="822960" cy="182880"/>
          </a:xfrm>
          <a:prstGeom prst="roundRect">
            <a:avLst>
              <a:gd name="adj" fmla="val 55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129784" y="37764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 build</a:t>
            </a:r>
            <a:endParaRPr lang="en-US" sz="750" dirty="0"/>
          </a:p>
        </p:txBody>
      </p:sp>
      <p:sp>
        <p:nvSpPr>
          <p:cNvPr id="57" name="Text 55"/>
          <p:cNvSpPr txBox="1"/>
          <p:nvPr/>
        </p:nvSpPr>
        <p:spPr>
          <a:xfrm>
            <a:off x="3392424" y="413308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Proof, not opinion, at test exit.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3392424" y="4590288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Takes in: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built code and its tests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Produces: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deterministic test verdict with a requirement → test matrix; the architecture fitness re-run attached to the pull request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Decides: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QA lead with the tech lead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199632" y="3602736"/>
            <a:ext cx="2743200" cy="2212848"/>
          </a:xfrm>
          <a:prstGeom prst="roundRect">
            <a:avLst>
              <a:gd name="adj" fmla="val 3306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291072" y="3694176"/>
            <a:ext cx="365760" cy="365760"/>
          </a:xfrm>
          <a:prstGeom prst="diamond">
            <a:avLst/>
          </a:prstGeom>
          <a:solidFill>
            <a:srgbClr val="0B5C3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291072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A6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6729984" y="369417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 · Deploy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028432" y="3776472"/>
            <a:ext cx="822960" cy="182880"/>
          </a:xfrm>
          <a:prstGeom prst="roundRect">
            <a:avLst>
              <a:gd name="adj" fmla="val 55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028432" y="37764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 build</a:t>
            </a:r>
            <a:endParaRPr lang="en-US" sz="750" dirty="0"/>
          </a:p>
        </p:txBody>
      </p:sp>
      <p:sp>
        <p:nvSpPr>
          <p:cNvPr id="65" name="Text 63"/>
          <p:cNvSpPr txBox="1"/>
          <p:nvPr/>
        </p:nvSpPr>
        <p:spPr>
          <a:xfrm>
            <a:off x="6291072" y="413308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Nothing enters the pipeline without the same checks green.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6291072" y="4590288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Takes in: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pull request with its evidence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Produces: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required checks passed on the pull request — the same scripts as inside the loop; the delivery pipeline itself is unchanged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Decides: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tech lead approves the pull request; release approval as today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9098280" y="3602736"/>
            <a:ext cx="2743200" cy="2212848"/>
          </a:xfrm>
          <a:prstGeom prst="roundRect">
            <a:avLst>
              <a:gd name="adj" fmla="val 3306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9189720" y="3694176"/>
            <a:ext cx="365760" cy="365760"/>
          </a:xfrm>
          <a:prstGeom prst="diamond">
            <a:avLst/>
          </a:prstGeom>
          <a:solidFill>
            <a:srgbClr val="0B5C3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189720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A7</a:t>
            </a:r>
            <a:endParaRPr lang="en-US" sz="900" dirty="0"/>
          </a:p>
        </p:txBody>
      </p:sp>
      <p:sp>
        <p:nvSpPr>
          <p:cNvPr id="70" name="Text 68"/>
          <p:cNvSpPr txBox="1"/>
          <p:nvPr/>
        </p:nvSpPr>
        <p:spPr>
          <a:xfrm>
            <a:off x="9628632" y="369417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7 · Operate &amp; assess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10927080" y="3776472"/>
            <a:ext cx="822960" cy="182880"/>
          </a:xfrm>
          <a:prstGeom prst="roundRect">
            <a:avLst>
              <a:gd name="adj" fmla="val 55000"/>
            </a:avLst>
          </a:prstGeom>
          <a:solidFill>
            <a:srgbClr val="1E9A5B"/>
          </a:solidFill>
          <a:ln w="12700">
            <a:solidFill>
              <a:srgbClr val="1E9A5B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0927080" y="37764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available</a:t>
            </a:r>
            <a:endParaRPr lang="en-US" sz="750" dirty="0"/>
          </a:p>
        </p:txBody>
      </p:sp>
      <p:sp>
        <p:nvSpPr>
          <p:cNvPr id="73" name="Text 71"/>
          <p:cNvSpPr txBox="1"/>
          <p:nvPr/>
        </p:nvSpPr>
        <p:spPr>
          <a:xfrm>
            <a:off x="9189720" y="413308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running system is measured against the same rules — findings become proposals.</a:t>
            </a:r>
            <a:endParaRPr lang="en-US" sz="1100" dirty="0"/>
          </a:p>
        </p:txBody>
      </p:sp>
      <p:sp>
        <p:nvSpPr>
          <p:cNvPr id="74" name="Text 72"/>
          <p:cNvSpPr txBox="1"/>
          <p:nvPr/>
        </p:nvSpPr>
        <p:spPr>
          <a:xfrm>
            <a:off x="9189720" y="4590288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Takes in: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delivered system, the rulebook and the domain map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Produces: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findings with evidence, turned into proposed requirement or domain changes that people accept or reject at the next turn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◆ Decides: 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lead architect with the business owner of the domain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02336" y="6053328"/>
            <a:ext cx="11439144" cy="365760"/>
          </a:xfrm>
          <a:prstGeom prst="roundRect">
            <a:avLst>
              <a:gd name="adj" fmla="val 15000"/>
            </a:avLst>
          </a:prstGeom>
          <a:solidFill>
            <a:srgbClr val="3E4F48"/>
          </a:solidFill>
          <a:ln w="12700">
            <a:solidFill>
              <a:srgbClr val="3E4F48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30352" y="6053328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FE9D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one-line answer: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 is checked by scripts at every step and signed by named people at the boundaries — nothing built inside the loop can drift from the rules without a recorded, expiring exception.</a:t>
            </a:r>
            <a:endParaRPr lang="en-US" sz="950" dirty="0"/>
          </a:p>
        </p:txBody>
      </p:sp>
      <p:sp>
        <p:nvSpPr>
          <p:cNvPr id="77" name="Text 75"/>
          <p:cNvSpPr txBox="1"/>
          <p:nvPr/>
        </p:nvSpPr>
        <p:spPr>
          <a:xfrm>
            <a:off x="402336" y="649224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A-gate number = loop step · A0 sits at the hub, where the domain map lives</a:t>
            </a:r>
            <a:endParaRPr lang="en-US" sz="750" dirty="0"/>
          </a:p>
        </p:txBody>
      </p:sp>
      <p:sp>
        <p:nvSpPr>
          <p:cNvPr id="78" name="Text 76"/>
          <p:cNvSpPr txBox="1"/>
          <p:nvPr/>
        </p:nvSpPr>
        <p:spPr>
          <a:xfrm>
            <a:off x="4206240" y="6492240"/>
            <a:ext cx="7635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facts verified against github/spec-kit main @ e4895d1 (17 Aug 2026) · in-house status (ShAIping, its Spec Kit integration, standards as skills, Assessor) as stated by UltraSDLC · "to build" = proposal · 6–7 = existing CI/CD &amp; ops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14630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Why Spec Kit as the spine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6217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Reuse the proven standard for spec-driven development and attach to it — build the policy and the gates, not another SDLC engine. And nothing in the A-gates is married to the spine: the same agentic suite re-binds to any SDD process that exposes the same seams.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02336" y="1234440"/>
            <a:ext cx="3657600" cy="4315968"/>
          </a:xfrm>
          <a:prstGeom prst="roundRect">
            <a:avLst>
              <a:gd name="adj" fmla="val 2000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12064" y="1316736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Reuse the proven standard — not rebuild it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609344"/>
            <a:ext cx="3438144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Proven and open. </a:t>
            </a:r>
            <a:pPr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GitHub Spec Kit: 10 core commands delivered to 30+ agent integrations; facts verified against the repository; an ecosystem of 154 community extensions and 31 presets as patterns.</a:t>
            </a:r>
            <a:endParaRPr lang="en-US" sz="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Native levers reused as-is. </a:t>
            </a:r>
            <a:pPr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Constitution Check gate · analyze (constitution conflicts CRITICAL) · checklist STOP-gate · tests-first implement · converge · git extension · workflows with human gates and resumable state — nothing to build where the spine already has it.</a:t>
            </a:r>
            <a:endParaRPr lang="en-US" sz="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Done today rides on it. </a:t>
            </a:r>
            <a:pPr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ShAIping and the built ShAIping ↔ Spec Kit integration, the architecture standards as a skills repository, the Architecture Assessor (A7) — all attach to the spine instead of replacing it.</a:t>
            </a:r>
            <a:endParaRPr lang="en-US" sz="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Upgrade-safe. </a:t>
            </a:r>
            <a:pPr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requires.speckit_version pinned + a conformance test on upgrade; there is no fork, so there is no fork cost.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206240" y="1234440"/>
            <a:ext cx="3346704" cy="4315968"/>
          </a:xfrm>
          <a:prstGeom prst="roundRect">
            <a:avLst>
              <a:gd name="adj" fmla="val 2186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315968" y="1316736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How we attach — without forking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5968" y="1645920"/>
            <a:ext cx="1463040" cy="201168"/>
          </a:xfrm>
          <a:prstGeom prst="roundRect">
            <a:avLst>
              <a:gd name="adj" fmla="val 50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15968" y="16459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Preset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315968" y="1883664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composes templates and commands (append · wrap around {CORE_TEMPLATE}) — shapes what plan and tasks must contain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315968" y="2542032"/>
            <a:ext cx="1463040" cy="201168"/>
          </a:xfrm>
          <a:prstGeom prst="roundRect">
            <a:avLst>
              <a:gd name="adj" fmla="val 50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15968" y="2542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Extension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315968" y="2779776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new commands + deterministic scripts + config, attached to 20 lifecycle hooks (before / after × 10 commands)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15968" y="3438144"/>
            <a:ext cx="1463040" cy="201168"/>
          </a:xfrm>
          <a:prstGeom prst="roundRect">
            <a:avLst>
              <a:gd name="adj" fmla="val 50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15968" y="34381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Workflow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315968" y="3675888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orchestration: gate · shell · if · do-while steps, state persisted, resumable (specify workflow resume)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15968" y="4334256"/>
            <a:ext cx="1463040" cy="201168"/>
          </a:xfrm>
          <a:prstGeom prst="roundRect">
            <a:avLst>
              <a:gd name="adj" fmla="val 50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15968" y="43342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Bundle + private catalog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315968" y="4572000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preset + extension + workflow installed in one step, versions pinned (sha256), air-gap friendly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4315968" y="5138928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Everything corporate ships as our own packages — verified in the sandbox (17 Aug 2026): preset composition, extension hooks, workflow with gates, offline bundle, installed and exercised.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699248" y="1234440"/>
            <a:ext cx="4142232" cy="4315968"/>
          </a:xfrm>
          <a:prstGeom prst="roundRect">
            <a:avLst>
              <a:gd name="adj" fmla="val 1766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808976" y="1316736"/>
            <a:ext cx="3922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Why it can change — the A-gates are portable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827264" y="1627632"/>
            <a:ext cx="3886200" cy="365760"/>
          </a:xfrm>
          <a:prstGeom prst="roundRect">
            <a:avLst>
              <a:gd name="adj" fmla="val 15000"/>
            </a:avLst>
          </a:prstGeom>
          <a:solidFill>
            <a:srgbClr val="EEF4F1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27264" y="16276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A-gate suite = policy · maker · checker · control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284464" y="1993392"/>
            <a:ext cx="0" cy="310896"/>
          </a:xfrm>
          <a:prstGeom prst="line">
            <a:avLst/>
          </a:prstGeom>
          <a:noFill/>
          <a:ln w="1905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8330184" y="204825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lifecycle hook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9610344" y="1993392"/>
            <a:ext cx="0" cy="310896"/>
          </a:xfrm>
          <a:prstGeom prst="line">
            <a:avLst/>
          </a:prstGeom>
          <a:noFill/>
          <a:ln w="1905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9656064" y="204825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workflow gate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10936224" y="1993392"/>
            <a:ext cx="0" cy="310896"/>
          </a:xfrm>
          <a:prstGeom prst="line">
            <a:avLst/>
          </a:prstGeom>
          <a:noFill/>
          <a:ln w="19050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10981944" y="204825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CI required check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7827264" y="2322576"/>
            <a:ext cx="3886200" cy="274320"/>
          </a:xfrm>
          <a:prstGeom prst="roundRect">
            <a:avLst>
              <a:gd name="adj" fmla="val 16667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827264" y="232257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— the spine today (hooks · workflow · PR)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827264" y="2670048"/>
            <a:ext cx="388620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B5C3F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7827264" y="26700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any SDD process with the same seams: lifecycle hooks · pipeline steps · PR checks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7827264" y="3072384"/>
            <a:ext cx="388620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Policy is ours, host-free.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rulebook (standards as skills), the domain master design, the constitution article and the decision ledger live in our repositories — no Spec Kit dependency.</a:t>
            </a:r>
            <a:endParaRPr lang="en-US" sz="8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Checkers run anywhere.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Guardrails are deterministic scripts with a JSON verdict — the same script in a hook, a workflow step or a CI job.</a:t>
            </a:r>
            <a:endParaRPr lang="en-US" sz="8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Providers behind the contract seam.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Specification authoring (ShAIping) and the code graph (Graphify) swap independently of the spine.</a:t>
            </a:r>
            <a:endParaRPr lang="en-US" sz="8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Exit cost = re-binding the control points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— not rebuilding policy, checkers or evidence.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02336" y="5742432"/>
            <a:ext cx="11439144" cy="512064"/>
          </a:xfrm>
          <a:prstGeom prst="roundRect">
            <a:avLst>
              <a:gd name="adj" fmla="val 10714"/>
            </a:avLst>
          </a:prstGeom>
          <a:solidFill>
            <a:srgbClr val="3E4F48"/>
          </a:solidFill>
          <a:ln w="12700">
            <a:solidFill>
              <a:srgbClr val="3E4F4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30352" y="5742432"/>
            <a:ext cx="11201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FE9D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Who owns what: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ShAIping owns the specification and its checks · Spec Kit owns plan, tasks, analyze, implement ⇄ converge and the workflow with the human gates · the architecture rulebook is ours and applies to the plan, not the specification · CI/CD and operations stay unchanged.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402336" y="649224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A0–A7 = architecture gates · the suite = policy + maker + checker + control (slide 5)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4754880" y="6492240"/>
            <a:ext cx="7086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facts verified against github/spec-kit main @ e4895d1 (17 Aug 2026) · in-house status (ShAIping, its Spec Kit integration, standards as skills, Assessor) as stated by UltraSDLC · "to build" = proposal · 6–7 = existing CI/CD &amp; ops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14630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1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Missing → to build · the roadmap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62179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Sequenced by what each item unlocks, not by effort. Every item is a script with a verdict plus the artifact humans decide on; ecosystem pieces are reused where they fit — the gate code is ours.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692640" y="201168"/>
            <a:ext cx="1280160" cy="201168"/>
          </a:xfrm>
          <a:prstGeom prst="roundRect">
            <a:avLst>
              <a:gd name="adj" fmla="val 50000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92640" y="2011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Missing → to build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7863840" y="47548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A-gate chip = which gate the item completes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02336" y="1225296"/>
            <a:ext cx="2743200" cy="2194560"/>
          </a:xfrm>
          <a:prstGeom prst="roundRect">
            <a:avLst>
              <a:gd name="adj" fmla="val 3333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31673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" y="1316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12984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Rulebook binding + A3 wiring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23744" y="1353312"/>
            <a:ext cx="530352" cy="182880"/>
          </a:xfrm>
          <a:prstGeom prst="roundRect">
            <a:avLst>
              <a:gd name="adj" fmla="val 55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23744" y="135331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" y="1719072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ARCH-### binding of the standards skills; context loader (before_plan); plan wrap + check-plan (after_plan) → checklists/architecture.md; decision ledger; task guard (after_tasks)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Protects: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 constrains the plan before code exists; implement cannot start on unmet design items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Builds on: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standards skills (available) · Constitution Check · analyze CRITICAL · implement checklist gate · adrkit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145536" y="2322576"/>
            <a:ext cx="15544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300984" y="1225296"/>
            <a:ext cx="2743200" cy="2194560"/>
          </a:xfrm>
          <a:prstGeom prst="roundRect">
            <a:avLst>
              <a:gd name="adj" fmla="val 3333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92424" y="131673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92424" y="1316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739896" y="12984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Domain master design + A0 guard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22392" y="1353312"/>
            <a:ext cx="530352" cy="182880"/>
          </a:xfrm>
          <a:prstGeom prst="roundRect">
            <a:avLst>
              <a:gd name="adj" fmla="val 55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22392" y="135331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3392424" y="1719072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map, context map, glossary, owners; constitution article; speckit.domain.check (version pin, context) on before_plan / before_implement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Protects: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answers “where are the domains”; no orphan features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Builds on: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constitution · memory-loader · charter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044184" y="2322576"/>
            <a:ext cx="15544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199632" y="1225296"/>
            <a:ext cx="2743200" cy="2194560"/>
          </a:xfrm>
          <a:prstGeom prst="roundRect">
            <a:avLst>
              <a:gd name="adj" fmla="val 3333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91072" y="131673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91072" y="1316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638544" y="12984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 fitness runner + code graph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321040" y="1353312"/>
            <a:ext cx="530352" cy="182880"/>
          </a:xfrm>
          <a:prstGeom prst="roundRect">
            <a:avLst>
              <a:gd name="adj" fmla="val 55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21040" y="135331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6291072" y="1719072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speckit.arch.fitness on after_implement / after_converge, in the 4 ⇄ 5 do-while and as PR check; fitness-test tasks via the tasks preset; code-graph provider behind the seam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Protects: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code cannot cross boundaries the map forbids; verdict identical in hook, loop and CI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Builds on: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architecture-guard · blueprint-index · Graphify / AST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942832" y="2322576"/>
            <a:ext cx="15544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098280" y="1225296"/>
            <a:ext cx="2743200" cy="2194560"/>
          </a:xfrm>
          <a:prstGeom prst="roundRect">
            <a:avLst>
              <a:gd name="adj" fmla="val 3333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189720" y="131673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89720" y="1316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537192" y="12984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Domain change control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1219688" y="1353312"/>
            <a:ext cx="530352" cy="182880"/>
          </a:xfrm>
          <a:prstGeom prst="roundRect">
            <a:avLst>
              <a:gd name="adj" fmla="val 55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1219688" y="135331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A0</a:t>
            </a:r>
            <a:endParaRPr lang="en-US" sz="700" dirty="0"/>
          </a:p>
        </p:txBody>
      </p:sp>
      <p:sp>
        <p:nvSpPr>
          <p:cNvPr id="37" name="Text 35"/>
          <p:cNvSpPr txBox="1"/>
          <p:nvPr/>
        </p:nvSpPr>
        <p:spPr>
          <a:xfrm>
            <a:off x="9189720" y="1719072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speckit.domain.change impact report, change classes, gate, re-validation runner, glossary guard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Protects: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answers “what happens when we change them”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Builds on: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hooks · workflow gate · trace graph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02336" y="3566160"/>
            <a:ext cx="2743200" cy="2194560"/>
          </a:xfrm>
          <a:prstGeom prst="roundRect">
            <a:avLst>
              <a:gd name="adj" fmla="val 3333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93776" y="365760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93776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41248" y="36393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A7 → A1 Proposer re-entry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523744" y="3694176"/>
            <a:ext cx="530352" cy="182880"/>
          </a:xfrm>
          <a:prstGeom prst="roundRect">
            <a:avLst>
              <a:gd name="adj" fmla="val 55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523744" y="369417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A7→A1</a:t>
            </a:r>
            <a:endParaRPr lang="en-US" sz="700" dirty="0"/>
          </a:p>
        </p:txBody>
      </p:sp>
      <p:sp>
        <p:nvSpPr>
          <p:cNvPr id="44" name="Text 42"/>
          <p:cNvSpPr txBox="1"/>
          <p:nvPr/>
        </p:nvSpPr>
        <p:spPr>
          <a:xfrm>
            <a:off x="493776" y="4059936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speckit.arch.propose: findings → [PROPOSED] changes into the requirements repository / Step 0; workflow with the human gate; A1 repository check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Protects: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loop closes: findings become requirements, never silent debt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Builds on: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Architecture Assessor (available) · assess ext · trace graph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145536" y="4663440"/>
            <a:ext cx="15544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3300984" y="3566160"/>
            <a:ext cx="2743200" cy="2194560"/>
          </a:xfrm>
          <a:prstGeom prst="roundRect">
            <a:avLst>
              <a:gd name="adj" fmla="val 3333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392424" y="365760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392424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3739896" y="36393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Waiver agent + audit ledger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422392" y="3694176"/>
            <a:ext cx="530352" cy="182880"/>
          </a:xfrm>
          <a:prstGeom prst="roundRect">
            <a:avLst>
              <a:gd name="adj" fmla="val 55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422392" y="369417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all gates</a:t>
            </a:r>
            <a:endParaRPr lang="en-US" sz="700" dirty="0"/>
          </a:p>
        </p:txBody>
      </p:sp>
      <p:sp>
        <p:nvSpPr>
          <p:cNvPr id="52" name="Text 50"/>
          <p:cNvSpPr txBox="1"/>
          <p:nvPr/>
        </p:nvSpPr>
        <p:spPr>
          <a:xfrm>
            <a:off x="3392424" y="4059936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speckit.arch.waive (owner, evidence, expiry) consulted by every A-gate script; agent action ledger with IDs on commits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Protects: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exceptions are explicit and expire; every change is attributable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Builds on: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git ext commit hooks · decision ledger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044184" y="4663440"/>
            <a:ext cx="15544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6199632" y="3566160"/>
            <a:ext cx="2743200" cy="2194560"/>
          </a:xfrm>
          <a:prstGeom prst="roundRect">
            <a:avLst>
              <a:gd name="adj" fmla="val 3333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291072" y="365760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291072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7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6638544" y="36393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A5 / A6 evidence + PR checks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321040" y="3694176"/>
            <a:ext cx="530352" cy="182880"/>
          </a:xfrm>
          <a:prstGeom prst="roundRect">
            <a:avLst>
              <a:gd name="adj" fmla="val 55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321040" y="369417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A5 · A6</a:t>
            </a:r>
            <a:endParaRPr lang="en-US" sz="700" dirty="0"/>
          </a:p>
        </p:txBody>
      </p:sp>
      <p:sp>
        <p:nvSpPr>
          <p:cNvPr id="60" name="Text 58"/>
          <p:cNvSpPr txBox="1"/>
          <p:nvPr/>
        </p:nvSpPr>
        <p:spPr>
          <a:xfrm>
            <a:off x="6291072" y="4059936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test evidence gate (results + manifest + fitness → JSON verdict for the loop); NFR tests from Success Criteria; required PR status checks with the same scripts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Protects: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architecture’s promises are proven before code enters the pipeline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Builds on: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trace · v-model · workflow do-while · CI status checks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8942832" y="4663440"/>
            <a:ext cx="155448" cy="0"/>
          </a:xfrm>
          <a:prstGeom prst="line">
            <a:avLst/>
          </a:prstGeom>
          <a:noFill/>
          <a:ln w="22225">
            <a:solidFill>
              <a:srgbClr val="00915A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9098280" y="3566160"/>
            <a:ext cx="2743200" cy="2194560"/>
          </a:xfrm>
          <a:prstGeom prst="roundRect">
            <a:avLst>
              <a:gd name="adj" fmla="val 3333"/>
            </a:avLst>
          </a:prstGeom>
          <a:solidFill>
            <a:srgbClr val="F4F8F6"/>
          </a:solidFill>
          <a:ln w="12700">
            <a:solidFill>
              <a:srgbClr val="CFDD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9189720" y="365760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18972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8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9537192" y="36393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A2 charter check · KPIs · handover hardening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11219688" y="3694176"/>
            <a:ext cx="530352" cy="182880"/>
          </a:xfrm>
          <a:prstGeom prst="roundRect">
            <a:avLst>
              <a:gd name="adj" fmla="val 55000"/>
            </a:avLst>
          </a:prstGeom>
          <a:solidFill>
            <a:srgbClr val="0B5C3F"/>
          </a:solidFill>
          <a:ln w="12700">
            <a:solidFill>
              <a:srgbClr val="0B5C3F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1219688" y="369417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A2</a:t>
            </a:r>
            <a:endParaRPr lang="en-US" sz="700" dirty="0"/>
          </a:p>
        </p:txBody>
      </p:sp>
      <p:sp>
        <p:nvSpPr>
          <p:cNvPr id="68" name="Text 66"/>
          <p:cNvSpPr txBox="1"/>
          <p:nvPr/>
        </p:nvSpPr>
        <p:spPr>
          <a:xfrm>
            <a:off x="9189720" y="4059936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iteration charter + decision records with the cross-context dependency check; KPI view (conformance per A-gate, findings aging, waiver debt); confirm contract test / handover record in the integration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Protects: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master gate has evidence; the architect has numbers; the import is provably complete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Builds on: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roadmap · scope · workflow inputs · built integration (Speckit2Jira for the KPI view — to confirm)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02336" y="6053328"/>
            <a:ext cx="11439144" cy="384048"/>
          </a:xfrm>
          <a:prstGeom prst="roundRect">
            <a:avLst>
              <a:gd name="adj" fmla="val 14286"/>
            </a:avLst>
          </a:prstGeom>
          <a:solidFill>
            <a:srgbClr val="EEF4F1"/>
          </a:solidFill>
          <a:ln w="12700">
            <a:solidFill>
              <a:srgbClr val="CFDDD6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530352" y="605332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5C3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Done today and reused throughout:  </a:t>
            </a:r>
            <a:pPr indent="0" marL="0">
              <a:buNone/>
            </a:pPr>
            <a:r>
              <a:rPr lang="en-US" sz="800" dirty="0">
                <a:solidFill>
                  <a:srgbClr val="1F2A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ShAIping (specification authoring, 12 scripted checks) · ShAIping ↔ Spec Kit integration · architecture standards as a skills repository · Architecture Assessor (A7, between 7 and 1) · Spec Kit spine on 3–4 (10 commands, 20 hooks, workflows with human gates, presets / extensions / bundles) · existing CI/CD and operations, untouched · 154 community extensions and 31 presets as patterns.</a:t>
            </a:r>
            <a:endParaRPr lang="en-US" sz="800" dirty="0"/>
          </a:p>
        </p:txBody>
      </p:sp>
      <p:sp>
        <p:nvSpPr>
          <p:cNvPr id="71" name="Text 69"/>
          <p:cNvSpPr txBox="1"/>
          <p:nvPr/>
        </p:nvSpPr>
        <p:spPr>
          <a:xfrm>
            <a:off x="402336" y="649224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36B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 → 8 sequenced by dependency and leverage · no effort estimates by design</a:t>
            </a:r>
            <a:endParaRPr lang="en-US" sz="750" dirty="0"/>
          </a:p>
        </p:txBody>
      </p:sp>
      <p:sp>
        <p:nvSpPr>
          <p:cNvPr id="72" name="Text 70"/>
          <p:cNvSpPr txBox="1"/>
          <p:nvPr/>
        </p:nvSpPr>
        <p:spPr>
          <a:xfrm>
            <a:off x="4754880" y="6492240"/>
            <a:ext cx="7086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4F5F5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Spec Kit facts verified against github/spec-kit main @ e4895d1 (17 Aug 2026) · in-house status (ShAIping, its Spec Kit integration, standards as skills, Assessor) as stated by UltraSDLC · "to build" = proposal · 6–7 = existing CI/CD &amp; ops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2026-09-01T20:20:17Z</dcterms:created>
  <dcterms:modified xsi:type="dcterms:W3CDTF">2026-09-01T20:20:17Z</dcterms:modified>
</cp:coreProperties>
</file>